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8" r:id="rId8"/>
    <p:sldId id="262" r:id="rId9"/>
    <p:sldId id="263" r:id="rId10"/>
    <p:sldId id="264" r:id="rId11"/>
    <p:sldId id="265" r:id="rId12"/>
    <p:sldId id="266" r:id="rId13"/>
    <p:sldId id="267" r:id="rId14"/>
    <p:sldId id="270" r:id="rId15"/>
    <p:sldId id="272"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0F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14"/>
    <p:restoredTop sz="65915"/>
  </p:normalViewPr>
  <p:slideViewPr>
    <p:cSldViewPr snapToGrid="0" snapToObjects="1">
      <p:cViewPr varScale="1">
        <p:scale>
          <a:sx n="116" d="100"/>
          <a:sy n="116" d="100"/>
        </p:scale>
        <p:origin x="15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8040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Muhammad Wasal Imtiaz, I am a Software Engineer and currently </a:t>
            </a:r>
            <a:r>
              <a:rPr lang="en-GB" sz="1200" b="0" i="0" kern="1200" dirty="0">
                <a:solidFill>
                  <a:schemeClr val="tx1"/>
                </a:solidFill>
                <a:effectLst/>
                <a:latin typeface="+mn-lt"/>
                <a:ea typeface="+mn-ea"/>
                <a:cs typeface="+mn-cs"/>
              </a:rPr>
              <a:t>pursuing</a:t>
            </a:r>
            <a:r>
              <a:rPr lang="en-US" dirty="0"/>
              <a:t> my MSc in Data Science.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Gross domestic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Correlation Matrix</a:t>
            </a:r>
            <a:r>
              <a:rPr lang="en-GB" dirty="0"/>
              <a:t> is a table that shows how strongly every variable in my dataset is related to every other variable, measured on a scale from -1 to +1.</a:t>
            </a:r>
            <a:br>
              <a:rPr lang="en-US" dirty="0"/>
            </a:br>
            <a:br>
              <a:rPr lang="en-US" dirty="0"/>
            </a:br>
            <a:br>
              <a:rPr lang="en-US" dirty="0"/>
            </a:br>
            <a:r>
              <a:rPr lang="en-US" dirty="0"/>
              <a:t>Before:</a:t>
            </a:r>
            <a:br>
              <a:rPr lang="en-US" dirty="0"/>
            </a:br>
            <a:br>
              <a:rPr lang="en-US" dirty="0"/>
            </a:br>
            <a:r>
              <a:rPr lang="en-GB" dirty="0"/>
              <a:t>"This correlation heatmap was produced on the raw data before any preprocessing. Looking at the first row — GDP Growth against every other indicator — we can see that no single indicator has a correlation above 0.20. Population Growth is the strongest at just 0.20, while Inflation, Unemployment, and Energy Use are all essentially near zero.</a:t>
            </a:r>
            <a:br>
              <a:rPr lang="en-GB" dirty="0"/>
            </a:br>
            <a:endParaRPr lang="en-GB" dirty="0"/>
          </a:p>
          <a:p>
            <a:r>
              <a:rPr lang="en-GB" dirty="0"/>
              <a:t>This tells us two important things. First, GDP growth cannot be predicted by any single indicator using a simple straight-line relationship — the signal is distributed weakly across multiple variables. Second, this justifies our choice of machine learning over simple linear regression. ML models can combine these weak signals, detect non-linear patterns, and use engineered features like autoregressive lags — which we showed in the updated correlation heatmap to have much stronger relationships with GDP Growth than any of the original raw indicators."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DB6E5-39AA-E9F8-C70B-B5A859DAE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A57F2-3B0C-1DCD-26FF-3709839632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F9B19-B012-2A49-926D-74B5E7BD05A2}"/>
              </a:ext>
            </a:extLst>
          </p:cNvPr>
          <p:cNvSpPr>
            <a:spLocks noGrp="1"/>
          </p:cNvSpPr>
          <p:nvPr>
            <p:ph type="body" idx="1"/>
          </p:nvPr>
        </p:nvSpPr>
        <p:spPr/>
        <p:txBody>
          <a:bodyPr/>
          <a:lstStyle/>
          <a:p>
            <a:r>
              <a:rPr lang="en-US" dirty="0"/>
              <a:t>After:</a:t>
            </a:r>
            <a:br>
              <a:rPr lang="en-US" dirty="0"/>
            </a:br>
            <a:br>
              <a:rPr lang="en-US" dirty="0"/>
            </a:br>
            <a:r>
              <a:rPr lang="en-GB" dirty="0"/>
              <a:t>This second correlation matrix was produced after feature engineering and tells a fundamentally different story from the first one.</a:t>
            </a:r>
          </a:p>
          <a:p>
            <a:r>
              <a:rPr lang="en-GB" dirty="0"/>
              <a:t>In the raw heatmap, no indicator correlated above 0.20 with GDP Growth. Here, we have five features above 0.30 — with </a:t>
            </a:r>
            <a:r>
              <a:rPr lang="en-GB" dirty="0" err="1"/>
              <a:t>Country_GDP_mean</a:t>
            </a:r>
            <a:r>
              <a:rPr lang="en-GB" dirty="0"/>
              <a:t> at 0.45 and the 3-year rolling GDP average at 0.42 being the strongest predictors.</a:t>
            </a:r>
            <a:br>
              <a:rPr lang="en-GB" dirty="0"/>
            </a:br>
            <a:endParaRPr lang="en-GB" dirty="0"/>
          </a:p>
          <a:p>
            <a:r>
              <a:rPr lang="en-GB" dirty="0"/>
              <a:t>The autoregressive features — GDP_Growth_lag1, lag2, lag3, and the rolling averages — all show meaningful positive correlation with GDP Growth. This confirms our hypothesis that GDP growth exhibits autocorrelation — economies carry momentum from year to year.</a:t>
            </a:r>
            <a:br>
              <a:rPr lang="en-GB" dirty="0"/>
            </a:br>
            <a:endParaRPr lang="en-GB" dirty="0"/>
          </a:p>
          <a:p>
            <a:r>
              <a:rPr lang="en-GB" dirty="0"/>
              <a:t>We also observe high correlations between the rolling average features themselves, such as roll2 and roll3 at 0.91. This multicollinearity is expected since they are mathematically overlapping averages of the same variable. This partly explains why Ridge Regression — which handles multicollinearity through regularisation — outperformed the tree-based models on this dataset.</a:t>
            </a:r>
          </a:p>
          <a:p>
            <a:endParaRPr lang="en-US" dirty="0"/>
          </a:p>
        </p:txBody>
      </p:sp>
      <p:sp>
        <p:nvSpPr>
          <p:cNvPr id="4" name="Slide Number Placeholder 3">
            <a:extLst>
              <a:ext uri="{FF2B5EF4-FFF2-40B4-BE49-F238E27FC236}">
                <a16:creationId xmlns:a16="http://schemas.microsoft.com/office/drawing/2014/main" id="{2E92D557-B365-EA46-6573-97E1737966D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91348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Ridge Regression</a:t>
            </a:r>
            <a:r>
              <a:rPr lang="en-GB" dirty="0"/>
              <a:t> — Linear model that finds the best fit line while penalising large coefficients to avoid overfitting.</a:t>
            </a:r>
          </a:p>
          <a:p>
            <a:r>
              <a:rPr lang="en-GB" dirty="0"/>
              <a:t>Best possible R²: 0.50+ | Your R²: </a:t>
            </a:r>
            <a:r>
              <a:rPr lang="en-GB" b="1" dirty="0"/>
              <a:t>0.350</a:t>
            </a:r>
            <a:r>
              <a:rPr lang="en-GB" dirty="0"/>
              <a:t> ✓</a:t>
            </a:r>
          </a:p>
          <a:p>
            <a:endParaRPr lang="en-GB" dirty="0"/>
          </a:p>
          <a:p>
            <a:r>
              <a:rPr lang="en-GB" b="1" dirty="0"/>
              <a:t>Random Forest</a:t>
            </a:r>
            <a:r>
              <a:rPr lang="en-GB" dirty="0"/>
              <a:t> — Builds hundreds of independent decision trees and averages their predictions to capture non-linear patterns.</a:t>
            </a:r>
          </a:p>
          <a:p>
            <a:r>
              <a:rPr lang="en-GB" dirty="0"/>
              <a:t>Best possible R²: 0.50+ | Your R²: </a:t>
            </a:r>
            <a:r>
              <a:rPr lang="en-GB" b="1" dirty="0"/>
              <a:t>0.301</a:t>
            </a:r>
            <a:r>
              <a:rPr lang="en-GB" dirty="0"/>
              <a:t> ✓</a:t>
            </a:r>
          </a:p>
          <a:p>
            <a:endParaRPr lang="en-GB" dirty="0"/>
          </a:p>
          <a:p>
            <a:r>
              <a:rPr lang="en-GB" b="1" dirty="0"/>
              <a:t>Gradient Boosting</a:t>
            </a:r>
            <a:r>
              <a:rPr lang="en-GB" dirty="0"/>
              <a:t> — Builds trees sequentially where each tree corrects the errors of the previous one.</a:t>
            </a:r>
          </a:p>
          <a:p>
            <a:r>
              <a:rPr lang="en-GB" dirty="0"/>
              <a:t>Best possible R²: 0.50+ | Your R²: </a:t>
            </a:r>
            <a:r>
              <a:rPr lang="en-GB" b="1" dirty="0"/>
              <a:t>0.256</a:t>
            </a:r>
            <a:r>
              <a:rPr lang="en-GB" dirty="0"/>
              <a:t> ✓</a:t>
            </a:r>
          </a:p>
          <a:p>
            <a:br>
              <a:rPr lang="en-US" dirty="0"/>
            </a:br>
            <a:r>
              <a:rPr lang="en-GB" b="1" dirty="0"/>
              <a:t>Overfitting</a:t>
            </a:r>
            <a:r>
              <a:rPr lang="en-GB" dirty="0"/>
              <a:t> — Model memorises the training data too well and fails on new unseen data.</a:t>
            </a:r>
          </a:p>
          <a:p>
            <a:r>
              <a:rPr lang="en-GB" b="1" dirty="0"/>
              <a:t>Underfitting</a:t>
            </a:r>
            <a:r>
              <a:rPr lang="en-GB" dirty="0"/>
              <a:t> — Model is too simple to learn any meaningful pattern from the data.</a:t>
            </a:r>
          </a:p>
          <a:p>
            <a:endParaRPr lang="en-US" dirty="0"/>
          </a:p>
          <a:p>
            <a:br>
              <a:rPr lang="en-US" dirty="0"/>
            </a:br>
            <a:br>
              <a:rPr lang="en-US" dirty="0"/>
            </a:br>
            <a:r>
              <a:rPr lang="en-GB" b="1" dirty="0"/>
              <a:t>L2 Penalty</a:t>
            </a:r>
            <a:r>
              <a:rPr lang="en-GB" dirty="0"/>
              <a:t> is an extra rule added to Ridge Regression that stops the model from putting too much weight on any single feature.</a:t>
            </a:r>
          </a:p>
          <a:p>
            <a:r>
              <a:rPr lang="en-GB" dirty="0"/>
              <a:t>During training, the model tries to minimise two things at the same time — the prediction error AND the size of the coefficients. If any feature starts getting a very large coefficient, the penalty kicks in and shrinks it back down.</a:t>
            </a:r>
          </a:p>
          <a:p>
            <a:r>
              <a:rPr lang="en-GB" dirty="0"/>
              <a:t>Think of it like this — without L2, the model might say "GDP_Growth_lag1 explains everything, I will ignore everything else." With L2, it is forced to distribute weight more fairly across all features, which makes it more stable and less likely to overfit, especially when features are correlated with each other like in your </a:t>
            </a:r>
            <a:r>
              <a:rPr lang="en-GB" dirty="0" err="1"/>
              <a:t>proje</a:t>
            </a:r>
            <a:endParaRPr lang="en-GB"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R²</a:t>
            </a:r>
            <a:r>
              <a:rPr lang="en-GB" dirty="0"/>
              <a:t> — How much of the GDP variation your model explains. 1.0 = perfect, 0 = useless, negative = worse than guessing.</a:t>
            </a:r>
          </a:p>
          <a:p>
            <a:endParaRPr lang="en-GB" dirty="0"/>
          </a:p>
          <a:p>
            <a:r>
              <a:rPr lang="en-GB" b="1" dirty="0"/>
              <a:t>MAE (Mean Absolute Error)</a:t>
            </a:r>
            <a:r>
              <a:rPr lang="en-GB" dirty="0"/>
              <a:t> — On average, how many percentage points off your prediction is from the real GDP value.</a:t>
            </a:r>
          </a:p>
          <a:p>
            <a:endParaRPr lang="en-GB" dirty="0"/>
          </a:p>
          <a:p>
            <a:r>
              <a:rPr lang="en-GB" b="1" dirty="0"/>
              <a:t>RMSE (Root Mean Squared Error)</a:t>
            </a:r>
            <a:r>
              <a:rPr lang="en-GB" dirty="0"/>
              <a:t> — Same as MAE but punishes big errors harder. One large wrong prediction hurts more than many small ones.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created </a:t>
            </a:r>
            <a:r>
              <a:rPr lang="en-GB" b="1" dirty="0"/>
              <a:t>2000 synthetic data points</a:t>
            </a:r>
            <a:r>
              <a:rPr lang="en-GB" dirty="0"/>
              <a:t> where you knew the exact true relationship between the features and the target — something impossible with real-world GDP data.</a:t>
            </a:r>
            <a:br>
              <a:rPr lang="en-GB" dirty="0"/>
            </a:br>
            <a:endParaRPr lang="en-GB" dirty="0"/>
          </a:p>
          <a:p>
            <a:r>
              <a:rPr lang="en-GB" dirty="0"/>
              <a:t>You then </a:t>
            </a:r>
            <a:r>
              <a:rPr lang="en-GB" b="1" dirty="0"/>
              <a:t>injected Gaussian noise at 6 increasing levels</a:t>
            </a:r>
            <a:r>
              <a:rPr lang="en-GB" dirty="0"/>
              <a:t> (</a:t>
            </a:r>
            <a:r>
              <a:rPr lang="el-GR" dirty="0"/>
              <a:t>σ = 0, 0.5, 1, 2, 4, 8) </a:t>
            </a:r>
            <a:r>
              <a:rPr lang="en-GB" dirty="0"/>
              <a:t>to simulate how real-world messiness degrades model performance.</a:t>
            </a:r>
          </a:p>
          <a:p>
            <a:endParaRPr lang="en-GB" dirty="0"/>
          </a:p>
          <a:p>
            <a:r>
              <a:rPr lang="en-GB" dirty="0"/>
              <a:t>You trained </a:t>
            </a:r>
            <a:r>
              <a:rPr lang="en-GB" b="1" dirty="0"/>
              <a:t>all 3 </a:t>
            </a:r>
            <a:r>
              <a:rPr lang="en-GB" b="1" dirty="0" err="1"/>
              <a:t>sklearn</a:t>
            </a:r>
            <a:r>
              <a:rPr lang="en-GB" b="1" dirty="0"/>
              <a:t> models plus a </a:t>
            </a:r>
            <a:r>
              <a:rPr lang="en-GB" b="1" dirty="0" err="1"/>
              <a:t>PyTorch</a:t>
            </a:r>
            <a:r>
              <a:rPr lang="en-GB" b="1" dirty="0"/>
              <a:t> neural network</a:t>
            </a:r>
            <a:r>
              <a:rPr lang="en-GB" dirty="0"/>
              <a:t> at every noise level and measured R² each time, plotting the degradation curve you can see in the graph.</a:t>
            </a:r>
          </a:p>
          <a:p>
            <a:endParaRPr lang="en-GB" dirty="0"/>
          </a:p>
          <a:p>
            <a:r>
              <a:rPr lang="en-GB" dirty="0"/>
              <a:t>At </a:t>
            </a:r>
            <a:r>
              <a:rPr lang="el-GR" b="1" dirty="0"/>
              <a:t>σ = 0 (</a:t>
            </a:r>
            <a:r>
              <a:rPr lang="en-GB" b="1" dirty="0"/>
              <a:t>zero noise)</a:t>
            </a:r>
            <a:r>
              <a:rPr lang="en-GB" dirty="0"/>
              <a:t>, all 4 models achieved R² close to 1.0 — proving the models are working correctly and can learn perfectly when the signal is clean.</a:t>
            </a:r>
          </a:p>
          <a:p>
            <a:endParaRPr lang="en-GB" dirty="0"/>
          </a:p>
          <a:p>
            <a:r>
              <a:rPr lang="en-GB" dirty="0"/>
              <a:t>As noise increased, </a:t>
            </a:r>
            <a:r>
              <a:rPr lang="en-GB" b="1" dirty="0"/>
              <a:t>R² dropped steadily for every model</a:t>
            </a:r>
            <a:r>
              <a:rPr lang="en-GB" dirty="0"/>
              <a:t> — including the neural network — proving that no model, not even deep learning, is immune to noisy data.</a:t>
            </a:r>
          </a:p>
          <a:p>
            <a:endParaRPr lang="en-GB" dirty="0"/>
          </a:p>
          <a:p>
            <a:r>
              <a:rPr lang="en-GB" dirty="0"/>
              <a:t>The key takeaway is that your </a:t>
            </a:r>
            <a:r>
              <a:rPr lang="en-GB" b="1" dirty="0"/>
              <a:t>real-world R² of 0.35 is not a model failure</a:t>
            </a:r>
            <a:r>
              <a:rPr lang="en-GB" dirty="0"/>
              <a:t> — it is simply a reflection of how inherently noisy and unpredictable GDP economic data is in the real world.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Conclusion:</a:t>
            </a:r>
            <a:br>
              <a:rPr lang="en-GB" b="1" dirty="0"/>
            </a:br>
            <a:br>
              <a:rPr lang="en-GB" b="1" dirty="0"/>
            </a:br>
            <a:r>
              <a:rPr lang="en-GB" dirty="0"/>
              <a:t>Machine learning can extract meaningful predictive signal from public economic data, but GDP growth is inherently noisy — influenced by wars, pandemics, and policy shifts that no indicator can capture. The real contribution of this project is not just the R² score, but a transparent, reproducible framework that any analyst can apply to any country using freely available data.</a:t>
            </a:r>
            <a:br>
              <a:rPr lang="en-GB" dirty="0"/>
            </a:br>
            <a:br>
              <a:rPr lang="en-GB" b="1" dirty="0"/>
            </a:br>
            <a:br>
              <a:rPr lang="en-GB" b="1" dirty="0"/>
            </a:br>
            <a:r>
              <a:rPr lang="en-GB" b="1" dirty="0"/>
              <a:t>RQ1 — Which model best predicts GDP growth?</a:t>
            </a:r>
          </a:p>
          <a:p>
            <a:r>
              <a:rPr lang="en-GB" dirty="0"/>
              <a:t>I trained three models and compared them all on unseen future data — years 2016 to 2023.</a:t>
            </a:r>
          </a:p>
          <a:p>
            <a:r>
              <a:rPr lang="en-GB" dirty="0"/>
              <a:t>Ridge Regression came out on top with R² of 0.350 and an average prediction error of just 1.64 percentage points.</a:t>
            </a:r>
          </a:p>
          <a:p>
            <a:r>
              <a:rPr lang="en-GB" dirty="0"/>
              <a:t>The reason Ridge won is because my engineered features like rolling averages and lags are highly correlated with each other — and Ridge's L2 penalty handles that situation much better than tree-based models which got confused by those overlapping signals.</a:t>
            </a:r>
          </a:p>
          <a:p>
            <a:br>
              <a:rPr lang="en-GB" dirty="0"/>
            </a:br>
            <a:endParaRPr lang="en-GB" dirty="0"/>
          </a:p>
          <a:p>
            <a:r>
              <a:rPr lang="en-GB" b="1" dirty="0"/>
              <a:t>RQ2 — Linear vs Non-linear generalisation?</a:t>
            </a:r>
          </a:p>
          <a:p>
            <a:r>
              <a:rPr lang="en-GB" dirty="0"/>
              <a:t>I specifically used a time-based split — train on past, test on future — to simulate real forecasting conditions.</a:t>
            </a:r>
          </a:p>
          <a:p>
            <a:r>
              <a:rPr lang="en-GB" dirty="0"/>
              <a:t>Ridge, the simplest linear model, actually generalised better to future years than the more complex tree models.</a:t>
            </a:r>
          </a:p>
          <a:p>
            <a:r>
              <a:rPr lang="en-GB" dirty="0"/>
              <a:t>Gradient Boosting showed a negative CV gap of -0.045 meaning it performed better during training validation than on the actual test set — a classic sign of mild overfitting.</a:t>
            </a:r>
          </a:p>
          <a:p>
            <a:r>
              <a:rPr lang="en-GB" dirty="0"/>
              <a:t>This answers the question clearly — more complexity does not always mean better performance, especially on small economic datasets.</a:t>
            </a:r>
          </a:p>
          <a:p>
            <a:br>
              <a:rPr lang="en-GB" dirty="0"/>
            </a:br>
            <a:endParaRPr lang="en-GB" dirty="0"/>
          </a:p>
          <a:p>
            <a:r>
              <a:rPr lang="en-GB" b="1" dirty="0"/>
              <a:t>RQ3 — Which features matter most?</a:t>
            </a:r>
          </a:p>
          <a:p>
            <a:r>
              <a:rPr lang="en-GB" dirty="0"/>
              <a:t>Three different methods all pointed to the same two features — GDP_Growth_lag1 and </a:t>
            </a:r>
            <a:r>
              <a:rPr lang="en-GB" dirty="0" err="1"/>
              <a:t>Country_GDP_mean</a:t>
            </a:r>
            <a:r>
              <a:rPr lang="en-GB" dirty="0"/>
              <a:t>.</a:t>
            </a:r>
          </a:p>
          <a:p>
            <a:r>
              <a:rPr lang="en-GB" dirty="0"/>
              <a:t>GDP_Growth_lag1 means last year's GDP growth. This makes economic sense — if a country grew strongly last year, it likely carries that momentum into this year.</a:t>
            </a:r>
          </a:p>
          <a:p>
            <a:r>
              <a:rPr lang="en-GB" dirty="0" err="1"/>
              <a:t>Country_GDP_mean</a:t>
            </a:r>
            <a:r>
              <a:rPr lang="en-GB" dirty="0"/>
              <a:t> captures the structural growth rate of each country — Germany tends to grow at 1–2%, India at 6–7%. This baseline matters a lot.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GDP &amp; Economic Forecasting Papers</a:t>
            </a:r>
          </a:p>
          <a:p>
            <a:endParaRPr lang="en-GB" b="1" dirty="0"/>
          </a:p>
          <a:p>
            <a:r>
              <a:rPr lang="en-GB" b="1" dirty="0"/>
              <a:t>7. ML for GDP Forecasting</a:t>
            </a:r>
            <a:endParaRPr lang="en-GB" dirty="0"/>
          </a:p>
          <a:p>
            <a:r>
              <a:rPr lang="en-GB" dirty="0" err="1"/>
              <a:t>Woloszko</a:t>
            </a:r>
            <a:r>
              <a:rPr lang="en-GB" dirty="0"/>
              <a:t>, N. (2020). </a:t>
            </a:r>
            <a:r>
              <a:rPr lang="en-GB" i="1" dirty="0"/>
              <a:t>Tracking activity in real time with Google Trends.</a:t>
            </a:r>
            <a:r>
              <a:rPr lang="en-GB" dirty="0"/>
              <a:t> OECD Economics Department Working Papers, No. 1634.</a:t>
            </a:r>
            <a:br>
              <a:rPr lang="en-GB" dirty="0"/>
            </a:br>
            <a:endParaRPr lang="en-GB" dirty="0"/>
          </a:p>
          <a:p>
            <a:r>
              <a:rPr lang="en-GB" b="1" dirty="0"/>
              <a:t>8. Machine Learning in Economics</a:t>
            </a:r>
            <a:endParaRPr lang="en-GB" dirty="0"/>
          </a:p>
          <a:p>
            <a:r>
              <a:rPr lang="en-GB" dirty="0"/>
              <a:t>Varian, H.R. (2014). </a:t>
            </a:r>
            <a:r>
              <a:rPr lang="en-GB" i="1" dirty="0"/>
              <a:t>Big Data: New Tricks for Econometrics.</a:t>
            </a:r>
            <a:r>
              <a:rPr lang="en-GB" dirty="0"/>
              <a:t> Journal of Economic Perspectives, 28(2), pp. 3–28.</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926080"/>
          </a:xfrm>
          <a:prstGeom prst="rect">
            <a:avLst/>
          </a:prstGeom>
          <a:solidFill>
            <a:srgbClr val="010F2F"/>
          </a:solidFill>
          <a:ln w="12700">
            <a:solidFill>
              <a:srgbClr val="000000"/>
            </a:solidFill>
            <a:prstDash val="solid"/>
          </a:ln>
        </p:spPr>
        <p:txBody>
          <a:bodyPr/>
          <a:lstStyle/>
          <a:p>
            <a:endParaRPr lang="en-PK" dirty="0">
              <a:solidFill>
                <a:srgbClr val="FF0000"/>
              </a:solidFill>
            </a:endParaRPr>
          </a:p>
        </p:txBody>
      </p:sp>
      <p:sp>
        <p:nvSpPr>
          <p:cNvPr id="3" name="Text 1"/>
          <p:cNvSpPr/>
          <p:nvPr/>
        </p:nvSpPr>
        <p:spPr>
          <a:xfrm>
            <a:off x="548640" y="502920"/>
            <a:ext cx="8046720" cy="411480"/>
          </a:xfrm>
          <a:prstGeom prst="rect">
            <a:avLst/>
          </a:prstGeom>
          <a:noFill/>
          <a:ln/>
        </p:spPr>
        <p:txBody>
          <a:bodyPr wrap="square" rtlCol="0" anchor="ctr"/>
          <a:lstStyle/>
          <a:p>
            <a:pPr marL="0" indent="0">
              <a:buNone/>
            </a:pPr>
            <a:r>
              <a:rPr lang="en-US" sz="1600" dirty="0">
                <a:solidFill>
                  <a:srgbClr val="AAAAAA"/>
                </a:solidFill>
                <a:latin typeface="Calibri" pitchFamily="34" charset="0"/>
                <a:ea typeface="Calibri" pitchFamily="34" charset="-122"/>
                <a:cs typeface="Calibri" pitchFamily="34" charset="-120"/>
              </a:rPr>
              <a:t>A Machine Learning Approach to</a:t>
            </a:r>
            <a:endParaRPr lang="en-US" sz="1600" dirty="0"/>
          </a:p>
        </p:txBody>
      </p:sp>
      <p:sp>
        <p:nvSpPr>
          <p:cNvPr id="4" name="Text 2"/>
          <p:cNvSpPr/>
          <p:nvPr/>
        </p:nvSpPr>
        <p:spPr>
          <a:xfrm>
            <a:off x="548640" y="896112"/>
            <a:ext cx="8046720" cy="82296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Predicting GDP Growth</a:t>
            </a:r>
            <a:endParaRPr lang="en-US" sz="4000" dirty="0"/>
          </a:p>
        </p:txBody>
      </p:sp>
      <p:sp>
        <p:nvSpPr>
          <p:cNvPr id="5" name="Text 3"/>
          <p:cNvSpPr/>
          <p:nvPr/>
        </p:nvSpPr>
        <p:spPr>
          <a:xfrm>
            <a:off x="548640" y="1719072"/>
            <a:ext cx="8046720" cy="411480"/>
          </a:xfrm>
          <a:prstGeom prst="rect">
            <a:avLst/>
          </a:prstGeom>
          <a:noFill/>
          <a:ln/>
        </p:spPr>
        <p:txBody>
          <a:bodyPr wrap="square" rtlCol="0" anchor="ctr"/>
          <a:lstStyle/>
          <a:p>
            <a:pPr marL="0" indent="0">
              <a:buNone/>
            </a:pPr>
            <a:r>
              <a:rPr lang="en-US" sz="1500" dirty="0">
                <a:solidFill>
                  <a:srgbClr val="AAAAAA"/>
                </a:solidFill>
                <a:latin typeface="Calibri" pitchFamily="34" charset="0"/>
                <a:ea typeface="Calibri" pitchFamily="34" charset="-122"/>
                <a:cs typeface="Calibri" pitchFamily="34" charset="-120"/>
              </a:rPr>
              <a:t>Using World Bank Development Indicators</a:t>
            </a:r>
            <a:endParaRPr lang="en-US" sz="1500" dirty="0"/>
          </a:p>
        </p:txBody>
      </p:sp>
      <p:sp>
        <p:nvSpPr>
          <p:cNvPr id="6" name="Shape 4"/>
          <p:cNvSpPr/>
          <p:nvPr/>
        </p:nvSpPr>
        <p:spPr>
          <a:xfrm>
            <a:off x="548640" y="2331720"/>
            <a:ext cx="8046720" cy="0"/>
          </a:xfrm>
          <a:prstGeom prst="line">
            <a:avLst/>
          </a:prstGeom>
          <a:noFill/>
          <a:ln w="12700">
            <a:solidFill>
              <a:srgbClr val="555555"/>
            </a:solidFill>
            <a:prstDash val="solid"/>
          </a:ln>
        </p:spPr>
        <p:txBody>
          <a:bodyPr/>
          <a:lstStyle/>
          <a:p>
            <a:endParaRPr lang="en-PK"/>
          </a:p>
        </p:txBody>
      </p:sp>
      <p:sp>
        <p:nvSpPr>
          <p:cNvPr id="7" name="Text 5"/>
          <p:cNvSpPr/>
          <p:nvPr/>
        </p:nvSpPr>
        <p:spPr>
          <a:xfrm>
            <a:off x="548640" y="2423160"/>
            <a:ext cx="8046720" cy="411480"/>
          </a:xfrm>
          <a:prstGeom prst="rect">
            <a:avLst/>
          </a:prstGeom>
          <a:noFill/>
          <a:ln/>
        </p:spPr>
        <p:txBody>
          <a:bodyPr wrap="square" rtlCol="0" anchor="ctr"/>
          <a:lstStyle/>
          <a:p>
            <a:pPr marL="0" indent="0">
              <a:buNone/>
            </a:pPr>
            <a:r>
              <a:rPr lang="en-US" sz="1100" dirty="0">
                <a:solidFill>
                  <a:srgbClr val="AAAAAA"/>
                </a:solidFill>
                <a:latin typeface="Calibri" pitchFamily="34" charset="0"/>
                <a:ea typeface="Calibri" pitchFamily="34" charset="-122"/>
                <a:cs typeface="Calibri" pitchFamily="34" charset="-120"/>
              </a:rPr>
              <a:t>Muhammad Wasal Imtiaz   |   Student ID: 24077342   |   MSc Data Science   |   University of Hertfordshire   |   7PAM2002</a:t>
            </a:r>
            <a:endParaRPr lang="en-US" sz="1100" dirty="0"/>
          </a:p>
        </p:txBody>
      </p:sp>
      <p:sp>
        <p:nvSpPr>
          <p:cNvPr id="8" name="Text 6"/>
          <p:cNvSpPr/>
          <p:nvPr/>
        </p:nvSpPr>
        <p:spPr>
          <a:xfrm>
            <a:off x="548640" y="3154680"/>
            <a:ext cx="3657600" cy="32004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Three Models Evaluated:</a:t>
            </a:r>
            <a:endParaRPr lang="en-US" sz="1200" dirty="0"/>
          </a:p>
        </p:txBody>
      </p:sp>
      <p:sp>
        <p:nvSpPr>
          <p:cNvPr id="9" name="Shape 7"/>
          <p:cNvSpPr/>
          <p:nvPr/>
        </p:nvSpPr>
        <p:spPr>
          <a:xfrm>
            <a:off x="548640" y="3566160"/>
            <a:ext cx="2606040" cy="457200"/>
          </a:xfrm>
          <a:prstGeom prst="rect">
            <a:avLst/>
          </a:prstGeom>
          <a:solidFill>
            <a:srgbClr val="F5F5F5"/>
          </a:solidFill>
          <a:ln w="12700">
            <a:solidFill>
              <a:srgbClr val="CCCCCC"/>
            </a:solidFill>
            <a:prstDash val="solid"/>
          </a:ln>
        </p:spPr>
        <p:txBody>
          <a:bodyPr/>
          <a:lstStyle/>
          <a:p>
            <a:endParaRPr lang="en-PK"/>
          </a:p>
        </p:txBody>
      </p:sp>
      <p:sp>
        <p:nvSpPr>
          <p:cNvPr id="10" name="Text 8"/>
          <p:cNvSpPr/>
          <p:nvPr/>
        </p:nvSpPr>
        <p:spPr>
          <a:xfrm>
            <a:off x="548640" y="3566160"/>
            <a:ext cx="260604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1)  Ridge Regression</a:t>
            </a:r>
            <a:endParaRPr lang="en-US" sz="1300" dirty="0"/>
          </a:p>
        </p:txBody>
      </p:sp>
      <p:sp>
        <p:nvSpPr>
          <p:cNvPr id="11" name="Shape 9"/>
          <p:cNvSpPr/>
          <p:nvPr/>
        </p:nvSpPr>
        <p:spPr>
          <a:xfrm>
            <a:off x="3383280" y="3566160"/>
            <a:ext cx="2606040" cy="457200"/>
          </a:xfrm>
          <a:prstGeom prst="rect">
            <a:avLst/>
          </a:prstGeom>
          <a:solidFill>
            <a:srgbClr val="F5F5F5"/>
          </a:solidFill>
          <a:ln w="12700">
            <a:solidFill>
              <a:srgbClr val="CCCCCC"/>
            </a:solidFill>
            <a:prstDash val="solid"/>
          </a:ln>
        </p:spPr>
        <p:txBody>
          <a:bodyPr/>
          <a:lstStyle/>
          <a:p>
            <a:endParaRPr lang="en-PK"/>
          </a:p>
        </p:txBody>
      </p:sp>
      <p:sp>
        <p:nvSpPr>
          <p:cNvPr id="12" name="Text 10"/>
          <p:cNvSpPr/>
          <p:nvPr/>
        </p:nvSpPr>
        <p:spPr>
          <a:xfrm>
            <a:off x="3383280" y="3566160"/>
            <a:ext cx="260604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2)  Random Forest</a:t>
            </a:r>
            <a:endParaRPr lang="en-US" sz="1300" dirty="0"/>
          </a:p>
        </p:txBody>
      </p:sp>
      <p:sp>
        <p:nvSpPr>
          <p:cNvPr id="13" name="Shape 11"/>
          <p:cNvSpPr/>
          <p:nvPr/>
        </p:nvSpPr>
        <p:spPr>
          <a:xfrm>
            <a:off x="6217920" y="3566160"/>
            <a:ext cx="2606040" cy="457200"/>
          </a:xfrm>
          <a:prstGeom prst="rect">
            <a:avLst/>
          </a:prstGeom>
          <a:solidFill>
            <a:srgbClr val="F5F5F5"/>
          </a:solidFill>
          <a:ln w="12700">
            <a:solidFill>
              <a:srgbClr val="CCCCCC"/>
            </a:solidFill>
            <a:prstDash val="solid"/>
          </a:ln>
        </p:spPr>
        <p:txBody>
          <a:bodyPr/>
          <a:lstStyle/>
          <a:p>
            <a:endParaRPr lang="en-PK"/>
          </a:p>
        </p:txBody>
      </p:sp>
      <p:sp>
        <p:nvSpPr>
          <p:cNvPr id="14" name="Text 12"/>
          <p:cNvSpPr/>
          <p:nvPr/>
        </p:nvSpPr>
        <p:spPr>
          <a:xfrm>
            <a:off x="6217920" y="3566160"/>
            <a:ext cx="2606040" cy="457200"/>
          </a:xfrm>
          <a:prstGeom prst="rect">
            <a:avLst/>
          </a:prstGeom>
          <a:noFill/>
          <a:ln/>
        </p:spPr>
        <p:txBody>
          <a:bodyPr wrap="square" rtlCol="0" anchor="ctr"/>
          <a:lstStyle/>
          <a:p>
            <a:pPr marL="0" indent="0" algn="ctr">
              <a:buNone/>
            </a:pPr>
            <a:r>
              <a:rPr lang="en-US" sz="1300" b="1" dirty="0">
                <a:solidFill>
                  <a:srgbClr val="000000"/>
                </a:solidFill>
                <a:latin typeface="Calibri" pitchFamily="34" charset="0"/>
                <a:ea typeface="Calibri" pitchFamily="34" charset="-122"/>
                <a:cs typeface="Calibri" pitchFamily="34" charset="-120"/>
              </a:rPr>
              <a:t>3)  Gradient Boosting</a:t>
            </a:r>
            <a:endParaRPr lang="en-US" sz="1300" dirty="0"/>
          </a:p>
        </p:txBody>
      </p:sp>
      <p:sp>
        <p:nvSpPr>
          <p:cNvPr id="15" name="Text 13"/>
          <p:cNvSpPr/>
          <p:nvPr/>
        </p:nvSpPr>
        <p:spPr>
          <a:xfrm>
            <a:off x="548640" y="4480560"/>
            <a:ext cx="8046720" cy="320040"/>
          </a:xfrm>
          <a:prstGeom prst="rect">
            <a:avLst/>
          </a:prstGeom>
          <a:noFill/>
          <a:ln/>
        </p:spPr>
        <p:txBody>
          <a:bodyPr wrap="square" rtlCol="0" anchor="ctr"/>
          <a:lstStyle/>
          <a:p>
            <a:pPr marL="0" indent="0">
              <a:buNone/>
            </a:pPr>
            <a:r>
              <a:rPr lang="en-US" sz="1000" i="1" dirty="0">
                <a:solidFill>
                  <a:srgbClr val="AAAAAA"/>
                </a:solidFill>
                <a:latin typeface="Calibri" pitchFamily="34" charset="0"/>
                <a:ea typeface="Calibri" pitchFamily="34" charset="-122"/>
                <a:cs typeface="Calibri" pitchFamily="34" charset="-120"/>
              </a:rPr>
              <a:t>7PAM2002 Data Science Project  —  University of Hertfordshire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Introduction &amp; Problem Statement</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Why does GDP prediction matter? What are we trying to solve?</a:t>
            </a:r>
            <a:endParaRPr lang="en-US" sz="1000" dirty="0"/>
          </a:p>
        </p:txBody>
      </p:sp>
      <p:sp>
        <p:nvSpPr>
          <p:cNvPr id="6" name="Shape 4"/>
          <p:cNvSpPr/>
          <p:nvPr/>
        </p:nvSpPr>
        <p:spPr>
          <a:xfrm>
            <a:off x="274320" y="1115568"/>
            <a:ext cx="4297680" cy="292608"/>
          </a:xfrm>
          <a:prstGeom prst="rect">
            <a:avLst/>
          </a:prstGeom>
          <a:solidFill>
            <a:srgbClr val="010F2F"/>
          </a:solidFill>
          <a:ln w="12700">
            <a:solidFill>
              <a:srgbClr val="000000"/>
            </a:solidFill>
            <a:prstDash val="solid"/>
          </a:ln>
        </p:spPr>
        <p:txBody>
          <a:bodyPr/>
          <a:lstStyle/>
          <a:p>
            <a:endParaRPr lang="en-PK"/>
          </a:p>
        </p:txBody>
      </p:sp>
      <p:sp>
        <p:nvSpPr>
          <p:cNvPr id="7" name="Text 5"/>
          <p:cNvSpPr/>
          <p:nvPr/>
        </p:nvSpPr>
        <p:spPr>
          <a:xfrm>
            <a:off x="274320" y="111556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The Real-World Problem</a:t>
            </a:r>
            <a:endParaRPr lang="en-US" sz="1100" dirty="0"/>
          </a:p>
        </p:txBody>
      </p:sp>
      <p:sp>
        <p:nvSpPr>
          <p:cNvPr id="8" name="Text 6"/>
          <p:cNvSpPr/>
          <p:nvPr/>
        </p:nvSpPr>
        <p:spPr>
          <a:xfrm>
            <a:off x="274320" y="1499616"/>
            <a:ext cx="4297680" cy="1280160"/>
          </a:xfrm>
          <a:prstGeom prst="rect">
            <a:avLst/>
          </a:prstGeom>
          <a:noFill/>
          <a:ln/>
        </p:spPr>
        <p:txBody>
          <a:bodyPr wrap="square" rtlCol="0" anchor="t"/>
          <a:lstStyle/>
          <a:p>
            <a:pPr marL="342900" indent="-342900">
              <a:buSzPct val="100000"/>
              <a:buChar char="•"/>
            </a:pPr>
            <a:r>
              <a:rPr lang="en-US" sz="1150" dirty="0">
                <a:solidFill>
                  <a:srgbClr val="1A1A1A"/>
                </a:solidFill>
                <a:latin typeface="Calibri" pitchFamily="34" charset="0"/>
                <a:ea typeface="Calibri" pitchFamily="34" charset="-122"/>
                <a:cs typeface="Calibri" pitchFamily="34" charset="-120"/>
              </a:rPr>
              <a:t>Governments need GDP forecasts to set national budgets</a:t>
            </a:r>
            <a:endParaRPr lang="en-US" sz="1150" dirty="0"/>
          </a:p>
          <a:p>
            <a:pPr marL="342900" indent="-342900">
              <a:buSzPct val="100000"/>
              <a:buChar char="•"/>
            </a:pPr>
            <a:r>
              <a:rPr lang="en-US" sz="1150" dirty="0">
                <a:solidFill>
                  <a:srgbClr val="1A1A1A"/>
                </a:solidFill>
                <a:latin typeface="Calibri" pitchFamily="34" charset="0"/>
                <a:ea typeface="Calibri" pitchFamily="34" charset="-122"/>
                <a:cs typeface="Calibri" pitchFamily="34" charset="-120"/>
              </a:rPr>
              <a:t>Central banks use GDP to set interest rates</a:t>
            </a:r>
            <a:endParaRPr lang="en-US" sz="1150" dirty="0"/>
          </a:p>
          <a:p>
            <a:pPr marL="342900" indent="-342900">
              <a:buSzPct val="100000"/>
              <a:buChar char="•"/>
            </a:pPr>
            <a:r>
              <a:rPr lang="en-US" sz="1150" dirty="0">
                <a:solidFill>
                  <a:srgbClr val="1A1A1A"/>
                </a:solidFill>
                <a:latin typeface="Calibri" pitchFamily="34" charset="0"/>
                <a:ea typeface="Calibri" pitchFamily="34" charset="-122"/>
                <a:cs typeface="Calibri" pitchFamily="34" charset="-120"/>
              </a:rPr>
              <a:t>IMF &amp; World Bank allocate aid based on GDP projections</a:t>
            </a:r>
            <a:endParaRPr lang="en-US" sz="1150" dirty="0"/>
          </a:p>
          <a:p>
            <a:pPr marL="342900" indent="-342900">
              <a:buSzPct val="100000"/>
              <a:buChar char="•"/>
            </a:pPr>
            <a:r>
              <a:rPr lang="en-US" sz="1150" dirty="0">
                <a:solidFill>
                  <a:srgbClr val="1A1A1A"/>
                </a:solidFill>
                <a:latin typeface="Calibri" pitchFamily="34" charset="0"/>
                <a:ea typeface="Calibri" pitchFamily="34" charset="-122"/>
                <a:cs typeface="Calibri" pitchFamily="34" charset="-120"/>
              </a:rPr>
              <a:t>Traditional models are complex and hard to scale</a:t>
            </a:r>
            <a:endParaRPr lang="en-US" sz="1150" dirty="0"/>
          </a:p>
        </p:txBody>
      </p:sp>
      <p:sp>
        <p:nvSpPr>
          <p:cNvPr id="9" name="Shape 7"/>
          <p:cNvSpPr/>
          <p:nvPr/>
        </p:nvSpPr>
        <p:spPr>
          <a:xfrm>
            <a:off x="274320" y="2409444"/>
            <a:ext cx="4297680" cy="292608"/>
          </a:xfrm>
          <a:prstGeom prst="rect">
            <a:avLst/>
          </a:prstGeom>
          <a:solidFill>
            <a:srgbClr val="010F2F"/>
          </a:solidFill>
          <a:ln w="12700">
            <a:solidFill>
              <a:srgbClr val="000000"/>
            </a:solidFill>
            <a:prstDash val="solid"/>
          </a:ln>
        </p:spPr>
        <p:txBody>
          <a:bodyPr/>
          <a:lstStyle/>
          <a:p>
            <a:endParaRPr lang="en-PK"/>
          </a:p>
        </p:txBody>
      </p:sp>
      <p:sp>
        <p:nvSpPr>
          <p:cNvPr id="10" name="Text 8"/>
          <p:cNvSpPr/>
          <p:nvPr/>
        </p:nvSpPr>
        <p:spPr>
          <a:xfrm>
            <a:off x="320040" y="2425446"/>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Our 3 Research Questions</a:t>
            </a:r>
            <a:endParaRPr lang="en-US" sz="1100" dirty="0"/>
          </a:p>
        </p:txBody>
      </p:sp>
      <p:sp>
        <p:nvSpPr>
          <p:cNvPr id="11" name="Shape 9"/>
          <p:cNvSpPr/>
          <p:nvPr/>
        </p:nvSpPr>
        <p:spPr>
          <a:xfrm>
            <a:off x="274320" y="2831211"/>
            <a:ext cx="4297680" cy="438912"/>
          </a:xfrm>
          <a:prstGeom prst="rect">
            <a:avLst/>
          </a:prstGeom>
          <a:solidFill>
            <a:srgbClr val="F5F5F5"/>
          </a:solidFill>
          <a:ln w="12700">
            <a:solidFill>
              <a:srgbClr val="CCCCCC"/>
            </a:solidFill>
            <a:prstDash val="solid"/>
          </a:ln>
        </p:spPr>
        <p:txBody>
          <a:bodyPr/>
          <a:lstStyle/>
          <a:p>
            <a:endParaRPr lang="en-PK"/>
          </a:p>
        </p:txBody>
      </p:sp>
      <p:sp>
        <p:nvSpPr>
          <p:cNvPr id="12" name="Text 10"/>
          <p:cNvSpPr/>
          <p:nvPr/>
        </p:nvSpPr>
        <p:spPr>
          <a:xfrm>
            <a:off x="365760" y="2835431"/>
            <a:ext cx="4114800" cy="438912"/>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1)    Which ML model best predicts GDP growth?</a:t>
            </a:r>
            <a:endParaRPr lang="en-US" sz="1150" dirty="0"/>
          </a:p>
        </p:txBody>
      </p:sp>
      <p:sp>
        <p:nvSpPr>
          <p:cNvPr id="13" name="Shape 11"/>
          <p:cNvSpPr/>
          <p:nvPr/>
        </p:nvSpPr>
        <p:spPr>
          <a:xfrm>
            <a:off x="274320" y="3408426"/>
            <a:ext cx="4297680" cy="438912"/>
          </a:xfrm>
          <a:prstGeom prst="rect">
            <a:avLst/>
          </a:prstGeom>
          <a:solidFill>
            <a:srgbClr val="F5F5F5"/>
          </a:solidFill>
          <a:ln w="12700">
            <a:solidFill>
              <a:srgbClr val="CCCCCC"/>
            </a:solidFill>
            <a:prstDash val="solid"/>
          </a:ln>
        </p:spPr>
        <p:txBody>
          <a:bodyPr/>
          <a:lstStyle/>
          <a:p>
            <a:endParaRPr lang="en-PK" dirty="0"/>
          </a:p>
        </p:txBody>
      </p:sp>
      <p:sp>
        <p:nvSpPr>
          <p:cNvPr id="14" name="Text 12"/>
          <p:cNvSpPr/>
          <p:nvPr/>
        </p:nvSpPr>
        <p:spPr>
          <a:xfrm>
            <a:off x="320040" y="3399282"/>
            <a:ext cx="4114800" cy="438912"/>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 2)   How do linear vs non-linear models differ?</a:t>
            </a:r>
            <a:endParaRPr lang="en-US" sz="1150" dirty="0"/>
          </a:p>
        </p:txBody>
      </p:sp>
      <p:sp>
        <p:nvSpPr>
          <p:cNvPr id="15" name="Shape 13"/>
          <p:cNvSpPr/>
          <p:nvPr/>
        </p:nvSpPr>
        <p:spPr>
          <a:xfrm>
            <a:off x="274320" y="3924547"/>
            <a:ext cx="4297680" cy="438912"/>
          </a:xfrm>
          <a:prstGeom prst="rect">
            <a:avLst/>
          </a:prstGeom>
          <a:solidFill>
            <a:srgbClr val="F5F5F5"/>
          </a:solidFill>
          <a:ln w="12700">
            <a:solidFill>
              <a:srgbClr val="CCCCCC"/>
            </a:solidFill>
            <a:prstDash val="solid"/>
          </a:ln>
        </p:spPr>
        <p:txBody>
          <a:bodyPr/>
          <a:lstStyle/>
          <a:p>
            <a:endParaRPr lang="en-PK"/>
          </a:p>
        </p:txBody>
      </p:sp>
      <p:sp>
        <p:nvSpPr>
          <p:cNvPr id="16" name="Text 14"/>
          <p:cNvSpPr/>
          <p:nvPr/>
        </p:nvSpPr>
        <p:spPr>
          <a:xfrm>
            <a:off x="320040" y="3923662"/>
            <a:ext cx="4114800" cy="438912"/>
          </a:xfrm>
          <a:prstGeom prst="rect">
            <a:avLst/>
          </a:prstGeom>
          <a:noFill/>
          <a:ln/>
        </p:spPr>
        <p:txBody>
          <a:bodyPr wrap="square" rtlCol="0" anchor="ctr"/>
          <a:lstStyle/>
          <a:p>
            <a:pPr marL="0" indent="0">
              <a:buNone/>
            </a:pPr>
            <a:r>
              <a:rPr lang="en-US" sz="1150" dirty="0">
                <a:solidFill>
                  <a:srgbClr val="000000"/>
                </a:solidFill>
                <a:latin typeface="Calibri" pitchFamily="34" charset="0"/>
                <a:ea typeface="Calibri" pitchFamily="34" charset="-122"/>
                <a:cs typeface="Calibri" pitchFamily="34" charset="-120"/>
              </a:rPr>
              <a:t> 3)   Which economic indicators matter most?</a:t>
            </a:r>
            <a:endParaRPr lang="en-US" sz="1150" dirty="0"/>
          </a:p>
        </p:txBody>
      </p:sp>
      <p:sp>
        <p:nvSpPr>
          <p:cNvPr id="18" name="Text 16"/>
          <p:cNvSpPr/>
          <p:nvPr/>
        </p:nvSpPr>
        <p:spPr>
          <a:xfrm>
            <a:off x="4937760" y="2761488"/>
            <a:ext cx="3931920" cy="548640"/>
          </a:xfrm>
          <a:prstGeom prst="rect">
            <a:avLst/>
          </a:prstGeom>
          <a:noFill/>
          <a:ln/>
        </p:spPr>
        <p:txBody>
          <a:bodyPr wrap="square" rtlCol="0" anchor="ctr"/>
          <a:lstStyle/>
          <a:p>
            <a:pPr marL="0" indent="0" algn="ctr">
              <a:buNone/>
            </a:pPr>
            <a:r>
              <a:rPr lang="en-US" sz="1100" i="1" dirty="0">
                <a:solidFill>
                  <a:srgbClr val="AAAAAA"/>
                </a:solidFill>
                <a:latin typeface="Calibri" pitchFamily="34" charset="0"/>
                <a:ea typeface="Calibri" pitchFamily="34" charset="-122"/>
                <a:cs typeface="Calibri" pitchFamily="34" charset="-120"/>
              </a:rPr>
              <a:t>[ Project Overview Diagram</a:t>
            </a:r>
            <a:endParaRPr lang="en-US" sz="1100" dirty="0"/>
          </a:p>
          <a:p>
            <a:pPr marL="0" indent="0" algn="ctr">
              <a:buNone/>
            </a:pPr>
            <a:r>
              <a:rPr lang="en-US" sz="1100" i="1" dirty="0">
                <a:solidFill>
                  <a:srgbClr val="AAAAAA"/>
                </a:solidFill>
                <a:latin typeface="Calibri" pitchFamily="34" charset="0"/>
                <a:ea typeface="Calibri" pitchFamily="34" charset="-122"/>
                <a:cs typeface="Calibri" pitchFamily="34" charset="-120"/>
              </a:rPr>
              <a:t>or Context Image ]</a:t>
            </a:r>
            <a:endParaRPr lang="en-US" sz="1100" dirty="0"/>
          </a:p>
        </p:txBody>
      </p:sp>
      <p:sp>
        <p:nvSpPr>
          <p:cNvPr id="19" name="Shape 17"/>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20" name="Text 18"/>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Approach: Use freely available World Bank data + machine learning to build a GDP growth forecasting tool</a:t>
            </a:r>
            <a:endParaRPr lang="en-US" sz="1000" dirty="0"/>
          </a:p>
        </p:txBody>
      </p:sp>
      <p:pic>
        <p:nvPicPr>
          <p:cNvPr id="24" name="Picture 23" descr="A chart of a graph&#10;&#10;AI-generated content may be incorrect.">
            <a:extLst>
              <a:ext uri="{FF2B5EF4-FFF2-40B4-BE49-F238E27FC236}">
                <a16:creationId xmlns:a16="http://schemas.microsoft.com/office/drawing/2014/main" id="{25AD3585-4048-97BB-700F-A6A00DCE8043}"/>
              </a:ext>
            </a:extLst>
          </p:cNvPr>
          <p:cNvPicPr>
            <a:picLocks noChangeAspect="1"/>
          </p:cNvPicPr>
          <p:nvPr/>
        </p:nvPicPr>
        <p:blipFill>
          <a:blip r:embed="rId3"/>
          <a:stretch>
            <a:fillRect/>
          </a:stretch>
        </p:blipFill>
        <p:spPr>
          <a:xfrm>
            <a:off x="5064570" y="896112"/>
            <a:ext cx="3960558" cy="37989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 7 World Bank Indicators</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What data did we use and why?</a:t>
            </a:r>
            <a:endParaRPr lang="en-US" sz="1000" dirty="0"/>
          </a:p>
        </p:txBody>
      </p:sp>
      <p:sp>
        <p:nvSpPr>
          <p:cNvPr id="6" name="Shape 4"/>
          <p:cNvSpPr/>
          <p:nvPr/>
        </p:nvSpPr>
        <p:spPr>
          <a:xfrm>
            <a:off x="274320" y="1115568"/>
            <a:ext cx="4297680" cy="292608"/>
          </a:xfrm>
          <a:prstGeom prst="rect">
            <a:avLst/>
          </a:prstGeom>
          <a:solidFill>
            <a:srgbClr val="010F2F"/>
          </a:solidFill>
          <a:ln w="12700">
            <a:solidFill>
              <a:srgbClr val="000000"/>
            </a:solidFill>
            <a:prstDash val="solid"/>
          </a:ln>
        </p:spPr>
        <p:txBody>
          <a:bodyPr/>
          <a:lstStyle/>
          <a:p>
            <a:endParaRPr lang="en-PK"/>
          </a:p>
        </p:txBody>
      </p:sp>
      <p:sp>
        <p:nvSpPr>
          <p:cNvPr id="7" name="Text 5"/>
          <p:cNvSpPr/>
          <p:nvPr/>
        </p:nvSpPr>
        <p:spPr>
          <a:xfrm>
            <a:off x="274320" y="111556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Indicators Used (1995–2023)</a:t>
            </a:r>
            <a:endParaRPr lang="en-US" sz="1100" dirty="0"/>
          </a:p>
        </p:txBody>
      </p:sp>
      <p:sp>
        <p:nvSpPr>
          <p:cNvPr id="8" name="Shape 6"/>
          <p:cNvSpPr/>
          <p:nvPr/>
        </p:nvSpPr>
        <p:spPr>
          <a:xfrm>
            <a:off x="274320" y="1499616"/>
            <a:ext cx="4297680" cy="402336"/>
          </a:xfrm>
          <a:prstGeom prst="rect">
            <a:avLst/>
          </a:prstGeom>
          <a:solidFill>
            <a:srgbClr val="FFFFFF"/>
          </a:solidFill>
          <a:ln w="12700">
            <a:solidFill>
              <a:srgbClr val="CCCCCC"/>
            </a:solidFill>
            <a:prstDash val="solid"/>
          </a:ln>
        </p:spPr>
        <p:txBody>
          <a:bodyPr/>
          <a:lstStyle/>
          <a:p>
            <a:endParaRPr lang="en-PK"/>
          </a:p>
        </p:txBody>
      </p:sp>
      <p:sp>
        <p:nvSpPr>
          <p:cNvPr id="9" name="Shape 7"/>
          <p:cNvSpPr/>
          <p:nvPr/>
        </p:nvSpPr>
        <p:spPr>
          <a:xfrm>
            <a:off x="274320" y="1499616"/>
            <a:ext cx="64008" cy="402336"/>
          </a:xfrm>
          <a:prstGeom prst="rect">
            <a:avLst/>
          </a:prstGeom>
          <a:solidFill>
            <a:srgbClr val="010F2F"/>
          </a:solidFill>
          <a:ln w="12700">
            <a:solidFill>
              <a:srgbClr val="000000"/>
            </a:solidFill>
            <a:prstDash val="solid"/>
          </a:ln>
        </p:spPr>
        <p:txBody>
          <a:bodyPr/>
          <a:lstStyle/>
          <a:p>
            <a:endParaRPr lang="en-PK"/>
          </a:p>
        </p:txBody>
      </p:sp>
      <p:sp>
        <p:nvSpPr>
          <p:cNvPr id="10" name="Text 8"/>
          <p:cNvSpPr/>
          <p:nvPr/>
        </p:nvSpPr>
        <p:spPr>
          <a:xfrm>
            <a:off x="411480" y="1499616"/>
            <a:ext cx="2103120" cy="402336"/>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GDP Growth (annual %)</a:t>
            </a:r>
            <a:endParaRPr lang="en-US" sz="1050" dirty="0"/>
          </a:p>
        </p:txBody>
      </p:sp>
      <p:sp>
        <p:nvSpPr>
          <p:cNvPr id="11" name="Text 9"/>
          <p:cNvSpPr/>
          <p:nvPr/>
        </p:nvSpPr>
        <p:spPr>
          <a:xfrm>
            <a:off x="2606040" y="1499616"/>
            <a:ext cx="2148840" cy="40233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TARGET — what we predict</a:t>
            </a:r>
            <a:endParaRPr lang="en-US" sz="1000" dirty="0"/>
          </a:p>
        </p:txBody>
      </p:sp>
      <p:sp>
        <p:nvSpPr>
          <p:cNvPr id="12" name="Shape 10"/>
          <p:cNvSpPr/>
          <p:nvPr/>
        </p:nvSpPr>
        <p:spPr>
          <a:xfrm>
            <a:off x="274320" y="1975104"/>
            <a:ext cx="4297680" cy="402336"/>
          </a:xfrm>
          <a:prstGeom prst="rect">
            <a:avLst/>
          </a:prstGeom>
          <a:solidFill>
            <a:srgbClr val="FFFFFF"/>
          </a:solidFill>
          <a:ln w="12700">
            <a:solidFill>
              <a:srgbClr val="CCCCCC"/>
            </a:solidFill>
            <a:prstDash val="solid"/>
          </a:ln>
        </p:spPr>
        <p:txBody>
          <a:bodyPr/>
          <a:lstStyle/>
          <a:p>
            <a:endParaRPr lang="en-PK"/>
          </a:p>
        </p:txBody>
      </p:sp>
      <p:sp>
        <p:nvSpPr>
          <p:cNvPr id="13" name="Shape 11"/>
          <p:cNvSpPr/>
          <p:nvPr/>
        </p:nvSpPr>
        <p:spPr>
          <a:xfrm>
            <a:off x="274320" y="1975104"/>
            <a:ext cx="64008" cy="402336"/>
          </a:xfrm>
          <a:prstGeom prst="rect">
            <a:avLst/>
          </a:prstGeom>
          <a:solidFill>
            <a:srgbClr val="010F2F"/>
          </a:solidFill>
          <a:ln w="12700">
            <a:solidFill>
              <a:srgbClr val="000000"/>
            </a:solidFill>
            <a:prstDash val="solid"/>
          </a:ln>
        </p:spPr>
        <p:txBody>
          <a:bodyPr/>
          <a:lstStyle/>
          <a:p>
            <a:endParaRPr lang="en-PK"/>
          </a:p>
        </p:txBody>
      </p:sp>
      <p:sp>
        <p:nvSpPr>
          <p:cNvPr id="14" name="Text 12"/>
          <p:cNvSpPr/>
          <p:nvPr/>
        </p:nvSpPr>
        <p:spPr>
          <a:xfrm>
            <a:off x="411480" y="1975104"/>
            <a:ext cx="2103120" cy="402336"/>
          </a:xfrm>
          <a:prstGeom prst="rect">
            <a:avLst/>
          </a:prstGeom>
          <a:noFill/>
          <a:ln/>
        </p:spPr>
        <p:txBody>
          <a:bodyPr wrap="square" rtlCol="0" anchor="ctr"/>
          <a:lstStyle/>
          <a:p>
            <a:pPr marL="0" indent="0">
              <a:buNone/>
            </a:pPr>
            <a:r>
              <a:rPr lang="en-US" sz="1050" dirty="0">
                <a:solidFill>
                  <a:srgbClr val="000000"/>
                </a:solidFill>
                <a:latin typeface="Calibri" pitchFamily="34" charset="0"/>
                <a:ea typeface="Calibri" pitchFamily="34" charset="-122"/>
                <a:cs typeface="Calibri" pitchFamily="34" charset="-120"/>
              </a:rPr>
              <a:t>Inflation (Consumer Prices)</a:t>
            </a:r>
            <a:endParaRPr lang="en-US" sz="1050" dirty="0"/>
          </a:p>
        </p:txBody>
      </p:sp>
      <p:sp>
        <p:nvSpPr>
          <p:cNvPr id="15" name="Text 13"/>
          <p:cNvSpPr/>
          <p:nvPr/>
        </p:nvSpPr>
        <p:spPr>
          <a:xfrm>
            <a:off x="2606040" y="1975104"/>
            <a:ext cx="2148840" cy="40233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Macroeconomic stability signal</a:t>
            </a:r>
            <a:endParaRPr lang="en-US" sz="1000" dirty="0"/>
          </a:p>
        </p:txBody>
      </p:sp>
      <p:sp>
        <p:nvSpPr>
          <p:cNvPr id="16" name="Shape 14"/>
          <p:cNvSpPr/>
          <p:nvPr/>
        </p:nvSpPr>
        <p:spPr>
          <a:xfrm>
            <a:off x="274320" y="2450592"/>
            <a:ext cx="4297680" cy="402336"/>
          </a:xfrm>
          <a:prstGeom prst="rect">
            <a:avLst/>
          </a:prstGeom>
          <a:solidFill>
            <a:srgbClr val="FFFFFF"/>
          </a:solidFill>
          <a:ln w="12700">
            <a:solidFill>
              <a:srgbClr val="CCCCCC"/>
            </a:solidFill>
            <a:prstDash val="solid"/>
          </a:ln>
        </p:spPr>
        <p:txBody>
          <a:bodyPr/>
          <a:lstStyle/>
          <a:p>
            <a:endParaRPr lang="en-PK"/>
          </a:p>
        </p:txBody>
      </p:sp>
      <p:sp>
        <p:nvSpPr>
          <p:cNvPr id="17" name="Shape 15"/>
          <p:cNvSpPr/>
          <p:nvPr/>
        </p:nvSpPr>
        <p:spPr>
          <a:xfrm>
            <a:off x="274320" y="2450592"/>
            <a:ext cx="64008" cy="402336"/>
          </a:xfrm>
          <a:prstGeom prst="rect">
            <a:avLst/>
          </a:prstGeom>
          <a:solidFill>
            <a:srgbClr val="010F2F"/>
          </a:solidFill>
          <a:ln w="12700">
            <a:solidFill>
              <a:srgbClr val="000000"/>
            </a:solidFill>
            <a:prstDash val="solid"/>
          </a:ln>
        </p:spPr>
        <p:txBody>
          <a:bodyPr/>
          <a:lstStyle/>
          <a:p>
            <a:endParaRPr lang="en-PK"/>
          </a:p>
        </p:txBody>
      </p:sp>
      <p:sp>
        <p:nvSpPr>
          <p:cNvPr id="18" name="Text 16"/>
          <p:cNvSpPr/>
          <p:nvPr/>
        </p:nvSpPr>
        <p:spPr>
          <a:xfrm>
            <a:off x="411480" y="2450592"/>
            <a:ext cx="2103120" cy="402336"/>
          </a:xfrm>
          <a:prstGeom prst="rect">
            <a:avLst/>
          </a:prstGeom>
          <a:noFill/>
          <a:ln/>
        </p:spPr>
        <p:txBody>
          <a:bodyPr wrap="square" rtlCol="0" anchor="ctr"/>
          <a:lstStyle/>
          <a:p>
            <a:pPr marL="0" indent="0">
              <a:buNone/>
            </a:pPr>
            <a:r>
              <a:rPr lang="en-US" sz="1050" dirty="0">
                <a:solidFill>
                  <a:srgbClr val="000000"/>
                </a:solidFill>
                <a:latin typeface="Calibri" pitchFamily="34" charset="0"/>
                <a:ea typeface="Calibri" pitchFamily="34" charset="-122"/>
                <a:cs typeface="Calibri" pitchFamily="34" charset="-120"/>
              </a:rPr>
              <a:t>Unemployment Rate</a:t>
            </a:r>
            <a:endParaRPr lang="en-US" sz="1050" dirty="0"/>
          </a:p>
        </p:txBody>
      </p:sp>
      <p:sp>
        <p:nvSpPr>
          <p:cNvPr id="19" name="Text 17"/>
          <p:cNvSpPr/>
          <p:nvPr/>
        </p:nvSpPr>
        <p:spPr>
          <a:xfrm>
            <a:off x="2606040" y="2450592"/>
            <a:ext cx="2148840" cy="40233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Labour market health</a:t>
            </a:r>
            <a:endParaRPr lang="en-US" sz="1000" dirty="0"/>
          </a:p>
        </p:txBody>
      </p:sp>
      <p:sp>
        <p:nvSpPr>
          <p:cNvPr id="20" name="Shape 18"/>
          <p:cNvSpPr/>
          <p:nvPr/>
        </p:nvSpPr>
        <p:spPr>
          <a:xfrm>
            <a:off x="274320" y="2926080"/>
            <a:ext cx="4297680" cy="402336"/>
          </a:xfrm>
          <a:prstGeom prst="rect">
            <a:avLst/>
          </a:prstGeom>
          <a:solidFill>
            <a:srgbClr val="FFFFFF"/>
          </a:solidFill>
          <a:ln w="12700">
            <a:solidFill>
              <a:srgbClr val="CCCCCC"/>
            </a:solidFill>
            <a:prstDash val="solid"/>
          </a:ln>
        </p:spPr>
        <p:txBody>
          <a:bodyPr/>
          <a:lstStyle/>
          <a:p>
            <a:endParaRPr lang="en-PK"/>
          </a:p>
        </p:txBody>
      </p:sp>
      <p:sp>
        <p:nvSpPr>
          <p:cNvPr id="21" name="Shape 19"/>
          <p:cNvSpPr/>
          <p:nvPr/>
        </p:nvSpPr>
        <p:spPr>
          <a:xfrm>
            <a:off x="274320" y="2926080"/>
            <a:ext cx="64008" cy="402336"/>
          </a:xfrm>
          <a:prstGeom prst="rect">
            <a:avLst/>
          </a:prstGeom>
          <a:solidFill>
            <a:srgbClr val="010F2F"/>
          </a:solidFill>
          <a:ln w="12700">
            <a:solidFill>
              <a:srgbClr val="000000"/>
            </a:solidFill>
            <a:prstDash val="solid"/>
          </a:ln>
        </p:spPr>
        <p:txBody>
          <a:bodyPr/>
          <a:lstStyle/>
          <a:p>
            <a:endParaRPr lang="en-PK"/>
          </a:p>
        </p:txBody>
      </p:sp>
      <p:sp>
        <p:nvSpPr>
          <p:cNvPr id="22" name="Text 20"/>
          <p:cNvSpPr/>
          <p:nvPr/>
        </p:nvSpPr>
        <p:spPr>
          <a:xfrm>
            <a:off x="411480" y="2926080"/>
            <a:ext cx="2103120" cy="402336"/>
          </a:xfrm>
          <a:prstGeom prst="rect">
            <a:avLst/>
          </a:prstGeom>
          <a:noFill/>
          <a:ln/>
        </p:spPr>
        <p:txBody>
          <a:bodyPr wrap="square" rtlCol="0" anchor="ctr"/>
          <a:lstStyle/>
          <a:p>
            <a:pPr marL="0" indent="0">
              <a:buNone/>
            </a:pPr>
            <a:r>
              <a:rPr lang="en-US" sz="1050" dirty="0">
                <a:solidFill>
                  <a:srgbClr val="000000"/>
                </a:solidFill>
                <a:latin typeface="Calibri" pitchFamily="34" charset="0"/>
                <a:ea typeface="Calibri" pitchFamily="34" charset="-122"/>
                <a:cs typeface="Calibri" pitchFamily="34" charset="-120"/>
              </a:rPr>
              <a:t>Population Growth</a:t>
            </a:r>
            <a:endParaRPr lang="en-US" sz="1050" dirty="0"/>
          </a:p>
        </p:txBody>
      </p:sp>
      <p:sp>
        <p:nvSpPr>
          <p:cNvPr id="23" name="Text 21"/>
          <p:cNvSpPr/>
          <p:nvPr/>
        </p:nvSpPr>
        <p:spPr>
          <a:xfrm>
            <a:off x="2606040" y="2926080"/>
            <a:ext cx="2148840" cy="402336"/>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Demographic driver of demand</a:t>
            </a:r>
            <a:endParaRPr lang="en-US" sz="1000" dirty="0"/>
          </a:p>
        </p:txBody>
      </p:sp>
      <p:sp>
        <p:nvSpPr>
          <p:cNvPr id="24" name="Shape 22"/>
          <p:cNvSpPr/>
          <p:nvPr/>
        </p:nvSpPr>
        <p:spPr>
          <a:xfrm>
            <a:off x="274320" y="3401568"/>
            <a:ext cx="4297680" cy="402336"/>
          </a:xfrm>
          <a:prstGeom prst="rect">
            <a:avLst/>
          </a:prstGeom>
          <a:solidFill>
            <a:srgbClr val="F0F0F0"/>
          </a:solidFill>
          <a:ln w="12700">
            <a:solidFill>
              <a:srgbClr val="CCCCCC"/>
            </a:solidFill>
            <a:prstDash val="solid"/>
          </a:ln>
        </p:spPr>
        <p:txBody>
          <a:bodyPr/>
          <a:lstStyle/>
          <a:p>
            <a:endParaRPr lang="en-PK"/>
          </a:p>
        </p:txBody>
      </p:sp>
      <p:sp>
        <p:nvSpPr>
          <p:cNvPr id="25" name="Shape 23"/>
          <p:cNvSpPr/>
          <p:nvPr/>
        </p:nvSpPr>
        <p:spPr>
          <a:xfrm>
            <a:off x="274320" y="3401568"/>
            <a:ext cx="64008" cy="402336"/>
          </a:xfrm>
          <a:prstGeom prst="rect">
            <a:avLst/>
          </a:prstGeom>
          <a:solidFill>
            <a:srgbClr val="AAAAAA"/>
          </a:solidFill>
          <a:ln w="12700">
            <a:solidFill>
              <a:srgbClr val="AAAAAA"/>
            </a:solidFill>
            <a:prstDash val="solid"/>
          </a:ln>
        </p:spPr>
        <p:txBody>
          <a:bodyPr/>
          <a:lstStyle/>
          <a:p>
            <a:endParaRPr lang="en-PK"/>
          </a:p>
        </p:txBody>
      </p:sp>
      <p:sp>
        <p:nvSpPr>
          <p:cNvPr id="26" name="Text 24"/>
          <p:cNvSpPr/>
          <p:nvPr/>
        </p:nvSpPr>
        <p:spPr>
          <a:xfrm>
            <a:off x="411480" y="3401568"/>
            <a:ext cx="2103120" cy="402336"/>
          </a:xfrm>
          <a:prstGeom prst="rect">
            <a:avLst/>
          </a:prstGeom>
          <a:noFill/>
          <a:ln/>
        </p:spPr>
        <p:txBody>
          <a:bodyPr wrap="square" rtlCol="0" anchor="ctr"/>
          <a:lstStyle/>
          <a:p>
            <a:pPr marL="0" indent="0">
              <a:buNone/>
            </a:pPr>
            <a:r>
              <a:rPr lang="en-US" sz="1050" dirty="0">
                <a:solidFill>
                  <a:srgbClr val="AAAAAA"/>
                </a:solidFill>
                <a:latin typeface="Calibri" pitchFamily="34" charset="0"/>
                <a:ea typeface="Calibri" pitchFamily="34" charset="-122"/>
                <a:cs typeface="Calibri" pitchFamily="34" charset="-120"/>
              </a:rPr>
              <a:t>Internet Users (%)</a:t>
            </a:r>
            <a:endParaRPr lang="en-US" sz="1050" dirty="0"/>
          </a:p>
        </p:txBody>
      </p:sp>
      <p:sp>
        <p:nvSpPr>
          <p:cNvPr id="27" name="Text 25"/>
          <p:cNvSpPr/>
          <p:nvPr/>
        </p:nvSpPr>
        <p:spPr>
          <a:xfrm>
            <a:off x="2606040" y="3401568"/>
            <a:ext cx="2148840" cy="402336"/>
          </a:xfrm>
          <a:prstGeom prst="rect">
            <a:avLst/>
          </a:prstGeom>
          <a:noFill/>
          <a:ln/>
        </p:spPr>
        <p:txBody>
          <a:bodyPr wrap="square" rtlCol="0" anchor="ctr"/>
          <a:lstStyle/>
          <a:p>
            <a:pPr marL="0" indent="0">
              <a:buNone/>
            </a:pPr>
            <a:r>
              <a:rPr lang="en-US" sz="1000" i="1" dirty="0">
                <a:solidFill>
                  <a:srgbClr val="AAAAAA"/>
                </a:solidFill>
                <a:latin typeface="Calibri" pitchFamily="34" charset="0"/>
                <a:ea typeface="Calibri" pitchFamily="34" charset="-122"/>
                <a:cs typeface="Calibri" pitchFamily="34" charset="-120"/>
              </a:rPr>
              <a:t>Technology adoption proxy  ✕ dropped</a:t>
            </a:r>
            <a:endParaRPr lang="en-US" sz="1000" dirty="0"/>
          </a:p>
        </p:txBody>
      </p:sp>
      <p:sp>
        <p:nvSpPr>
          <p:cNvPr id="28" name="Shape 26"/>
          <p:cNvSpPr/>
          <p:nvPr/>
        </p:nvSpPr>
        <p:spPr>
          <a:xfrm>
            <a:off x="274320" y="3877056"/>
            <a:ext cx="4297680" cy="402336"/>
          </a:xfrm>
          <a:prstGeom prst="rect">
            <a:avLst/>
          </a:prstGeom>
          <a:solidFill>
            <a:srgbClr val="F0F0F0"/>
          </a:solidFill>
          <a:ln w="12700">
            <a:solidFill>
              <a:srgbClr val="CCCCCC"/>
            </a:solidFill>
            <a:prstDash val="solid"/>
          </a:ln>
        </p:spPr>
        <p:txBody>
          <a:bodyPr/>
          <a:lstStyle/>
          <a:p>
            <a:endParaRPr lang="en-PK"/>
          </a:p>
        </p:txBody>
      </p:sp>
      <p:sp>
        <p:nvSpPr>
          <p:cNvPr id="29" name="Shape 27"/>
          <p:cNvSpPr/>
          <p:nvPr/>
        </p:nvSpPr>
        <p:spPr>
          <a:xfrm>
            <a:off x="274320" y="3877056"/>
            <a:ext cx="64008" cy="402336"/>
          </a:xfrm>
          <a:prstGeom prst="rect">
            <a:avLst/>
          </a:prstGeom>
          <a:solidFill>
            <a:srgbClr val="AAAAAA"/>
          </a:solidFill>
          <a:ln w="12700">
            <a:solidFill>
              <a:srgbClr val="AAAAAA"/>
            </a:solidFill>
            <a:prstDash val="solid"/>
          </a:ln>
        </p:spPr>
        <p:txBody>
          <a:bodyPr/>
          <a:lstStyle/>
          <a:p>
            <a:endParaRPr lang="en-PK"/>
          </a:p>
        </p:txBody>
      </p:sp>
      <p:sp>
        <p:nvSpPr>
          <p:cNvPr id="30" name="Text 28"/>
          <p:cNvSpPr/>
          <p:nvPr/>
        </p:nvSpPr>
        <p:spPr>
          <a:xfrm>
            <a:off x="411480" y="3877056"/>
            <a:ext cx="2103120" cy="402336"/>
          </a:xfrm>
          <a:prstGeom prst="rect">
            <a:avLst/>
          </a:prstGeom>
          <a:noFill/>
          <a:ln/>
        </p:spPr>
        <p:txBody>
          <a:bodyPr wrap="square" rtlCol="0" anchor="ctr"/>
          <a:lstStyle/>
          <a:p>
            <a:pPr marL="0" indent="0">
              <a:buNone/>
            </a:pPr>
            <a:r>
              <a:rPr lang="en-US" sz="1050" dirty="0">
                <a:solidFill>
                  <a:srgbClr val="AAAAAA"/>
                </a:solidFill>
                <a:latin typeface="Calibri" pitchFamily="34" charset="0"/>
                <a:ea typeface="Calibri" pitchFamily="34" charset="-122"/>
                <a:cs typeface="Calibri" pitchFamily="34" charset="-120"/>
              </a:rPr>
              <a:t>Education Expenditure</a:t>
            </a:r>
            <a:endParaRPr lang="en-US" sz="1050" dirty="0"/>
          </a:p>
        </p:txBody>
      </p:sp>
      <p:sp>
        <p:nvSpPr>
          <p:cNvPr id="31" name="Text 29"/>
          <p:cNvSpPr/>
          <p:nvPr/>
        </p:nvSpPr>
        <p:spPr>
          <a:xfrm>
            <a:off x="2606040" y="3877056"/>
            <a:ext cx="2148840" cy="402336"/>
          </a:xfrm>
          <a:prstGeom prst="rect">
            <a:avLst/>
          </a:prstGeom>
          <a:noFill/>
          <a:ln/>
        </p:spPr>
        <p:txBody>
          <a:bodyPr wrap="square" rtlCol="0" anchor="ctr"/>
          <a:lstStyle/>
          <a:p>
            <a:pPr marL="0" indent="0">
              <a:buNone/>
            </a:pPr>
            <a:r>
              <a:rPr lang="en-US" sz="1000" i="1" dirty="0">
                <a:solidFill>
                  <a:srgbClr val="AAAAAA"/>
                </a:solidFill>
                <a:latin typeface="Calibri" pitchFamily="34" charset="0"/>
                <a:ea typeface="Calibri" pitchFamily="34" charset="-122"/>
                <a:cs typeface="Calibri" pitchFamily="34" charset="-120"/>
              </a:rPr>
              <a:t>Human capital investment  ✕ dropped</a:t>
            </a:r>
            <a:endParaRPr lang="en-US" sz="1000" dirty="0"/>
          </a:p>
        </p:txBody>
      </p:sp>
      <p:sp>
        <p:nvSpPr>
          <p:cNvPr id="32" name="Shape 30"/>
          <p:cNvSpPr/>
          <p:nvPr/>
        </p:nvSpPr>
        <p:spPr>
          <a:xfrm>
            <a:off x="274320" y="4352544"/>
            <a:ext cx="4297680" cy="402336"/>
          </a:xfrm>
          <a:prstGeom prst="rect">
            <a:avLst/>
          </a:prstGeom>
          <a:solidFill>
            <a:srgbClr val="F0F0F0"/>
          </a:solidFill>
          <a:ln w="12700">
            <a:solidFill>
              <a:srgbClr val="CCCCCC"/>
            </a:solidFill>
            <a:prstDash val="solid"/>
          </a:ln>
        </p:spPr>
        <p:txBody>
          <a:bodyPr/>
          <a:lstStyle/>
          <a:p>
            <a:endParaRPr lang="en-PK"/>
          </a:p>
        </p:txBody>
      </p:sp>
      <p:sp>
        <p:nvSpPr>
          <p:cNvPr id="33" name="Shape 31"/>
          <p:cNvSpPr/>
          <p:nvPr/>
        </p:nvSpPr>
        <p:spPr>
          <a:xfrm>
            <a:off x="274320" y="4352544"/>
            <a:ext cx="64008" cy="402336"/>
          </a:xfrm>
          <a:prstGeom prst="rect">
            <a:avLst/>
          </a:prstGeom>
          <a:solidFill>
            <a:srgbClr val="AAAAAA"/>
          </a:solidFill>
          <a:ln w="12700">
            <a:solidFill>
              <a:srgbClr val="AAAAAA"/>
            </a:solidFill>
            <a:prstDash val="solid"/>
          </a:ln>
        </p:spPr>
        <p:txBody>
          <a:bodyPr/>
          <a:lstStyle/>
          <a:p>
            <a:endParaRPr lang="en-PK"/>
          </a:p>
        </p:txBody>
      </p:sp>
      <p:sp>
        <p:nvSpPr>
          <p:cNvPr id="34" name="Text 32"/>
          <p:cNvSpPr/>
          <p:nvPr/>
        </p:nvSpPr>
        <p:spPr>
          <a:xfrm>
            <a:off x="411480" y="4352544"/>
            <a:ext cx="2103120" cy="402336"/>
          </a:xfrm>
          <a:prstGeom prst="rect">
            <a:avLst/>
          </a:prstGeom>
          <a:noFill/>
          <a:ln/>
        </p:spPr>
        <p:txBody>
          <a:bodyPr wrap="square" rtlCol="0" anchor="ctr"/>
          <a:lstStyle/>
          <a:p>
            <a:pPr marL="0" indent="0">
              <a:buNone/>
            </a:pPr>
            <a:r>
              <a:rPr lang="en-US" sz="1050" dirty="0">
                <a:solidFill>
                  <a:srgbClr val="AAAAAA"/>
                </a:solidFill>
                <a:latin typeface="Calibri" pitchFamily="34" charset="0"/>
                <a:ea typeface="Calibri" pitchFamily="34" charset="-122"/>
                <a:cs typeface="Calibri" pitchFamily="34" charset="-120"/>
              </a:rPr>
              <a:t>Energy Use per Capita</a:t>
            </a:r>
            <a:endParaRPr lang="en-US" sz="1050" dirty="0"/>
          </a:p>
        </p:txBody>
      </p:sp>
      <p:sp>
        <p:nvSpPr>
          <p:cNvPr id="35" name="Text 33"/>
          <p:cNvSpPr/>
          <p:nvPr/>
        </p:nvSpPr>
        <p:spPr>
          <a:xfrm>
            <a:off x="2606040" y="4352544"/>
            <a:ext cx="2148840" cy="402336"/>
          </a:xfrm>
          <a:prstGeom prst="rect">
            <a:avLst/>
          </a:prstGeom>
          <a:noFill/>
          <a:ln/>
        </p:spPr>
        <p:txBody>
          <a:bodyPr wrap="square" rtlCol="0" anchor="ctr"/>
          <a:lstStyle/>
          <a:p>
            <a:pPr marL="0" indent="0">
              <a:buNone/>
            </a:pPr>
            <a:r>
              <a:rPr lang="en-US" sz="1000" i="1" dirty="0">
                <a:solidFill>
                  <a:srgbClr val="AAAAAA"/>
                </a:solidFill>
                <a:latin typeface="Calibri" pitchFamily="34" charset="0"/>
                <a:ea typeface="Calibri" pitchFamily="34" charset="-122"/>
                <a:cs typeface="Calibri" pitchFamily="34" charset="-120"/>
              </a:rPr>
              <a:t>Economic activity proxy  ✕ dropped</a:t>
            </a:r>
            <a:endParaRPr lang="en-US" sz="1000" dirty="0"/>
          </a:p>
        </p:txBody>
      </p:sp>
      <p:sp>
        <p:nvSpPr>
          <p:cNvPr id="37" name="Text 35"/>
          <p:cNvSpPr/>
          <p:nvPr/>
        </p:nvSpPr>
        <p:spPr>
          <a:xfrm>
            <a:off x="4937760" y="2761488"/>
            <a:ext cx="3931920" cy="548640"/>
          </a:xfrm>
          <a:prstGeom prst="rect">
            <a:avLst/>
          </a:prstGeom>
          <a:noFill/>
          <a:ln/>
        </p:spPr>
        <p:txBody>
          <a:bodyPr wrap="square" rtlCol="0" anchor="ctr"/>
          <a:lstStyle/>
          <a:p>
            <a:pPr marL="0" indent="0" algn="ctr">
              <a:buNone/>
            </a:pPr>
            <a:r>
              <a:rPr lang="en-US" sz="1100" i="1" dirty="0">
                <a:solidFill>
                  <a:srgbClr val="AAAAAA"/>
                </a:solidFill>
                <a:latin typeface="Calibri" pitchFamily="34" charset="0"/>
                <a:ea typeface="Calibri" pitchFamily="34" charset="-122"/>
                <a:cs typeface="Calibri" pitchFamily="34" charset="-120"/>
              </a:rPr>
              <a:t>[ Missing Value Bar Chart</a:t>
            </a:r>
            <a:endParaRPr lang="en-US" sz="1100" dirty="0"/>
          </a:p>
          <a:p>
            <a:pPr marL="0" indent="0" algn="ctr">
              <a:buNone/>
            </a:pPr>
            <a:r>
              <a:rPr lang="en-US" sz="1100" i="1" dirty="0">
                <a:solidFill>
                  <a:srgbClr val="AAAAAA"/>
                </a:solidFill>
                <a:latin typeface="Calibri" pitchFamily="34" charset="0"/>
                <a:ea typeface="Calibri" pitchFamily="34" charset="-122"/>
                <a:cs typeface="Calibri" pitchFamily="34" charset="-120"/>
              </a:rPr>
              <a:t>(% missing per indicator) ]</a:t>
            </a:r>
            <a:endParaRPr lang="en-US" sz="1100" dirty="0"/>
          </a:p>
        </p:txBody>
      </p:sp>
      <p:sp>
        <p:nvSpPr>
          <p:cNvPr id="38" name="Shape 36"/>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39" name="Text 37"/>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3 indicators dropped: Education Exp, Energy Use, Internet Users — over 60% missing values, mostly imputed noise after fill</a:t>
            </a:r>
            <a:endParaRPr lang="en-US" sz="1000" dirty="0"/>
          </a:p>
        </p:txBody>
      </p:sp>
      <p:pic>
        <p:nvPicPr>
          <p:cNvPr id="40" name="Picture 39">
            <a:extLst>
              <a:ext uri="{FF2B5EF4-FFF2-40B4-BE49-F238E27FC236}">
                <a16:creationId xmlns:a16="http://schemas.microsoft.com/office/drawing/2014/main" id="{093F1C17-E06A-1D26-3768-FEA93AADF4BF}"/>
              </a:ext>
            </a:extLst>
          </p:cNvPr>
          <p:cNvPicPr>
            <a:picLocks noChangeAspect="1"/>
          </p:cNvPicPr>
          <p:nvPr/>
        </p:nvPicPr>
        <p:blipFill>
          <a:blip r:embed="rId3"/>
          <a:stretch>
            <a:fillRect/>
          </a:stretch>
        </p:blipFill>
        <p:spPr>
          <a:xfrm>
            <a:off x="4572000" y="1623692"/>
            <a:ext cx="4353257" cy="21393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5 Main Tasks Performed</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End-to-end pipeline: from raw CSV files to model evaluation</a:t>
            </a:r>
            <a:endParaRPr lang="en-US" sz="1000" dirty="0"/>
          </a:p>
        </p:txBody>
      </p:sp>
      <p:sp>
        <p:nvSpPr>
          <p:cNvPr id="7" name="Shape 5"/>
          <p:cNvSpPr/>
          <p:nvPr/>
        </p:nvSpPr>
        <p:spPr>
          <a:xfrm>
            <a:off x="365760" y="1252728"/>
            <a:ext cx="347472" cy="347472"/>
          </a:xfrm>
          <a:prstGeom prst="ellipse">
            <a:avLst/>
          </a:prstGeom>
          <a:solidFill>
            <a:srgbClr val="010F2F"/>
          </a:solidFill>
          <a:ln w="12700">
            <a:solidFill>
              <a:srgbClr val="000000"/>
            </a:solidFill>
            <a:prstDash val="solid"/>
          </a:ln>
        </p:spPr>
        <p:txBody>
          <a:bodyPr/>
          <a:lstStyle/>
          <a:p>
            <a:endParaRPr lang="en-PK"/>
          </a:p>
        </p:txBody>
      </p:sp>
      <p:sp>
        <p:nvSpPr>
          <p:cNvPr id="8" name="Text 6"/>
          <p:cNvSpPr/>
          <p:nvPr/>
        </p:nvSpPr>
        <p:spPr>
          <a:xfrm>
            <a:off x="365760" y="125272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9" name="Text 7"/>
          <p:cNvSpPr/>
          <p:nvPr/>
        </p:nvSpPr>
        <p:spPr>
          <a:xfrm>
            <a:off x="804672" y="1152144"/>
            <a:ext cx="1828800" cy="54864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Data Collection &amp; Merging</a:t>
            </a:r>
            <a:endParaRPr lang="en-US" sz="1050" dirty="0"/>
          </a:p>
        </p:txBody>
      </p:sp>
      <p:sp>
        <p:nvSpPr>
          <p:cNvPr id="10" name="Shape 8"/>
          <p:cNvSpPr/>
          <p:nvPr/>
        </p:nvSpPr>
        <p:spPr>
          <a:xfrm>
            <a:off x="2724912" y="1188720"/>
            <a:ext cx="0" cy="475488"/>
          </a:xfrm>
          <a:prstGeom prst="line">
            <a:avLst/>
          </a:prstGeom>
          <a:noFill/>
          <a:ln w="12700">
            <a:solidFill>
              <a:srgbClr val="CCCCCC"/>
            </a:solidFill>
            <a:prstDash val="solid"/>
          </a:ln>
        </p:spPr>
        <p:txBody>
          <a:bodyPr/>
          <a:lstStyle/>
          <a:p>
            <a:endParaRPr lang="en-PK"/>
          </a:p>
        </p:txBody>
      </p:sp>
      <p:sp>
        <p:nvSpPr>
          <p:cNvPr id="11" name="Text 9"/>
          <p:cNvSpPr/>
          <p:nvPr/>
        </p:nvSpPr>
        <p:spPr>
          <a:xfrm>
            <a:off x="2834640" y="1152144"/>
            <a:ext cx="1645920" cy="54864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Downloaded 7 World Bank CSVs. Reshaped wide→long format (.melt()). Merged all indicators on Country + Year.</a:t>
            </a:r>
            <a:endParaRPr lang="en-US" sz="950" dirty="0"/>
          </a:p>
        </p:txBody>
      </p:sp>
      <p:sp>
        <p:nvSpPr>
          <p:cNvPr id="13" name="Shape 11"/>
          <p:cNvSpPr/>
          <p:nvPr/>
        </p:nvSpPr>
        <p:spPr>
          <a:xfrm>
            <a:off x="365760" y="1947672"/>
            <a:ext cx="347472" cy="347472"/>
          </a:xfrm>
          <a:prstGeom prst="ellipse">
            <a:avLst/>
          </a:prstGeom>
          <a:solidFill>
            <a:srgbClr val="010F2F"/>
          </a:solidFill>
          <a:ln w="12700">
            <a:solidFill>
              <a:srgbClr val="000000"/>
            </a:solidFill>
            <a:prstDash val="solid"/>
          </a:ln>
        </p:spPr>
        <p:txBody>
          <a:bodyPr/>
          <a:lstStyle/>
          <a:p>
            <a:endParaRPr lang="en-PK"/>
          </a:p>
        </p:txBody>
      </p:sp>
      <p:sp>
        <p:nvSpPr>
          <p:cNvPr id="14" name="Text 12"/>
          <p:cNvSpPr/>
          <p:nvPr/>
        </p:nvSpPr>
        <p:spPr>
          <a:xfrm>
            <a:off x="365760" y="19476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5" name="Text 13"/>
          <p:cNvSpPr/>
          <p:nvPr/>
        </p:nvSpPr>
        <p:spPr>
          <a:xfrm>
            <a:off x="804672" y="1847088"/>
            <a:ext cx="1828800" cy="54864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Data Cleaning &amp; Preprocessing</a:t>
            </a:r>
            <a:endParaRPr lang="en-US" sz="1050" dirty="0"/>
          </a:p>
        </p:txBody>
      </p:sp>
      <p:sp>
        <p:nvSpPr>
          <p:cNvPr id="16" name="Shape 14"/>
          <p:cNvSpPr/>
          <p:nvPr/>
        </p:nvSpPr>
        <p:spPr>
          <a:xfrm>
            <a:off x="2724912" y="1883664"/>
            <a:ext cx="0" cy="475488"/>
          </a:xfrm>
          <a:prstGeom prst="line">
            <a:avLst/>
          </a:prstGeom>
          <a:noFill/>
          <a:ln w="12700">
            <a:solidFill>
              <a:srgbClr val="CCCCCC"/>
            </a:solidFill>
            <a:prstDash val="solid"/>
          </a:ln>
        </p:spPr>
        <p:txBody>
          <a:bodyPr/>
          <a:lstStyle/>
          <a:p>
            <a:endParaRPr lang="en-PK"/>
          </a:p>
        </p:txBody>
      </p:sp>
      <p:sp>
        <p:nvSpPr>
          <p:cNvPr id="17" name="Text 15"/>
          <p:cNvSpPr/>
          <p:nvPr/>
        </p:nvSpPr>
        <p:spPr>
          <a:xfrm>
            <a:off x="2834640" y="1847088"/>
            <a:ext cx="1645920" cy="54864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Filtered 1995–2023. Forward/backward fill per country. Dropped sparse indicators. Removed outlier countries.</a:t>
            </a:r>
            <a:endParaRPr lang="en-US" sz="950" dirty="0"/>
          </a:p>
        </p:txBody>
      </p:sp>
      <p:sp>
        <p:nvSpPr>
          <p:cNvPr id="19" name="Shape 17"/>
          <p:cNvSpPr/>
          <p:nvPr/>
        </p:nvSpPr>
        <p:spPr>
          <a:xfrm>
            <a:off x="365760" y="2642616"/>
            <a:ext cx="347472" cy="347472"/>
          </a:xfrm>
          <a:prstGeom prst="ellipse">
            <a:avLst/>
          </a:prstGeom>
          <a:solidFill>
            <a:srgbClr val="010F2F"/>
          </a:solidFill>
          <a:ln w="12700">
            <a:solidFill>
              <a:srgbClr val="000000"/>
            </a:solidFill>
            <a:prstDash val="solid"/>
          </a:ln>
        </p:spPr>
        <p:txBody>
          <a:bodyPr/>
          <a:lstStyle/>
          <a:p>
            <a:endParaRPr lang="en-PK"/>
          </a:p>
        </p:txBody>
      </p:sp>
      <p:sp>
        <p:nvSpPr>
          <p:cNvPr id="20" name="Text 18"/>
          <p:cNvSpPr/>
          <p:nvPr/>
        </p:nvSpPr>
        <p:spPr>
          <a:xfrm>
            <a:off x="365760" y="264261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1" name="Text 19"/>
          <p:cNvSpPr/>
          <p:nvPr/>
        </p:nvSpPr>
        <p:spPr>
          <a:xfrm>
            <a:off x="804672" y="2542032"/>
            <a:ext cx="1828800" cy="54864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Feature Engineering</a:t>
            </a:r>
            <a:endParaRPr lang="en-US" sz="1050" dirty="0"/>
          </a:p>
        </p:txBody>
      </p:sp>
      <p:sp>
        <p:nvSpPr>
          <p:cNvPr id="22" name="Shape 20"/>
          <p:cNvSpPr/>
          <p:nvPr/>
        </p:nvSpPr>
        <p:spPr>
          <a:xfrm>
            <a:off x="2724912" y="2578608"/>
            <a:ext cx="0" cy="475488"/>
          </a:xfrm>
          <a:prstGeom prst="line">
            <a:avLst/>
          </a:prstGeom>
          <a:noFill/>
          <a:ln w="12700">
            <a:solidFill>
              <a:srgbClr val="CCCCCC"/>
            </a:solidFill>
            <a:prstDash val="solid"/>
          </a:ln>
        </p:spPr>
        <p:txBody>
          <a:bodyPr/>
          <a:lstStyle/>
          <a:p>
            <a:endParaRPr lang="en-PK"/>
          </a:p>
        </p:txBody>
      </p:sp>
      <p:sp>
        <p:nvSpPr>
          <p:cNvPr id="23" name="Text 21"/>
          <p:cNvSpPr/>
          <p:nvPr/>
        </p:nvSpPr>
        <p:spPr>
          <a:xfrm>
            <a:off x="2834640" y="2542032"/>
            <a:ext cx="1645920" cy="548640"/>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Created lag features (t-1), autoregressive GDP lags (lag1/2/3), rolling means, Misery Index, country mean.</a:t>
            </a:r>
            <a:endParaRPr lang="en-US" sz="950" dirty="0"/>
          </a:p>
        </p:txBody>
      </p:sp>
      <p:sp>
        <p:nvSpPr>
          <p:cNvPr id="25" name="Shape 23"/>
          <p:cNvSpPr/>
          <p:nvPr/>
        </p:nvSpPr>
        <p:spPr>
          <a:xfrm>
            <a:off x="365760" y="3337560"/>
            <a:ext cx="347472" cy="347472"/>
          </a:xfrm>
          <a:prstGeom prst="ellipse">
            <a:avLst/>
          </a:prstGeom>
          <a:solidFill>
            <a:srgbClr val="010F2F"/>
          </a:solidFill>
          <a:ln w="12700">
            <a:solidFill>
              <a:srgbClr val="000000"/>
            </a:solidFill>
            <a:prstDash val="solid"/>
          </a:ln>
        </p:spPr>
        <p:txBody>
          <a:bodyPr/>
          <a:lstStyle/>
          <a:p>
            <a:endParaRPr lang="en-PK"/>
          </a:p>
        </p:txBody>
      </p:sp>
      <p:sp>
        <p:nvSpPr>
          <p:cNvPr id="26" name="Text 24"/>
          <p:cNvSpPr/>
          <p:nvPr/>
        </p:nvSpPr>
        <p:spPr>
          <a:xfrm>
            <a:off x="365760" y="333756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7" name="Text 25"/>
          <p:cNvSpPr/>
          <p:nvPr/>
        </p:nvSpPr>
        <p:spPr>
          <a:xfrm>
            <a:off x="804672" y="3236976"/>
            <a:ext cx="1828800" cy="54864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Model Training &amp; Tuning</a:t>
            </a:r>
            <a:endParaRPr lang="en-US" sz="1050" dirty="0"/>
          </a:p>
        </p:txBody>
      </p:sp>
      <p:sp>
        <p:nvSpPr>
          <p:cNvPr id="29" name="Text 27"/>
          <p:cNvSpPr/>
          <p:nvPr/>
        </p:nvSpPr>
        <p:spPr>
          <a:xfrm>
            <a:off x="2806337" y="3291841"/>
            <a:ext cx="2057055" cy="540567"/>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Trained Ridge, Random Forest, Gradient Boosting. GridSearchCV with 5-fold CV. Time-aware split ≤2015 / &gt;2015.</a:t>
            </a:r>
            <a:endParaRPr lang="en-US" sz="950" dirty="0"/>
          </a:p>
        </p:txBody>
      </p:sp>
      <p:sp>
        <p:nvSpPr>
          <p:cNvPr id="31" name="Shape 29"/>
          <p:cNvSpPr/>
          <p:nvPr/>
        </p:nvSpPr>
        <p:spPr>
          <a:xfrm>
            <a:off x="365760" y="4032504"/>
            <a:ext cx="347472" cy="347472"/>
          </a:xfrm>
          <a:prstGeom prst="ellipse">
            <a:avLst/>
          </a:prstGeom>
          <a:solidFill>
            <a:srgbClr val="010F2F"/>
          </a:solidFill>
          <a:ln w="12700">
            <a:solidFill>
              <a:srgbClr val="000000"/>
            </a:solidFill>
            <a:prstDash val="solid"/>
          </a:ln>
        </p:spPr>
        <p:txBody>
          <a:bodyPr/>
          <a:lstStyle/>
          <a:p>
            <a:endParaRPr lang="en-PK"/>
          </a:p>
        </p:txBody>
      </p:sp>
      <p:sp>
        <p:nvSpPr>
          <p:cNvPr id="32" name="Text 30"/>
          <p:cNvSpPr/>
          <p:nvPr/>
        </p:nvSpPr>
        <p:spPr>
          <a:xfrm>
            <a:off x="365760" y="40325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3" name="Text 31"/>
          <p:cNvSpPr/>
          <p:nvPr/>
        </p:nvSpPr>
        <p:spPr>
          <a:xfrm>
            <a:off x="804672" y="3931920"/>
            <a:ext cx="1828800" cy="548640"/>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Evaluation &amp; Explainability</a:t>
            </a:r>
            <a:endParaRPr lang="en-US" sz="1050" dirty="0"/>
          </a:p>
        </p:txBody>
      </p:sp>
      <p:sp>
        <p:nvSpPr>
          <p:cNvPr id="34" name="Shape 32"/>
          <p:cNvSpPr/>
          <p:nvPr/>
        </p:nvSpPr>
        <p:spPr>
          <a:xfrm>
            <a:off x="4295687" y="4864609"/>
            <a:ext cx="0" cy="255452"/>
          </a:xfrm>
          <a:prstGeom prst="line">
            <a:avLst/>
          </a:prstGeom>
          <a:noFill/>
          <a:ln w="12700">
            <a:solidFill>
              <a:srgbClr val="CCCCCC"/>
            </a:solidFill>
            <a:prstDash val="solid"/>
          </a:ln>
        </p:spPr>
        <p:txBody>
          <a:bodyPr/>
          <a:lstStyle/>
          <a:p>
            <a:endParaRPr lang="en-PK"/>
          </a:p>
        </p:txBody>
      </p:sp>
      <p:sp>
        <p:nvSpPr>
          <p:cNvPr id="35" name="Text 33"/>
          <p:cNvSpPr/>
          <p:nvPr/>
        </p:nvSpPr>
        <p:spPr>
          <a:xfrm>
            <a:off x="2806337" y="3858768"/>
            <a:ext cx="2370605" cy="768096"/>
          </a:xfrm>
          <a:prstGeom prst="rect">
            <a:avLst/>
          </a:prstGeom>
          <a:noFill/>
          <a:ln/>
        </p:spPr>
        <p:txBody>
          <a:bodyPr wrap="square" rtlCol="0" anchor="ctr"/>
          <a:lstStyle/>
          <a:p>
            <a:pPr marL="0" indent="0">
              <a:buNone/>
            </a:pPr>
            <a:r>
              <a:rPr lang="en-US" sz="950" dirty="0">
                <a:solidFill>
                  <a:srgbClr val="555555"/>
                </a:solidFill>
                <a:latin typeface="Calibri" pitchFamily="34" charset="0"/>
                <a:ea typeface="Calibri" pitchFamily="34" charset="-122"/>
                <a:cs typeface="Calibri" pitchFamily="34" charset="-120"/>
              </a:rPr>
              <a:t>Evaluated with RMSE, MAE, R². Used SHAP, permutation importance. UK case study + noise simulation (PyTorch).</a:t>
            </a:r>
            <a:endParaRPr lang="en-US" sz="950" dirty="0"/>
          </a:p>
        </p:txBody>
      </p:sp>
      <p:sp>
        <p:nvSpPr>
          <p:cNvPr id="38" name="Shape 36"/>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39" name="Text 37"/>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Every step was designed to prevent data leakage and ensure the model is evaluated fairly on unseen future data</a:t>
            </a:r>
            <a:endParaRPr lang="en-US" sz="1000" dirty="0"/>
          </a:p>
        </p:txBody>
      </p:sp>
      <p:pic>
        <p:nvPicPr>
          <p:cNvPr id="44" name="Picture 43" descr="A chart of a graph&#10;&#10;AI-generated content may be incorrect.">
            <a:extLst>
              <a:ext uri="{FF2B5EF4-FFF2-40B4-BE49-F238E27FC236}">
                <a16:creationId xmlns:a16="http://schemas.microsoft.com/office/drawing/2014/main" id="{84159787-2999-ABBE-A208-06CB6446E171}"/>
              </a:ext>
            </a:extLst>
          </p:cNvPr>
          <p:cNvPicPr>
            <a:picLocks noChangeAspect="1"/>
          </p:cNvPicPr>
          <p:nvPr/>
        </p:nvPicPr>
        <p:blipFill>
          <a:blip r:embed="rId3"/>
          <a:stretch>
            <a:fillRect/>
          </a:stretch>
        </p:blipFill>
        <p:spPr>
          <a:xfrm>
            <a:off x="5064570" y="896112"/>
            <a:ext cx="3960558" cy="3798903"/>
          </a:xfrm>
          <a:prstGeom prst="rect">
            <a:avLst/>
          </a:prstGeom>
        </p:spPr>
      </p:pic>
      <p:sp>
        <p:nvSpPr>
          <p:cNvPr id="46" name="Shape 20">
            <a:extLst>
              <a:ext uri="{FF2B5EF4-FFF2-40B4-BE49-F238E27FC236}">
                <a16:creationId xmlns:a16="http://schemas.microsoft.com/office/drawing/2014/main" id="{3433BB7F-159B-665D-794D-BEBFCF17A6D8}"/>
              </a:ext>
            </a:extLst>
          </p:cNvPr>
          <p:cNvSpPr/>
          <p:nvPr/>
        </p:nvSpPr>
        <p:spPr>
          <a:xfrm>
            <a:off x="2708299" y="3310128"/>
            <a:ext cx="0" cy="475488"/>
          </a:xfrm>
          <a:prstGeom prst="line">
            <a:avLst/>
          </a:prstGeom>
          <a:noFill/>
          <a:ln w="12700">
            <a:solidFill>
              <a:srgbClr val="CCCCCC"/>
            </a:solidFill>
            <a:prstDash val="solid"/>
          </a:ln>
        </p:spPr>
        <p:txBody>
          <a:bodyPr/>
          <a:lstStyle/>
          <a:p>
            <a:endParaRPr lang="en-PK" dirty="0"/>
          </a:p>
        </p:txBody>
      </p:sp>
      <p:sp>
        <p:nvSpPr>
          <p:cNvPr id="47" name="Shape 20">
            <a:extLst>
              <a:ext uri="{FF2B5EF4-FFF2-40B4-BE49-F238E27FC236}">
                <a16:creationId xmlns:a16="http://schemas.microsoft.com/office/drawing/2014/main" id="{778951AB-E2EC-5B5B-DF16-2F25637260C8}"/>
              </a:ext>
            </a:extLst>
          </p:cNvPr>
          <p:cNvSpPr/>
          <p:nvPr/>
        </p:nvSpPr>
        <p:spPr>
          <a:xfrm>
            <a:off x="2708299" y="4005072"/>
            <a:ext cx="0" cy="475488"/>
          </a:xfrm>
          <a:prstGeom prst="line">
            <a:avLst/>
          </a:prstGeom>
          <a:noFill/>
          <a:ln w="12700">
            <a:solidFill>
              <a:srgbClr val="CCCCCC"/>
            </a:solidFill>
            <a:prstDash val="solid"/>
          </a:ln>
        </p:spPr>
        <p:txBody>
          <a:bodyPr/>
          <a:lstStyle/>
          <a:p>
            <a:endParaRPr lang="en-PK"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Train / Test Split Strategy</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How did we divide the data for fair evaluation?</a:t>
            </a:r>
            <a:endParaRPr lang="en-US" sz="1000" dirty="0"/>
          </a:p>
        </p:txBody>
      </p:sp>
      <p:sp>
        <p:nvSpPr>
          <p:cNvPr id="6" name="Shape 4"/>
          <p:cNvSpPr/>
          <p:nvPr/>
        </p:nvSpPr>
        <p:spPr>
          <a:xfrm>
            <a:off x="274320" y="1115568"/>
            <a:ext cx="4297680" cy="475488"/>
          </a:xfrm>
          <a:prstGeom prst="rect">
            <a:avLst/>
          </a:prstGeom>
          <a:solidFill>
            <a:srgbClr val="010F2F"/>
          </a:solidFill>
          <a:ln w="12700">
            <a:solidFill>
              <a:srgbClr val="000000"/>
            </a:solidFill>
            <a:prstDash val="solid"/>
          </a:ln>
        </p:spPr>
        <p:txBody>
          <a:bodyPr/>
          <a:lstStyle/>
          <a:p>
            <a:endParaRPr lang="en-PK"/>
          </a:p>
        </p:txBody>
      </p:sp>
      <p:sp>
        <p:nvSpPr>
          <p:cNvPr id="7" name="Text 5"/>
          <p:cNvSpPr/>
          <p:nvPr/>
        </p:nvSpPr>
        <p:spPr>
          <a:xfrm>
            <a:off x="274320" y="1115568"/>
            <a:ext cx="283464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TRAIN  (1996 – 2015)</a:t>
            </a:r>
            <a:endParaRPr lang="en-US" sz="1100" dirty="0"/>
          </a:p>
        </p:txBody>
      </p:sp>
      <p:sp>
        <p:nvSpPr>
          <p:cNvPr id="8" name="Shape 6"/>
          <p:cNvSpPr/>
          <p:nvPr/>
        </p:nvSpPr>
        <p:spPr>
          <a:xfrm>
            <a:off x="3154680" y="1115568"/>
            <a:ext cx="868680" cy="475488"/>
          </a:xfrm>
          <a:prstGeom prst="rect">
            <a:avLst/>
          </a:prstGeom>
          <a:solidFill>
            <a:srgbClr val="555555"/>
          </a:solidFill>
          <a:ln w="12700">
            <a:solidFill>
              <a:srgbClr val="555555"/>
            </a:solidFill>
            <a:prstDash val="solid"/>
          </a:ln>
        </p:spPr>
        <p:txBody>
          <a:bodyPr/>
          <a:lstStyle/>
          <a:p>
            <a:endParaRPr lang="en-PK"/>
          </a:p>
        </p:txBody>
      </p:sp>
      <p:sp>
        <p:nvSpPr>
          <p:cNvPr id="9" name="Text 7"/>
          <p:cNvSpPr/>
          <p:nvPr/>
        </p:nvSpPr>
        <p:spPr>
          <a:xfrm>
            <a:off x="3154680" y="1115568"/>
            <a:ext cx="868680" cy="4754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TEST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2016–23</a:t>
            </a:r>
            <a:endParaRPr lang="en-US" sz="900" dirty="0"/>
          </a:p>
        </p:txBody>
      </p:sp>
      <p:sp>
        <p:nvSpPr>
          <p:cNvPr id="10" name="Shape 8"/>
          <p:cNvSpPr/>
          <p:nvPr/>
        </p:nvSpPr>
        <p:spPr>
          <a:xfrm>
            <a:off x="4069080" y="1115568"/>
            <a:ext cx="502920" cy="475488"/>
          </a:xfrm>
          <a:prstGeom prst="rect">
            <a:avLst/>
          </a:prstGeom>
          <a:solidFill>
            <a:srgbClr val="AAAAAA"/>
          </a:solidFill>
          <a:ln w="12700">
            <a:solidFill>
              <a:srgbClr val="AAAAAA"/>
            </a:solidFill>
            <a:prstDash val="solid"/>
          </a:ln>
        </p:spPr>
        <p:txBody>
          <a:bodyPr/>
          <a:lstStyle/>
          <a:p>
            <a:endParaRPr lang="en-PK"/>
          </a:p>
        </p:txBody>
      </p:sp>
      <p:sp>
        <p:nvSpPr>
          <p:cNvPr id="11" name="Text 9"/>
          <p:cNvSpPr/>
          <p:nvPr/>
        </p:nvSpPr>
        <p:spPr>
          <a:xfrm>
            <a:off x="4069080" y="1115568"/>
            <a:ext cx="502920" cy="47548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COVID</a:t>
            </a:r>
            <a:endParaRPr lang="en-US" sz="800" dirty="0"/>
          </a:p>
          <a:p>
            <a:pPr marL="0" indent="0" algn="ctr">
              <a:buNone/>
            </a:pPr>
            <a:r>
              <a:rPr lang="en-US" sz="800" b="1" dirty="0">
                <a:solidFill>
                  <a:srgbClr val="FFFFFF"/>
                </a:solidFill>
                <a:latin typeface="Calibri" pitchFamily="34" charset="0"/>
                <a:ea typeface="Calibri" pitchFamily="34" charset="-122"/>
                <a:cs typeface="Calibri" pitchFamily="34" charset="-120"/>
              </a:rPr>
              <a:t>excluded</a:t>
            </a:r>
            <a:endParaRPr lang="en-US" sz="800" dirty="0"/>
          </a:p>
        </p:txBody>
      </p:sp>
      <p:sp>
        <p:nvSpPr>
          <p:cNvPr id="12" name="Shape 10"/>
          <p:cNvSpPr/>
          <p:nvPr/>
        </p:nvSpPr>
        <p:spPr>
          <a:xfrm>
            <a:off x="274320" y="1737360"/>
            <a:ext cx="4297680" cy="932688"/>
          </a:xfrm>
          <a:prstGeom prst="rect">
            <a:avLst/>
          </a:prstGeom>
          <a:solidFill>
            <a:srgbClr val="F5F5F5"/>
          </a:solidFill>
          <a:ln w="12700">
            <a:solidFill>
              <a:srgbClr val="CCCCCC"/>
            </a:solidFill>
            <a:prstDash val="solid"/>
          </a:ln>
        </p:spPr>
        <p:txBody>
          <a:bodyPr/>
          <a:lstStyle/>
          <a:p>
            <a:endParaRPr lang="en-PK"/>
          </a:p>
        </p:txBody>
      </p:sp>
      <p:sp>
        <p:nvSpPr>
          <p:cNvPr id="13" name="Shape 11"/>
          <p:cNvSpPr/>
          <p:nvPr/>
        </p:nvSpPr>
        <p:spPr>
          <a:xfrm>
            <a:off x="274320" y="1737360"/>
            <a:ext cx="64008" cy="932688"/>
          </a:xfrm>
          <a:prstGeom prst="rect">
            <a:avLst/>
          </a:prstGeom>
          <a:solidFill>
            <a:srgbClr val="010F2F"/>
          </a:solidFill>
          <a:ln w="12700">
            <a:solidFill>
              <a:srgbClr val="000000"/>
            </a:solidFill>
            <a:prstDash val="solid"/>
          </a:ln>
        </p:spPr>
        <p:txBody>
          <a:bodyPr/>
          <a:lstStyle/>
          <a:p>
            <a:endParaRPr lang="en-PK"/>
          </a:p>
        </p:txBody>
      </p:sp>
      <p:sp>
        <p:nvSpPr>
          <p:cNvPr id="14" name="Text 12"/>
          <p:cNvSpPr/>
          <p:nvPr/>
        </p:nvSpPr>
        <p:spPr>
          <a:xfrm>
            <a:off x="438912" y="1783080"/>
            <a:ext cx="4069080" cy="274320"/>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Why Temporal Split?</a:t>
            </a:r>
            <a:endParaRPr lang="en-US" sz="1150" dirty="0"/>
          </a:p>
        </p:txBody>
      </p:sp>
      <p:sp>
        <p:nvSpPr>
          <p:cNvPr id="15" name="Text 13"/>
          <p:cNvSpPr/>
          <p:nvPr/>
        </p:nvSpPr>
        <p:spPr>
          <a:xfrm>
            <a:off x="438912" y="2084832"/>
            <a:ext cx="4069080" cy="530352"/>
          </a:xfrm>
          <a:prstGeom prst="rect">
            <a:avLst/>
          </a:prstGeom>
          <a:noFill/>
          <a:ln/>
        </p:spPr>
        <p:txBody>
          <a:bodyPr wrap="square" rtlCol="0" anchor="t"/>
          <a:lstStyle/>
          <a:p>
            <a:pPr marL="0" indent="0">
              <a:buNone/>
            </a:pPr>
            <a:r>
              <a:rPr lang="en-US" sz="1050" dirty="0">
                <a:solidFill>
                  <a:srgbClr val="555555"/>
                </a:solidFill>
                <a:latin typeface="Calibri" pitchFamily="34" charset="0"/>
                <a:ea typeface="Calibri" pitchFamily="34" charset="-122"/>
                <a:cs typeface="Calibri" pitchFamily="34" charset="-120"/>
              </a:rPr>
              <a:t>A random split would let the model train on 2020 and test in 2010 — not realistic. We always train on the past and predict the future.</a:t>
            </a:r>
            <a:endParaRPr lang="en-US" sz="1050" dirty="0"/>
          </a:p>
        </p:txBody>
      </p:sp>
      <p:sp>
        <p:nvSpPr>
          <p:cNvPr id="16" name="Shape 14"/>
          <p:cNvSpPr/>
          <p:nvPr/>
        </p:nvSpPr>
        <p:spPr>
          <a:xfrm>
            <a:off x="274320" y="2788920"/>
            <a:ext cx="4297680" cy="932688"/>
          </a:xfrm>
          <a:prstGeom prst="rect">
            <a:avLst/>
          </a:prstGeom>
          <a:solidFill>
            <a:srgbClr val="F5F5F5"/>
          </a:solidFill>
          <a:ln w="12700">
            <a:solidFill>
              <a:srgbClr val="CCCCCC"/>
            </a:solidFill>
            <a:prstDash val="solid"/>
          </a:ln>
        </p:spPr>
        <p:txBody>
          <a:bodyPr/>
          <a:lstStyle/>
          <a:p>
            <a:endParaRPr lang="en-PK"/>
          </a:p>
        </p:txBody>
      </p:sp>
      <p:sp>
        <p:nvSpPr>
          <p:cNvPr id="17" name="Shape 15"/>
          <p:cNvSpPr/>
          <p:nvPr/>
        </p:nvSpPr>
        <p:spPr>
          <a:xfrm>
            <a:off x="274320" y="2788920"/>
            <a:ext cx="64008" cy="932688"/>
          </a:xfrm>
          <a:prstGeom prst="rect">
            <a:avLst/>
          </a:prstGeom>
          <a:solidFill>
            <a:srgbClr val="010F2F"/>
          </a:solidFill>
          <a:ln w="12700">
            <a:solidFill>
              <a:srgbClr val="000000"/>
            </a:solidFill>
            <a:prstDash val="solid"/>
          </a:ln>
        </p:spPr>
        <p:txBody>
          <a:bodyPr/>
          <a:lstStyle/>
          <a:p>
            <a:endParaRPr lang="en-PK"/>
          </a:p>
        </p:txBody>
      </p:sp>
      <p:sp>
        <p:nvSpPr>
          <p:cNvPr id="18" name="Text 16"/>
          <p:cNvSpPr/>
          <p:nvPr/>
        </p:nvSpPr>
        <p:spPr>
          <a:xfrm>
            <a:off x="438912" y="2834640"/>
            <a:ext cx="4069080" cy="274320"/>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Why Exclude COVID (2020–21)?</a:t>
            </a:r>
            <a:endParaRPr lang="en-US" sz="1150" dirty="0"/>
          </a:p>
        </p:txBody>
      </p:sp>
      <p:sp>
        <p:nvSpPr>
          <p:cNvPr id="19" name="Text 17"/>
          <p:cNvSpPr/>
          <p:nvPr/>
        </p:nvSpPr>
        <p:spPr>
          <a:xfrm>
            <a:off x="438912" y="3136392"/>
            <a:ext cx="4069080" cy="530352"/>
          </a:xfrm>
          <a:prstGeom prst="rect">
            <a:avLst/>
          </a:prstGeom>
          <a:noFill/>
          <a:ln/>
        </p:spPr>
        <p:txBody>
          <a:bodyPr wrap="square" rtlCol="0" anchor="t"/>
          <a:lstStyle/>
          <a:p>
            <a:pPr marL="0" indent="0">
              <a:buNone/>
            </a:pPr>
            <a:r>
              <a:rPr lang="en-US" sz="1050" dirty="0">
                <a:solidFill>
                  <a:srgbClr val="555555"/>
                </a:solidFill>
                <a:latin typeface="Calibri" pitchFamily="34" charset="0"/>
                <a:ea typeface="Calibri" pitchFamily="34" charset="-122"/>
                <a:cs typeface="Calibri" pitchFamily="34" charset="-120"/>
              </a:rPr>
              <a:t>GDP dropped -10% due to a pandemic — no economic indicator could predict this. Including it would unfairly penalise all models.</a:t>
            </a:r>
            <a:endParaRPr lang="en-US" sz="1050" dirty="0"/>
          </a:p>
        </p:txBody>
      </p:sp>
      <p:sp>
        <p:nvSpPr>
          <p:cNvPr id="20" name="Shape 18"/>
          <p:cNvSpPr/>
          <p:nvPr/>
        </p:nvSpPr>
        <p:spPr>
          <a:xfrm>
            <a:off x="274320" y="3840480"/>
            <a:ext cx="4297680" cy="932688"/>
          </a:xfrm>
          <a:prstGeom prst="rect">
            <a:avLst/>
          </a:prstGeom>
          <a:solidFill>
            <a:srgbClr val="F5F5F5"/>
          </a:solidFill>
          <a:ln w="12700">
            <a:solidFill>
              <a:srgbClr val="CCCCCC"/>
            </a:solidFill>
            <a:prstDash val="solid"/>
          </a:ln>
        </p:spPr>
        <p:txBody>
          <a:bodyPr/>
          <a:lstStyle/>
          <a:p>
            <a:endParaRPr lang="en-PK"/>
          </a:p>
        </p:txBody>
      </p:sp>
      <p:sp>
        <p:nvSpPr>
          <p:cNvPr id="21" name="Shape 19"/>
          <p:cNvSpPr/>
          <p:nvPr/>
        </p:nvSpPr>
        <p:spPr>
          <a:xfrm>
            <a:off x="274320" y="3840480"/>
            <a:ext cx="64008" cy="932688"/>
          </a:xfrm>
          <a:prstGeom prst="rect">
            <a:avLst/>
          </a:prstGeom>
          <a:solidFill>
            <a:srgbClr val="010F2F"/>
          </a:solidFill>
          <a:ln w="12700">
            <a:solidFill>
              <a:srgbClr val="000000"/>
            </a:solidFill>
            <a:prstDash val="solid"/>
          </a:ln>
        </p:spPr>
        <p:txBody>
          <a:bodyPr/>
          <a:lstStyle/>
          <a:p>
            <a:endParaRPr lang="en-PK"/>
          </a:p>
        </p:txBody>
      </p:sp>
      <p:sp>
        <p:nvSpPr>
          <p:cNvPr id="22" name="Text 20"/>
          <p:cNvSpPr/>
          <p:nvPr/>
        </p:nvSpPr>
        <p:spPr>
          <a:xfrm>
            <a:off x="438912" y="3886200"/>
            <a:ext cx="4069080" cy="274320"/>
          </a:xfrm>
          <a:prstGeom prst="rect">
            <a:avLst/>
          </a:prstGeom>
          <a:noFill/>
          <a:ln/>
        </p:spPr>
        <p:txBody>
          <a:bodyPr wrap="square" rtlCol="0" anchor="ctr"/>
          <a:lstStyle/>
          <a:p>
            <a:pPr marL="0" indent="0">
              <a:buNone/>
            </a:pPr>
            <a:r>
              <a:rPr lang="en-US" sz="1150" b="1" dirty="0">
                <a:solidFill>
                  <a:srgbClr val="000000"/>
                </a:solidFill>
                <a:latin typeface="Calibri" pitchFamily="34" charset="0"/>
                <a:ea typeface="Calibri" pitchFamily="34" charset="-122"/>
                <a:cs typeface="Calibri" pitchFamily="34" charset="-120"/>
              </a:rPr>
              <a:t>MinMax Normalisation</a:t>
            </a:r>
            <a:endParaRPr lang="en-US" sz="1150" dirty="0"/>
          </a:p>
        </p:txBody>
      </p:sp>
      <p:sp>
        <p:nvSpPr>
          <p:cNvPr id="23" name="Text 21"/>
          <p:cNvSpPr/>
          <p:nvPr/>
        </p:nvSpPr>
        <p:spPr>
          <a:xfrm>
            <a:off x="438912" y="4187952"/>
            <a:ext cx="4069080" cy="530352"/>
          </a:xfrm>
          <a:prstGeom prst="rect">
            <a:avLst/>
          </a:prstGeom>
          <a:noFill/>
          <a:ln/>
        </p:spPr>
        <p:txBody>
          <a:bodyPr wrap="square" rtlCol="0" anchor="t"/>
          <a:lstStyle/>
          <a:p>
            <a:pPr marL="0" indent="0">
              <a:buNone/>
            </a:pPr>
            <a:r>
              <a:rPr lang="en-US" sz="1050" dirty="0">
                <a:solidFill>
                  <a:srgbClr val="555555"/>
                </a:solidFill>
                <a:latin typeface="Calibri" pitchFamily="34" charset="0"/>
                <a:ea typeface="Calibri" pitchFamily="34" charset="-122"/>
                <a:cs typeface="Calibri" pitchFamily="34" charset="-120"/>
              </a:rPr>
              <a:t>Features scaled to [0,1]. Scaler fitted ONLY on train data, then applied to test. Fitting on full data = data leakage.</a:t>
            </a:r>
            <a:endParaRPr lang="en-US" sz="1050" dirty="0"/>
          </a:p>
        </p:txBody>
      </p:sp>
      <p:sp>
        <p:nvSpPr>
          <p:cNvPr id="26" name="Shape 24"/>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27" name="Text 25"/>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scaler.fit_transform(X_train)  →  scaler.transform(X_test)   No leakage. Scaler never sees test data.</a:t>
            </a:r>
            <a:endParaRPr lang="en-US" sz="1000" dirty="0"/>
          </a:p>
        </p:txBody>
      </p:sp>
      <p:pic>
        <p:nvPicPr>
          <p:cNvPr id="28" name="Picture 27">
            <a:extLst>
              <a:ext uri="{FF2B5EF4-FFF2-40B4-BE49-F238E27FC236}">
                <a16:creationId xmlns:a16="http://schemas.microsoft.com/office/drawing/2014/main" id="{3A8ACFE1-B914-388E-EE96-9A96DAE438F3}"/>
              </a:ext>
            </a:extLst>
          </p:cNvPr>
          <p:cNvPicPr>
            <a:picLocks noChangeAspect="1"/>
          </p:cNvPicPr>
          <p:nvPr/>
        </p:nvPicPr>
        <p:blipFill>
          <a:blip r:embed="rId3"/>
          <a:stretch>
            <a:fillRect/>
          </a:stretch>
        </p:blipFill>
        <p:spPr>
          <a:xfrm>
            <a:off x="4608576" y="1919100"/>
            <a:ext cx="4471416" cy="173963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Correlation Heatmap — Before vs After Feature Engineering</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Why feature engineering was essential</a:t>
            </a:r>
            <a:endParaRPr lang="en-US" sz="1000" dirty="0"/>
          </a:p>
        </p:txBody>
      </p:sp>
      <p:sp>
        <p:nvSpPr>
          <p:cNvPr id="6" name="Shape 4"/>
          <p:cNvSpPr/>
          <p:nvPr/>
        </p:nvSpPr>
        <p:spPr>
          <a:xfrm>
            <a:off x="274320" y="1115568"/>
            <a:ext cx="4297680" cy="292608"/>
          </a:xfrm>
          <a:prstGeom prst="rect">
            <a:avLst/>
          </a:prstGeom>
          <a:solidFill>
            <a:srgbClr val="010F2F"/>
          </a:solidFill>
          <a:ln w="12700">
            <a:solidFill>
              <a:srgbClr val="000000"/>
            </a:solidFill>
            <a:prstDash val="solid"/>
          </a:ln>
        </p:spPr>
        <p:txBody>
          <a:bodyPr/>
          <a:lstStyle/>
          <a:p>
            <a:endParaRPr lang="en-PK"/>
          </a:p>
        </p:txBody>
      </p:sp>
      <p:sp>
        <p:nvSpPr>
          <p:cNvPr id="7" name="Text 5"/>
          <p:cNvSpPr/>
          <p:nvPr/>
        </p:nvSpPr>
        <p:spPr>
          <a:xfrm>
            <a:off x="274320" y="111556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Before — Raw Indicators (max correlation: 0.20)</a:t>
            </a:r>
            <a:endParaRPr lang="en-US" sz="1100" dirty="0"/>
          </a:p>
        </p:txBody>
      </p:sp>
      <p:sp>
        <p:nvSpPr>
          <p:cNvPr id="8" name="Shape 6"/>
          <p:cNvSpPr/>
          <p:nvPr/>
        </p:nvSpPr>
        <p:spPr>
          <a:xfrm>
            <a:off x="274320" y="1499616"/>
            <a:ext cx="2057400" cy="329184"/>
          </a:xfrm>
          <a:prstGeom prst="rect">
            <a:avLst/>
          </a:prstGeom>
          <a:solidFill>
            <a:srgbClr val="F5F5F5"/>
          </a:solidFill>
          <a:ln w="12700">
            <a:solidFill>
              <a:srgbClr val="CCCCCC"/>
            </a:solidFill>
            <a:prstDash val="solid"/>
          </a:ln>
        </p:spPr>
        <p:txBody>
          <a:bodyPr/>
          <a:lstStyle/>
          <a:p>
            <a:endParaRPr lang="en-PK"/>
          </a:p>
        </p:txBody>
      </p:sp>
      <p:sp>
        <p:nvSpPr>
          <p:cNvPr id="9" name="Text 7"/>
          <p:cNvSpPr/>
          <p:nvPr/>
        </p:nvSpPr>
        <p:spPr>
          <a:xfrm>
            <a:off x="347472" y="1499616"/>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Inflation</a:t>
            </a:r>
            <a:endParaRPr lang="en-US" sz="1000" dirty="0"/>
          </a:p>
        </p:txBody>
      </p:sp>
      <p:sp>
        <p:nvSpPr>
          <p:cNvPr id="10" name="Text 8"/>
          <p:cNvSpPr/>
          <p:nvPr/>
        </p:nvSpPr>
        <p:spPr>
          <a:xfrm>
            <a:off x="1783080" y="1499616"/>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-0.06</a:t>
            </a:r>
            <a:endParaRPr lang="en-US" sz="1000" dirty="0"/>
          </a:p>
        </p:txBody>
      </p:sp>
      <p:sp>
        <p:nvSpPr>
          <p:cNvPr id="11" name="Shape 9"/>
          <p:cNvSpPr/>
          <p:nvPr/>
        </p:nvSpPr>
        <p:spPr>
          <a:xfrm>
            <a:off x="2423160" y="1499616"/>
            <a:ext cx="2057400" cy="329184"/>
          </a:xfrm>
          <a:prstGeom prst="rect">
            <a:avLst/>
          </a:prstGeom>
          <a:solidFill>
            <a:srgbClr val="F5F5F5"/>
          </a:solidFill>
          <a:ln w="12700">
            <a:solidFill>
              <a:srgbClr val="CCCCCC"/>
            </a:solidFill>
            <a:prstDash val="solid"/>
          </a:ln>
        </p:spPr>
        <p:txBody>
          <a:bodyPr/>
          <a:lstStyle/>
          <a:p>
            <a:endParaRPr lang="en-PK"/>
          </a:p>
        </p:txBody>
      </p:sp>
      <p:sp>
        <p:nvSpPr>
          <p:cNvPr id="12" name="Text 10"/>
          <p:cNvSpPr/>
          <p:nvPr/>
        </p:nvSpPr>
        <p:spPr>
          <a:xfrm>
            <a:off x="2496312" y="1499616"/>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Unemployment</a:t>
            </a:r>
            <a:endParaRPr lang="en-US" sz="1000" dirty="0"/>
          </a:p>
        </p:txBody>
      </p:sp>
      <p:sp>
        <p:nvSpPr>
          <p:cNvPr id="13" name="Text 11"/>
          <p:cNvSpPr/>
          <p:nvPr/>
        </p:nvSpPr>
        <p:spPr>
          <a:xfrm>
            <a:off x="3931920" y="1499616"/>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-0.07</a:t>
            </a:r>
            <a:endParaRPr lang="en-US" sz="1000" dirty="0"/>
          </a:p>
        </p:txBody>
      </p:sp>
      <p:sp>
        <p:nvSpPr>
          <p:cNvPr id="14" name="Shape 12"/>
          <p:cNvSpPr/>
          <p:nvPr/>
        </p:nvSpPr>
        <p:spPr>
          <a:xfrm>
            <a:off x="274320" y="1883664"/>
            <a:ext cx="2057400" cy="329184"/>
          </a:xfrm>
          <a:prstGeom prst="rect">
            <a:avLst/>
          </a:prstGeom>
          <a:solidFill>
            <a:srgbClr val="F5F5F5"/>
          </a:solidFill>
          <a:ln w="12700">
            <a:solidFill>
              <a:srgbClr val="CCCCCC"/>
            </a:solidFill>
            <a:prstDash val="solid"/>
          </a:ln>
        </p:spPr>
        <p:txBody>
          <a:bodyPr/>
          <a:lstStyle/>
          <a:p>
            <a:endParaRPr lang="en-PK"/>
          </a:p>
        </p:txBody>
      </p:sp>
      <p:sp>
        <p:nvSpPr>
          <p:cNvPr id="15" name="Text 13"/>
          <p:cNvSpPr/>
          <p:nvPr/>
        </p:nvSpPr>
        <p:spPr>
          <a:xfrm>
            <a:off x="347472" y="1883664"/>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Internet Users</a:t>
            </a:r>
            <a:endParaRPr lang="en-US" sz="1000" dirty="0"/>
          </a:p>
        </p:txBody>
      </p:sp>
      <p:sp>
        <p:nvSpPr>
          <p:cNvPr id="16" name="Text 14"/>
          <p:cNvSpPr/>
          <p:nvPr/>
        </p:nvSpPr>
        <p:spPr>
          <a:xfrm>
            <a:off x="1783080" y="1883664"/>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-0.14</a:t>
            </a:r>
            <a:endParaRPr lang="en-US" sz="1000" dirty="0"/>
          </a:p>
        </p:txBody>
      </p:sp>
      <p:sp>
        <p:nvSpPr>
          <p:cNvPr id="17" name="Shape 15"/>
          <p:cNvSpPr/>
          <p:nvPr/>
        </p:nvSpPr>
        <p:spPr>
          <a:xfrm>
            <a:off x="2423160" y="1883664"/>
            <a:ext cx="2057400" cy="329184"/>
          </a:xfrm>
          <a:prstGeom prst="rect">
            <a:avLst/>
          </a:prstGeom>
          <a:solidFill>
            <a:srgbClr val="F5F5F5"/>
          </a:solidFill>
          <a:ln w="12700">
            <a:solidFill>
              <a:srgbClr val="CCCCCC"/>
            </a:solidFill>
            <a:prstDash val="solid"/>
          </a:ln>
        </p:spPr>
        <p:txBody>
          <a:bodyPr/>
          <a:lstStyle/>
          <a:p>
            <a:endParaRPr lang="en-PK"/>
          </a:p>
        </p:txBody>
      </p:sp>
      <p:sp>
        <p:nvSpPr>
          <p:cNvPr id="18" name="Text 16"/>
          <p:cNvSpPr/>
          <p:nvPr/>
        </p:nvSpPr>
        <p:spPr>
          <a:xfrm>
            <a:off x="2496312" y="1883664"/>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Pop Growth</a:t>
            </a:r>
            <a:endParaRPr lang="en-US" sz="1000" dirty="0"/>
          </a:p>
        </p:txBody>
      </p:sp>
      <p:sp>
        <p:nvSpPr>
          <p:cNvPr id="19" name="Text 17"/>
          <p:cNvSpPr/>
          <p:nvPr/>
        </p:nvSpPr>
        <p:spPr>
          <a:xfrm>
            <a:off x="3931920" y="1883664"/>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+0.20</a:t>
            </a:r>
            <a:endParaRPr lang="en-US" sz="1000" dirty="0"/>
          </a:p>
        </p:txBody>
      </p:sp>
      <p:sp>
        <p:nvSpPr>
          <p:cNvPr id="20" name="Shape 18"/>
          <p:cNvSpPr/>
          <p:nvPr/>
        </p:nvSpPr>
        <p:spPr>
          <a:xfrm>
            <a:off x="274320" y="2267712"/>
            <a:ext cx="2057400" cy="329184"/>
          </a:xfrm>
          <a:prstGeom prst="rect">
            <a:avLst/>
          </a:prstGeom>
          <a:solidFill>
            <a:srgbClr val="F5F5F5"/>
          </a:solidFill>
          <a:ln w="12700">
            <a:solidFill>
              <a:srgbClr val="CCCCCC"/>
            </a:solidFill>
            <a:prstDash val="solid"/>
          </a:ln>
        </p:spPr>
        <p:txBody>
          <a:bodyPr/>
          <a:lstStyle/>
          <a:p>
            <a:endParaRPr lang="en-PK"/>
          </a:p>
        </p:txBody>
      </p:sp>
      <p:sp>
        <p:nvSpPr>
          <p:cNvPr id="21" name="Text 19"/>
          <p:cNvSpPr/>
          <p:nvPr/>
        </p:nvSpPr>
        <p:spPr>
          <a:xfrm>
            <a:off x="347472" y="2267712"/>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Education Exp</a:t>
            </a:r>
            <a:endParaRPr lang="en-US" sz="1000" dirty="0"/>
          </a:p>
        </p:txBody>
      </p:sp>
      <p:sp>
        <p:nvSpPr>
          <p:cNvPr id="22" name="Text 20"/>
          <p:cNvSpPr/>
          <p:nvPr/>
        </p:nvSpPr>
        <p:spPr>
          <a:xfrm>
            <a:off x="1783080" y="2267712"/>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-0.10</a:t>
            </a:r>
            <a:endParaRPr lang="en-US" sz="1000" dirty="0"/>
          </a:p>
        </p:txBody>
      </p:sp>
      <p:sp>
        <p:nvSpPr>
          <p:cNvPr id="23" name="Shape 21"/>
          <p:cNvSpPr/>
          <p:nvPr/>
        </p:nvSpPr>
        <p:spPr>
          <a:xfrm>
            <a:off x="2423160" y="2267712"/>
            <a:ext cx="2057400" cy="329184"/>
          </a:xfrm>
          <a:prstGeom prst="rect">
            <a:avLst/>
          </a:prstGeom>
          <a:solidFill>
            <a:srgbClr val="F5F5F5"/>
          </a:solidFill>
          <a:ln w="12700">
            <a:solidFill>
              <a:srgbClr val="CCCCCC"/>
            </a:solidFill>
            <a:prstDash val="solid"/>
          </a:ln>
        </p:spPr>
        <p:txBody>
          <a:bodyPr/>
          <a:lstStyle/>
          <a:p>
            <a:endParaRPr lang="en-PK"/>
          </a:p>
        </p:txBody>
      </p:sp>
      <p:sp>
        <p:nvSpPr>
          <p:cNvPr id="24" name="Text 22"/>
          <p:cNvSpPr/>
          <p:nvPr/>
        </p:nvSpPr>
        <p:spPr>
          <a:xfrm>
            <a:off x="2496312" y="2267712"/>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Energy Use</a:t>
            </a:r>
            <a:endParaRPr lang="en-US" sz="1000" dirty="0"/>
          </a:p>
        </p:txBody>
      </p:sp>
      <p:sp>
        <p:nvSpPr>
          <p:cNvPr id="25" name="Text 23"/>
          <p:cNvSpPr/>
          <p:nvPr/>
        </p:nvSpPr>
        <p:spPr>
          <a:xfrm>
            <a:off x="3931920" y="2267712"/>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-0.06</a:t>
            </a:r>
            <a:endParaRPr lang="en-US" sz="1000" dirty="0"/>
          </a:p>
        </p:txBody>
      </p:sp>
      <p:sp>
        <p:nvSpPr>
          <p:cNvPr id="26" name="Text 24"/>
          <p:cNvSpPr/>
          <p:nvPr/>
        </p:nvSpPr>
        <p:spPr>
          <a:xfrm>
            <a:off x="274320" y="2715768"/>
            <a:ext cx="4297680" cy="320040"/>
          </a:xfrm>
          <a:prstGeom prst="rect">
            <a:avLst/>
          </a:prstGeom>
          <a:noFill/>
          <a:ln/>
        </p:spPr>
        <p:txBody>
          <a:bodyPr wrap="square"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  No single raw indicator is a strong predictor of GDP growth</a:t>
            </a:r>
            <a:endParaRPr lang="en-US" sz="1050" dirty="0"/>
          </a:p>
        </p:txBody>
      </p:sp>
      <p:sp>
        <p:nvSpPr>
          <p:cNvPr id="27" name="Shape 25"/>
          <p:cNvSpPr/>
          <p:nvPr/>
        </p:nvSpPr>
        <p:spPr>
          <a:xfrm>
            <a:off x="274320" y="3081528"/>
            <a:ext cx="4297680" cy="292608"/>
          </a:xfrm>
          <a:prstGeom prst="rect">
            <a:avLst/>
          </a:prstGeom>
          <a:solidFill>
            <a:srgbClr val="010F2F"/>
          </a:solidFill>
          <a:ln w="12700">
            <a:solidFill>
              <a:srgbClr val="000000"/>
            </a:solidFill>
            <a:prstDash val="solid"/>
          </a:ln>
        </p:spPr>
        <p:txBody>
          <a:bodyPr/>
          <a:lstStyle/>
          <a:p>
            <a:endParaRPr lang="en-PK"/>
          </a:p>
        </p:txBody>
      </p:sp>
      <p:sp>
        <p:nvSpPr>
          <p:cNvPr id="28" name="Text 26"/>
          <p:cNvSpPr/>
          <p:nvPr/>
        </p:nvSpPr>
        <p:spPr>
          <a:xfrm>
            <a:off x="274320" y="308152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After — Engineered Features (max correlation: 0.45)</a:t>
            </a:r>
            <a:endParaRPr lang="en-US" sz="1100" dirty="0"/>
          </a:p>
        </p:txBody>
      </p:sp>
      <p:sp>
        <p:nvSpPr>
          <p:cNvPr id="29" name="Shape 27"/>
          <p:cNvSpPr/>
          <p:nvPr/>
        </p:nvSpPr>
        <p:spPr>
          <a:xfrm>
            <a:off x="274320" y="3465576"/>
            <a:ext cx="2057400" cy="329184"/>
          </a:xfrm>
          <a:prstGeom prst="rect">
            <a:avLst/>
          </a:prstGeom>
          <a:solidFill>
            <a:srgbClr val="FFFFFF"/>
          </a:solidFill>
          <a:ln w="12700">
            <a:solidFill>
              <a:srgbClr val="CCCCCC"/>
            </a:solidFill>
            <a:prstDash val="solid"/>
          </a:ln>
        </p:spPr>
        <p:txBody>
          <a:bodyPr/>
          <a:lstStyle/>
          <a:p>
            <a:endParaRPr lang="en-PK"/>
          </a:p>
        </p:txBody>
      </p:sp>
      <p:sp>
        <p:nvSpPr>
          <p:cNvPr id="30" name="Shape 28"/>
          <p:cNvSpPr/>
          <p:nvPr/>
        </p:nvSpPr>
        <p:spPr>
          <a:xfrm>
            <a:off x="274320" y="3721608"/>
            <a:ext cx="822960" cy="73152"/>
          </a:xfrm>
          <a:prstGeom prst="rect">
            <a:avLst/>
          </a:prstGeom>
          <a:solidFill>
            <a:srgbClr val="010F2F"/>
          </a:solidFill>
          <a:ln w="12700">
            <a:solidFill>
              <a:srgbClr val="000000"/>
            </a:solidFill>
            <a:prstDash val="solid"/>
          </a:ln>
        </p:spPr>
        <p:txBody>
          <a:bodyPr/>
          <a:lstStyle/>
          <a:p>
            <a:endParaRPr lang="en-PK"/>
          </a:p>
        </p:txBody>
      </p:sp>
      <p:sp>
        <p:nvSpPr>
          <p:cNvPr id="31" name="Text 29"/>
          <p:cNvSpPr/>
          <p:nvPr/>
        </p:nvSpPr>
        <p:spPr>
          <a:xfrm>
            <a:off x="347472" y="3465576"/>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Country_GDP_mean</a:t>
            </a:r>
            <a:endParaRPr lang="en-US" sz="1000" dirty="0"/>
          </a:p>
        </p:txBody>
      </p:sp>
      <p:sp>
        <p:nvSpPr>
          <p:cNvPr id="32" name="Text 30"/>
          <p:cNvSpPr/>
          <p:nvPr/>
        </p:nvSpPr>
        <p:spPr>
          <a:xfrm>
            <a:off x="1783080" y="3465576"/>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+0.45</a:t>
            </a:r>
            <a:endParaRPr lang="en-US" sz="1000" dirty="0"/>
          </a:p>
        </p:txBody>
      </p:sp>
      <p:sp>
        <p:nvSpPr>
          <p:cNvPr id="33" name="Shape 31"/>
          <p:cNvSpPr/>
          <p:nvPr/>
        </p:nvSpPr>
        <p:spPr>
          <a:xfrm>
            <a:off x="2423160" y="3465576"/>
            <a:ext cx="2057400" cy="329184"/>
          </a:xfrm>
          <a:prstGeom prst="rect">
            <a:avLst/>
          </a:prstGeom>
          <a:solidFill>
            <a:srgbClr val="FFFFFF"/>
          </a:solidFill>
          <a:ln w="12700">
            <a:solidFill>
              <a:srgbClr val="CCCCCC"/>
            </a:solidFill>
            <a:prstDash val="solid"/>
          </a:ln>
        </p:spPr>
        <p:txBody>
          <a:bodyPr/>
          <a:lstStyle/>
          <a:p>
            <a:endParaRPr lang="en-PK"/>
          </a:p>
        </p:txBody>
      </p:sp>
      <p:sp>
        <p:nvSpPr>
          <p:cNvPr id="34" name="Shape 32"/>
          <p:cNvSpPr/>
          <p:nvPr/>
        </p:nvSpPr>
        <p:spPr>
          <a:xfrm>
            <a:off x="2423160" y="3721608"/>
            <a:ext cx="768096" cy="73152"/>
          </a:xfrm>
          <a:prstGeom prst="rect">
            <a:avLst/>
          </a:prstGeom>
          <a:solidFill>
            <a:srgbClr val="010F2F"/>
          </a:solidFill>
          <a:ln w="12700">
            <a:solidFill>
              <a:srgbClr val="000000"/>
            </a:solidFill>
            <a:prstDash val="solid"/>
          </a:ln>
        </p:spPr>
        <p:txBody>
          <a:bodyPr/>
          <a:lstStyle/>
          <a:p>
            <a:endParaRPr lang="en-PK"/>
          </a:p>
        </p:txBody>
      </p:sp>
      <p:sp>
        <p:nvSpPr>
          <p:cNvPr id="35" name="Text 33"/>
          <p:cNvSpPr/>
          <p:nvPr/>
        </p:nvSpPr>
        <p:spPr>
          <a:xfrm>
            <a:off x="2496312" y="3465576"/>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GDP_Growth_roll3</a:t>
            </a:r>
            <a:endParaRPr lang="en-US" sz="1000" dirty="0"/>
          </a:p>
        </p:txBody>
      </p:sp>
      <p:sp>
        <p:nvSpPr>
          <p:cNvPr id="36" name="Text 34"/>
          <p:cNvSpPr/>
          <p:nvPr/>
        </p:nvSpPr>
        <p:spPr>
          <a:xfrm>
            <a:off x="3931920" y="3465576"/>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+0.42</a:t>
            </a:r>
            <a:endParaRPr lang="en-US" sz="1000" dirty="0"/>
          </a:p>
        </p:txBody>
      </p:sp>
      <p:sp>
        <p:nvSpPr>
          <p:cNvPr id="37" name="Shape 35"/>
          <p:cNvSpPr/>
          <p:nvPr/>
        </p:nvSpPr>
        <p:spPr>
          <a:xfrm>
            <a:off x="274320" y="3849624"/>
            <a:ext cx="2057400" cy="329184"/>
          </a:xfrm>
          <a:prstGeom prst="rect">
            <a:avLst/>
          </a:prstGeom>
          <a:solidFill>
            <a:srgbClr val="FFFFFF"/>
          </a:solidFill>
          <a:ln w="12700">
            <a:solidFill>
              <a:srgbClr val="CCCCCC"/>
            </a:solidFill>
            <a:prstDash val="solid"/>
          </a:ln>
        </p:spPr>
        <p:txBody>
          <a:bodyPr/>
          <a:lstStyle/>
          <a:p>
            <a:endParaRPr lang="en-PK"/>
          </a:p>
        </p:txBody>
      </p:sp>
      <p:sp>
        <p:nvSpPr>
          <p:cNvPr id="38" name="Shape 36"/>
          <p:cNvSpPr/>
          <p:nvPr/>
        </p:nvSpPr>
        <p:spPr>
          <a:xfrm>
            <a:off x="274320" y="4105656"/>
            <a:ext cx="713232" cy="73152"/>
          </a:xfrm>
          <a:prstGeom prst="rect">
            <a:avLst/>
          </a:prstGeom>
          <a:solidFill>
            <a:srgbClr val="010F2F"/>
          </a:solidFill>
          <a:ln w="12700">
            <a:solidFill>
              <a:srgbClr val="000000"/>
            </a:solidFill>
            <a:prstDash val="solid"/>
          </a:ln>
        </p:spPr>
        <p:txBody>
          <a:bodyPr/>
          <a:lstStyle/>
          <a:p>
            <a:endParaRPr lang="en-PK"/>
          </a:p>
        </p:txBody>
      </p:sp>
      <p:sp>
        <p:nvSpPr>
          <p:cNvPr id="39" name="Text 37"/>
          <p:cNvSpPr/>
          <p:nvPr/>
        </p:nvSpPr>
        <p:spPr>
          <a:xfrm>
            <a:off x="347472" y="3849624"/>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GDP_Growth_roll2</a:t>
            </a:r>
            <a:endParaRPr lang="en-US" sz="1000" dirty="0"/>
          </a:p>
        </p:txBody>
      </p:sp>
      <p:sp>
        <p:nvSpPr>
          <p:cNvPr id="40" name="Text 38"/>
          <p:cNvSpPr/>
          <p:nvPr/>
        </p:nvSpPr>
        <p:spPr>
          <a:xfrm>
            <a:off x="1783080" y="3849624"/>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+0.39</a:t>
            </a:r>
            <a:endParaRPr lang="en-US" sz="1000" dirty="0"/>
          </a:p>
        </p:txBody>
      </p:sp>
      <p:sp>
        <p:nvSpPr>
          <p:cNvPr id="41" name="Shape 39"/>
          <p:cNvSpPr/>
          <p:nvPr/>
        </p:nvSpPr>
        <p:spPr>
          <a:xfrm>
            <a:off x="2423160" y="3849624"/>
            <a:ext cx="2057400" cy="329184"/>
          </a:xfrm>
          <a:prstGeom prst="rect">
            <a:avLst/>
          </a:prstGeom>
          <a:solidFill>
            <a:srgbClr val="FFFFFF"/>
          </a:solidFill>
          <a:ln w="12700">
            <a:solidFill>
              <a:srgbClr val="CCCCCC"/>
            </a:solidFill>
            <a:prstDash val="solid"/>
          </a:ln>
        </p:spPr>
        <p:txBody>
          <a:bodyPr/>
          <a:lstStyle/>
          <a:p>
            <a:endParaRPr lang="en-PK"/>
          </a:p>
        </p:txBody>
      </p:sp>
      <p:sp>
        <p:nvSpPr>
          <p:cNvPr id="42" name="Shape 40"/>
          <p:cNvSpPr/>
          <p:nvPr/>
        </p:nvSpPr>
        <p:spPr>
          <a:xfrm>
            <a:off x="2423160" y="4105656"/>
            <a:ext cx="694944" cy="73152"/>
          </a:xfrm>
          <a:prstGeom prst="rect">
            <a:avLst/>
          </a:prstGeom>
          <a:solidFill>
            <a:srgbClr val="010F2F"/>
          </a:solidFill>
          <a:ln w="12700">
            <a:solidFill>
              <a:srgbClr val="000000"/>
            </a:solidFill>
            <a:prstDash val="solid"/>
          </a:ln>
        </p:spPr>
        <p:txBody>
          <a:bodyPr/>
          <a:lstStyle/>
          <a:p>
            <a:endParaRPr lang="en-PK"/>
          </a:p>
        </p:txBody>
      </p:sp>
      <p:sp>
        <p:nvSpPr>
          <p:cNvPr id="43" name="Text 41"/>
          <p:cNvSpPr/>
          <p:nvPr/>
        </p:nvSpPr>
        <p:spPr>
          <a:xfrm>
            <a:off x="2496312" y="3849624"/>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GDP_Growth_lag1</a:t>
            </a:r>
            <a:endParaRPr lang="en-US" sz="1000" dirty="0"/>
          </a:p>
        </p:txBody>
      </p:sp>
      <p:sp>
        <p:nvSpPr>
          <p:cNvPr id="44" name="Text 42"/>
          <p:cNvSpPr/>
          <p:nvPr/>
        </p:nvSpPr>
        <p:spPr>
          <a:xfrm>
            <a:off x="3931920" y="3849624"/>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+0.38</a:t>
            </a:r>
            <a:endParaRPr lang="en-US" sz="1000" dirty="0"/>
          </a:p>
        </p:txBody>
      </p:sp>
      <p:sp>
        <p:nvSpPr>
          <p:cNvPr id="45" name="Shape 43"/>
          <p:cNvSpPr/>
          <p:nvPr/>
        </p:nvSpPr>
        <p:spPr>
          <a:xfrm>
            <a:off x="274320" y="4233672"/>
            <a:ext cx="2057400" cy="329184"/>
          </a:xfrm>
          <a:prstGeom prst="rect">
            <a:avLst/>
          </a:prstGeom>
          <a:solidFill>
            <a:srgbClr val="FFFFFF"/>
          </a:solidFill>
          <a:ln w="12700">
            <a:solidFill>
              <a:srgbClr val="CCCCCC"/>
            </a:solidFill>
            <a:prstDash val="solid"/>
          </a:ln>
        </p:spPr>
        <p:txBody>
          <a:bodyPr/>
          <a:lstStyle/>
          <a:p>
            <a:endParaRPr lang="en-PK"/>
          </a:p>
        </p:txBody>
      </p:sp>
      <p:sp>
        <p:nvSpPr>
          <p:cNvPr id="46" name="Shape 44"/>
          <p:cNvSpPr/>
          <p:nvPr/>
        </p:nvSpPr>
        <p:spPr>
          <a:xfrm>
            <a:off x="274320" y="4489704"/>
            <a:ext cx="548640" cy="73152"/>
          </a:xfrm>
          <a:prstGeom prst="rect">
            <a:avLst/>
          </a:prstGeom>
          <a:solidFill>
            <a:srgbClr val="010F2F"/>
          </a:solidFill>
          <a:ln w="12700">
            <a:solidFill>
              <a:srgbClr val="000000"/>
            </a:solidFill>
            <a:prstDash val="solid"/>
          </a:ln>
        </p:spPr>
        <p:txBody>
          <a:bodyPr/>
          <a:lstStyle/>
          <a:p>
            <a:endParaRPr lang="en-PK"/>
          </a:p>
        </p:txBody>
      </p:sp>
      <p:sp>
        <p:nvSpPr>
          <p:cNvPr id="47" name="Text 45"/>
          <p:cNvSpPr/>
          <p:nvPr/>
        </p:nvSpPr>
        <p:spPr>
          <a:xfrm>
            <a:off x="347472" y="4233672"/>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GDP_Growth_lag3</a:t>
            </a:r>
            <a:endParaRPr lang="en-US" sz="1000" dirty="0"/>
          </a:p>
        </p:txBody>
      </p:sp>
      <p:sp>
        <p:nvSpPr>
          <p:cNvPr id="48" name="Text 46"/>
          <p:cNvSpPr/>
          <p:nvPr/>
        </p:nvSpPr>
        <p:spPr>
          <a:xfrm>
            <a:off x="1783080" y="4233672"/>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+0.30</a:t>
            </a:r>
            <a:endParaRPr lang="en-US" sz="1000" dirty="0"/>
          </a:p>
        </p:txBody>
      </p:sp>
      <p:sp>
        <p:nvSpPr>
          <p:cNvPr id="49" name="Shape 47"/>
          <p:cNvSpPr/>
          <p:nvPr/>
        </p:nvSpPr>
        <p:spPr>
          <a:xfrm>
            <a:off x="2423160" y="4233672"/>
            <a:ext cx="2057400" cy="329184"/>
          </a:xfrm>
          <a:prstGeom prst="rect">
            <a:avLst/>
          </a:prstGeom>
          <a:solidFill>
            <a:srgbClr val="FFFFFF"/>
          </a:solidFill>
          <a:ln w="12700">
            <a:solidFill>
              <a:srgbClr val="CCCCCC"/>
            </a:solidFill>
            <a:prstDash val="solid"/>
          </a:ln>
        </p:spPr>
        <p:txBody>
          <a:bodyPr/>
          <a:lstStyle/>
          <a:p>
            <a:endParaRPr lang="en-PK"/>
          </a:p>
        </p:txBody>
      </p:sp>
      <p:sp>
        <p:nvSpPr>
          <p:cNvPr id="50" name="Shape 48"/>
          <p:cNvSpPr/>
          <p:nvPr/>
        </p:nvSpPr>
        <p:spPr>
          <a:xfrm>
            <a:off x="2423160" y="4489704"/>
            <a:ext cx="493776" cy="73152"/>
          </a:xfrm>
          <a:prstGeom prst="rect">
            <a:avLst/>
          </a:prstGeom>
          <a:solidFill>
            <a:srgbClr val="010F2F"/>
          </a:solidFill>
          <a:ln w="12700">
            <a:solidFill>
              <a:srgbClr val="000000"/>
            </a:solidFill>
            <a:prstDash val="solid"/>
          </a:ln>
        </p:spPr>
        <p:txBody>
          <a:bodyPr/>
          <a:lstStyle/>
          <a:p>
            <a:endParaRPr lang="en-PK"/>
          </a:p>
        </p:txBody>
      </p:sp>
      <p:sp>
        <p:nvSpPr>
          <p:cNvPr id="51" name="Text 49"/>
          <p:cNvSpPr/>
          <p:nvPr/>
        </p:nvSpPr>
        <p:spPr>
          <a:xfrm>
            <a:off x="2496312" y="4233672"/>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GDP_Growth_lag2</a:t>
            </a:r>
            <a:endParaRPr lang="en-US" sz="1000" dirty="0"/>
          </a:p>
        </p:txBody>
      </p:sp>
      <p:sp>
        <p:nvSpPr>
          <p:cNvPr id="52" name="Text 50"/>
          <p:cNvSpPr/>
          <p:nvPr/>
        </p:nvSpPr>
        <p:spPr>
          <a:xfrm>
            <a:off x="3931920" y="4233672"/>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+0.27</a:t>
            </a:r>
            <a:endParaRPr lang="en-US" sz="1000" dirty="0"/>
          </a:p>
        </p:txBody>
      </p:sp>
      <p:sp>
        <p:nvSpPr>
          <p:cNvPr id="57" name="Shape 55"/>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58" name="Text 56"/>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Feature engineering raised max correlation from 0.20 → 0.45. GDP growth predicts itself (autocorrelation) — the key insight.</a:t>
            </a:r>
            <a:endParaRPr lang="en-US" sz="1000" dirty="0"/>
          </a:p>
        </p:txBody>
      </p:sp>
      <p:pic>
        <p:nvPicPr>
          <p:cNvPr id="59" name="Picture 58">
            <a:extLst>
              <a:ext uri="{FF2B5EF4-FFF2-40B4-BE49-F238E27FC236}">
                <a16:creationId xmlns:a16="http://schemas.microsoft.com/office/drawing/2014/main" id="{13686E54-A949-9DD4-3FE4-4213CACC3DA5}"/>
              </a:ext>
            </a:extLst>
          </p:cNvPr>
          <p:cNvPicPr>
            <a:picLocks noChangeAspect="1"/>
          </p:cNvPicPr>
          <p:nvPr/>
        </p:nvPicPr>
        <p:blipFill>
          <a:blip r:embed="rId3"/>
          <a:stretch>
            <a:fillRect/>
          </a:stretch>
        </p:blipFill>
        <p:spPr>
          <a:xfrm>
            <a:off x="4804189" y="935677"/>
            <a:ext cx="4253433" cy="37818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B6453A-77A1-0A2C-403F-BE97EF97DE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D50AC5A-1447-C07D-C903-559A68B2D209}"/>
              </a:ext>
            </a:extLst>
          </p:cNvPr>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a:extLst>
              <a:ext uri="{FF2B5EF4-FFF2-40B4-BE49-F238E27FC236}">
                <a16:creationId xmlns:a16="http://schemas.microsoft.com/office/drawing/2014/main" id="{97D26627-86D1-CC76-3B3B-31211A639B49}"/>
              </a:ext>
            </a:extLst>
          </p:cNvPr>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Correlation Heatmap — Before vs After Feature Engineering</a:t>
            </a:r>
            <a:endParaRPr lang="en-US" sz="2200" dirty="0"/>
          </a:p>
        </p:txBody>
      </p:sp>
      <p:sp>
        <p:nvSpPr>
          <p:cNvPr id="4" name="Shape 2">
            <a:extLst>
              <a:ext uri="{FF2B5EF4-FFF2-40B4-BE49-F238E27FC236}">
                <a16:creationId xmlns:a16="http://schemas.microsoft.com/office/drawing/2014/main" id="{EB333C99-42A7-5872-8168-37A824763FBF}"/>
              </a:ext>
            </a:extLst>
          </p:cNvPr>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a:extLst>
              <a:ext uri="{FF2B5EF4-FFF2-40B4-BE49-F238E27FC236}">
                <a16:creationId xmlns:a16="http://schemas.microsoft.com/office/drawing/2014/main" id="{14976D20-DCEC-83A0-A638-2971433CC050}"/>
              </a:ext>
            </a:extLst>
          </p:cNvPr>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Why feature engineering was essential</a:t>
            </a:r>
            <a:endParaRPr lang="en-US" sz="1000" dirty="0"/>
          </a:p>
        </p:txBody>
      </p:sp>
      <p:sp>
        <p:nvSpPr>
          <p:cNvPr id="6" name="Shape 4">
            <a:extLst>
              <a:ext uri="{FF2B5EF4-FFF2-40B4-BE49-F238E27FC236}">
                <a16:creationId xmlns:a16="http://schemas.microsoft.com/office/drawing/2014/main" id="{82ABC58B-EAC9-8E6B-8A21-8704ACF3F314}"/>
              </a:ext>
            </a:extLst>
          </p:cNvPr>
          <p:cNvSpPr/>
          <p:nvPr/>
        </p:nvSpPr>
        <p:spPr>
          <a:xfrm>
            <a:off x="274320" y="1115568"/>
            <a:ext cx="4297680" cy="292608"/>
          </a:xfrm>
          <a:prstGeom prst="rect">
            <a:avLst/>
          </a:prstGeom>
          <a:solidFill>
            <a:srgbClr val="010F2F"/>
          </a:solidFill>
          <a:ln w="12700">
            <a:solidFill>
              <a:srgbClr val="000000"/>
            </a:solidFill>
            <a:prstDash val="solid"/>
          </a:ln>
        </p:spPr>
        <p:txBody>
          <a:bodyPr/>
          <a:lstStyle/>
          <a:p>
            <a:endParaRPr lang="en-PK"/>
          </a:p>
        </p:txBody>
      </p:sp>
      <p:sp>
        <p:nvSpPr>
          <p:cNvPr id="7" name="Text 5">
            <a:extLst>
              <a:ext uri="{FF2B5EF4-FFF2-40B4-BE49-F238E27FC236}">
                <a16:creationId xmlns:a16="http://schemas.microsoft.com/office/drawing/2014/main" id="{CD887871-5D83-E606-1EB4-5AF617F18DEA}"/>
              </a:ext>
            </a:extLst>
          </p:cNvPr>
          <p:cNvSpPr/>
          <p:nvPr/>
        </p:nvSpPr>
        <p:spPr>
          <a:xfrm>
            <a:off x="274320" y="111556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Before — Raw Indicators (max correlation: 0.20)</a:t>
            </a:r>
            <a:endParaRPr lang="en-US" sz="1100" dirty="0"/>
          </a:p>
        </p:txBody>
      </p:sp>
      <p:sp>
        <p:nvSpPr>
          <p:cNvPr id="8" name="Shape 6">
            <a:extLst>
              <a:ext uri="{FF2B5EF4-FFF2-40B4-BE49-F238E27FC236}">
                <a16:creationId xmlns:a16="http://schemas.microsoft.com/office/drawing/2014/main" id="{E0EEB802-1975-5557-2BD7-2FA1EDBD0A26}"/>
              </a:ext>
            </a:extLst>
          </p:cNvPr>
          <p:cNvSpPr/>
          <p:nvPr/>
        </p:nvSpPr>
        <p:spPr>
          <a:xfrm>
            <a:off x="274320" y="1499616"/>
            <a:ext cx="2057400" cy="329184"/>
          </a:xfrm>
          <a:prstGeom prst="rect">
            <a:avLst/>
          </a:prstGeom>
          <a:solidFill>
            <a:srgbClr val="F5F5F5"/>
          </a:solidFill>
          <a:ln w="12700">
            <a:solidFill>
              <a:srgbClr val="CCCCCC"/>
            </a:solidFill>
            <a:prstDash val="solid"/>
          </a:ln>
        </p:spPr>
        <p:txBody>
          <a:bodyPr/>
          <a:lstStyle/>
          <a:p>
            <a:endParaRPr lang="en-PK"/>
          </a:p>
        </p:txBody>
      </p:sp>
      <p:sp>
        <p:nvSpPr>
          <p:cNvPr id="9" name="Text 7">
            <a:extLst>
              <a:ext uri="{FF2B5EF4-FFF2-40B4-BE49-F238E27FC236}">
                <a16:creationId xmlns:a16="http://schemas.microsoft.com/office/drawing/2014/main" id="{C9D34E61-DF06-B434-5BD0-81359D1DEADD}"/>
              </a:ext>
            </a:extLst>
          </p:cNvPr>
          <p:cNvSpPr/>
          <p:nvPr/>
        </p:nvSpPr>
        <p:spPr>
          <a:xfrm>
            <a:off x="347472" y="1499616"/>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Inflation</a:t>
            </a:r>
            <a:endParaRPr lang="en-US" sz="1000" dirty="0"/>
          </a:p>
        </p:txBody>
      </p:sp>
      <p:sp>
        <p:nvSpPr>
          <p:cNvPr id="10" name="Text 8">
            <a:extLst>
              <a:ext uri="{FF2B5EF4-FFF2-40B4-BE49-F238E27FC236}">
                <a16:creationId xmlns:a16="http://schemas.microsoft.com/office/drawing/2014/main" id="{27C9982B-3D55-FB1F-FCE5-F76E89B97BEC}"/>
              </a:ext>
            </a:extLst>
          </p:cNvPr>
          <p:cNvSpPr/>
          <p:nvPr/>
        </p:nvSpPr>
        <p:spPr>
          <a:xfrm>
            <a:off x="1783080" y="1499616"/>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-0.06</a:t>
            </a:r>
            <a:endParaRPr lang="en-US" sz="1000" dirty="0"/>
          </a:p>
        </p:txBody>
      </p:sp>
      <p:sp>
        <p:nvSpPr>
          <p:cNvPr id="11" name="Shape 9">
            <a:extLst>
              <a:ext uri="{FF2B5EF4-FFF2-40B4-BE49-F238E27FC236}">
                <a16:creationId xmlns:a16="http://schemas.microsoft.com/office/drawing/2014/main" id="{AB39835F-E018-43A4-2A91-72F9E631BAC2}"/>
              </a:ext>
            </a:extLst>
          </p:cNvPr>
          <p:cNvSpPr/>
          <p:nvPr/>
        </p:nvSpPr>
        <p:spPr>
          <a:xfrm>
            <a:off x="2423160" y="1499616"/>
            <a:ext cx="2057400" cy="329184"/>
          </a:xfrm>
          <a:prstGeom prst="rect">
            <a:avLst/>
          </a:prstGeom>
          <a:solidFill>
            <a:srgbClr val="F5F5F5"/>
          </a:solidFill>
          <a:ln w="12700">
            <a:solidFill>
              <a:srgbClr val="CCCCCC"/>
            </a:solidFill>
            <a:prstDash val="solid"/>
          </a:ln>
        </p:spPr>
        <p:txBody>
          <a:bodyPr/>
          <a:lstStyle/>
          <a:p>
            <a:endParaRPr lang="en-PK"/>
          </a:p>
        </p:txBody>
      </p:sp>
      <p:sp>
        <p:nvSpPr>
          <p:cNvPr id="12" name="Text 10">
            <a:extLst>
              <a:ext uri="{FF2B5EF4-FFF2-40B4-BE49-F238E27FC236}">
                <a16:creationId xmlns:a16="http://schemas.microsoft.com/office/drawing/2014/main" id="{F38DD7A4-BE49-8CBD-4C2C-A7763284BA4C}"/>
              </a:ext>
            </a:extLst>
          </p:cNvPr>
          <p:cNvSpPr/>
          <p:nvPr/>
        </p:nvSpPr>
        <p:spPr>
          <a:xfrm>
            <a:off x="2496312" y="1499616"/>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Unemployment</a:t>
            </a:r>
            <a:endParaRPr lang="en-US" sz="1000" dirty="0"/>
          </a:p>
        </p:txBody>
      </p:sp>
      <p:sp>
        <p:nvSpPr>
          <p:cNvPr id="13" name="Text 11">
            <a:extLst>
              <a:ext uri="{FF2B5EF4-FFF2-40B4-BE49-F238E27FC236}">
                <a16:creationId xmlns:a16="http://schemas.microsoft.com/office/drawing/2014/main" id="{952B7531-E52E-BF47-A6C2-85D8E24EA5F5}"/>
              </a:ext>
            </a:extLst>
          </p:cNvPr>
          <p:cNvSpPr/>
          <p:nvPr/>
        </p:nvSpPr>
        <p:spPr>
          <a:xfrm>
            <a:off x="3931920" y="1499616"/>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-0.07</a:t>
            </a:r>
            <a:endParaRPr lang="en-US" sz="1000" dirty="0"/>
          </a:p>
        </p:txBody>
      </p:sp>
      <p:sp>
        <p:nvSpPr>
          <p:cNvPr id="14" name="Shape 12">
            <a:extLst>
              <a:ext uri="{FF2B5EF4-FFF2-40B4-BE49-F238E27FC236}">
                <a16:creationId xmlns:a16="http://schemas.microsoft.com/office/drawing/2014/main" id="{049E5021-5E42-9C3D-B679-3D4BC69E1CE0}"/>
              </a:ext>
            </a:extLst>
          </p:cNvPr>
          <p:cNvSpPr/>
          <p:nvPr/>
        </p:nvSpPr>
        <p:spPr>
          <a:xfrm>
            <a:off x="274320" y="1883664"/>
            <a:ext cx="2057400" cy="329184"/>
          </a:xfrm>
          <a:prstGeom prst="rect">
            <a:avLst/>
          </a:prstGeom>
          <a:solidFill>
            <a:srgbClr val="F5F5F5"/>
          </a:solidFill>
          <a:ln w="12700">
            <a:solidFill>
              <a:srgbClr val="CCCCCC"/>
            </a:solidFill>
            <a:prstDash val="solid"/>
          </a:ln>
        </p:spPr>
        <p:txBody>
          <a:bodyPr/>
          <a:lstStyle/>
          <a:p>
            <a:endParaRPr lang="en-PK"/>
          </a:p>
        </p:txBody>
      </p:sp>
      <p:sp>
        <p:nvSpPr>
          <p:cNvPr id="15" name="Text 13">
            <a:extLst>
              <a:ext uri="{FF2B5EF4-FFF2-40B4-BE49-F238E27FC236}">
                <a16:creationId xmlns:a16="http://schemas.microsoft.com/office/drawing/2014/main" id="{406E4F9E-2B7E-4B1F-4D27-1BB602FEB09B}"/>
              </a:ext>
            </a:extLst>
          </p:cNvPr>
          <p:cNvSpPr/>
          <p:nvPr/>
        </p:nvSpPr>
        <p:spPr>
          <a:xfrm>
            <a:off x="347472" y="1883664"/>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Internet Users</a:t>
            </a:r>
            <a:endParaRPr lang="en-US" sz="1000" dirty="0"/>
          </a:p>
        </p:txBody>
      </p:sp>
      <p:sp>
        <p:nvSpPr>
          <p:cNvPr id="16" name="Text 14">
            <a:extLst>
              <a:ext uri="{FF2B5EF4-FFF2-40B4-BE49-F238E27FC236}">
                <a16:creationId xmlns:a16="http://schemas.microsoft.com/office/drawing/2014/main" id="{BA87A8F1-DC92-AA55-5B82-486DAF97ED88}"/>
              </a:ext>
            </a:extLst>
          </p:cNvPr>
          <p:cNvSpPr/>
          <p:nvPr/>
        </p:nvSpPr>
        <p:spPr>
          <a:xfrm>
            <a:off x="1783080" y="1883664"/>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-0.14</a:t>
            </a:r>
            <a:endParaRPr lang="en-US" sz="1000" dirty="0"/>
          </a:p>
        </p:txBody>
      </p:sp>
      <p:sp>
        <p:nvSpPr>
          <p:cNvPr id="17" name="Shape 15">
            <a:extLst>
              <a:ext uri="{FF2B5EF4-FFF2-40B4-BE49-F238E27FC236}">
                <a16:creationId xmlns:a16="http://schemas.microsoft.com/office/drawing/2014/main" id="{1AA578DD-8433-00AC-DA01-9F3C225D049D}"/>
              </a:ext>
            </a:extLst>
          </p:cNvPr>
          <p:cNvSpPr/>
          <p:nvPr/>
        </p:nvSpPr>
        <p:spPr>
          <a:xfrm>
            <a:off x="2423160" y="1883664"/>
            <a:ext cx="2057400" cy="329184"/>
          </a:xfrm>
          <a:prstGeom prst="rect">
            <a:avLst/>
          </a:prstGeom>
          <a:solidFill>
            <a:srgbClr val="F5F5F5"/>
          </a:solidFill>
          <a:ln w="12700">
            <a:solidFill>
              <a:srgbClr val="CCCCCC"/>
            </a:solidFill>
            <a:prstDash val="solid"/>
          </a:ln>
        </p:spPr>
        <p:txBody>
          <a:bodyPr/>
          <a:lstStyle/>
          <a:p>
            <a:endParaRPr lang="en-PK"/>
          </a:p>
        </p:txBody>
      </p:sp>
      <p:sp>
        <p:nvSpPr>
          <p:cNvPr id="18" name="Text 16">
            <a:extLst>
              <a:ext uri="{FF2B5EF4-FFF2-40B4-BE49-F238E27FC236}">
                <a16:creationId xmlns:a16="http://schemas.microsoft.com/office/drawing/2014/main" id="{9E4DF56B-F302-0DF0-34E9-CCA5FE526C91}"/>
              </a:ext>
            </a:extLst>
          </p:cNvPr>
          <p:cNvSpPr/>
          <p:nvPr/>
        </p:nvSpPr>
        <p:spPr>
          <a:xfrm>
            <a:off x="2496312" y="1883664"/>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Pop Growth</a:t>
            </a:r>
            <a:endParaRPr lang="en-US" sz="1000" dirty="0"/>
          </a:p>
        </p:txBody>
      </p:sp>
      <p:sp>
        <p:nvSpPr>
          <p:cNvPr id="19" name="Text 17">
            <a:extLst>
              <a:ext uri="{FF2B5EF4-FFF2-40B4-BE49-F238E27FC236}">
                <a16:creationId xmlns:a16="http://schemas.microsoft.com/office/drawing/2014/main" id="{AB99BE08-ED2D-858F-C040-A2B743C94089}"/>
              </a:ext>
            </a:extLst>
          </p:cNvPr>
          <p:cNvSpPr/>
          <p:nvPr/>
        </p:nvSpPr>
        <p:spPr>
          <a:xfrm>
            <a:off x="3931920" y="1883664"/>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+0.20</a:t>
            </a:r>
            <a:endParaRPr lang="en-US" sz="1000" dirty="0"/>
          </a:p>
        </p:txBody>
      </p:sp>
      <p:sp>
        <p:nvSpPr>
          <p:cNvPr id="20" name="Shape 18">
            <a:extLst>
              <a:ext uri="{FF2B5EF4-FFF2-40B4-BE49-F238E27FC236}">
                <a16:creationId xmlns:a16="http://schemas.microsoft.com/office/drawing/2014/main" id="{0C73BF59-48DA-3605-7FCF-FA0B798EE2D2}"/>
              </a:ext>
            </a:extLst>
          </p:cNvPr>
          <p:cNvSpPr/>
          <p:nvPr/>
        </p:nvSpPr>
        <p:spPr>
          <a:xfrm>
            <a:off x="274320" y="2267712"/>
            <a:ext cx="2057400" cy="329184"/>
          </a:xfrm>
          <a:prstGeom prst="rect">
            <a:avLst/>
          </a:prstGeom>
          <a:solidFill>
            <a:srgbClr val="F5F5F5"/>
          </a:solidFill>
          <a:ln w="12700">
            <a:solidFill>
              <a:srgbClr val="CCCCCC"/>
            </a:solidFill>
            <a:prstDash val="solid"/>
          </a:ln>
        </p:spPr>
        <p:txBody>
          <a:bodyPr/>
          <a:lstStyle/>
          <a:p>
            <a:endParaRPr lang="en-PK"/>
          </a:p>
        </p:txBody>
      </p:sp>
      <p:sp>
        <p:nvSpPr>
          <p:cNvPr id="21" name="Text 19">
            <a:extLst>
              <a:ext uri="{FF2B5EF4-FFF2-40B4-BE49-F238E27FC236}">
                <a16:creationId xmlns:a16="http://schemas.microsoft.com/office/drawing/2014/main" id="{A86739E9-478E-3875-3566-0023B9A58E6C}"/>
              </a:ext>
            </a:extLst>
          </p:cNvPr>
          <p:cNvSpPr/>
          <p:nvPr/>
        </p:nvSpPr>
        <p:spPr>
          <a:xfrm>
            <a:off x="347472" y="2267712"/>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Education Exp</a:t>
            </a:r>
            <a:endParaRPr lang="en-US" sz="1000" dirty="0"/>
          </a:p>
        </p:txBody>
      </p:sp>
      <p:sp>
        <p:nvSpPr>
          <p:cNvPr id="22" name="Text 20">
            <a:extLst>
              <a:ext uri="{FF2B5EF4-FFF2-40B4-BE49-F238E27FC236}">
                <a16:creationId xmlns:a16="http://schemas.microsoft.com/office/drawing/2014/main" id="{8951BD4E-0B4D-2E6A-02F4-BB0F266BA241}"/>
              </a:ext>
            </a:extLst>
          </p:cNvPr>
          <p:cNvSpPr/>
          <p:nvPr/>
        </p:nvSpPr>
        <p:spPr>
          <a:xfrm>
            <a:off x="1783080" y="2267712"/>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-0.10</a:t>
            </a:r>
            <a:endParaRPr lang="en-US" sz="1000" dirty="0"/>
          </a:p>
        </p:txBody>
      </p:sp>
      <p:sp>
        <p:nvSpPr>
          <p:cNvPr id="23" name="Shape 21">
            <a:extLst>
              <a:ext uri="{FF2B5EF4-FFF2-40B4-BE49-F238E27FC236}">
                <a16:creationId xmlns:a16="http://schemas.microsoft.com/office/drawing/2014/main" id="{77EA427F-28AC-5B7B-DA95-E9AD09F4ABF2}"/>
              </a:ext>
            </a:extLst>
          </p:cNvPr>
          <p:cNvSpPr/>
          <p:nvPr/>
        </p:nvSpPr>
        <p:spPr>
          <a:xfrm>
            <a:off x="2423160" y="2267712"/>
            <a:ext cx="2057400" cy="329184"/>
          </a:xfrm>
          <a:prstGeom prst="rect">
            <a:avLst/>
          </a:prstGeom>
          <a:solidFill>
            <a:srgbClr val="F5F5F5"/>
          </a:solidFill>
          <a:ln w="12700">
            <a:solidFill>
              <a:srgbClr val="CCCCCC"/>
            </a:solidFill>
            <a:prstDash val="solid"/>
          </a:ln>
        </p:spPr>
        <p:txBody>
          <a:bodyPr/>
          <a:lstStyle/>
          <a:p>
            <a:endParaRPr lang="en-PK"/>
          </a:p>
        </p:txBody>
      </p:sp>
      <p:sp>
        <p:nvSpPr>
          <p:cNvPr id="24" name="Text 22">
            <a:extLst>
              <a:ext uri="{FF2B5EF4-FFF2-40B4-BE49-F238E27FC236}">
                <a16:creationId xmlns:a16="http://schemas.microsoft.com/office/drawing/2014/main" id="{7B386392-9036-B1A4-75FE-F72402C4F190}"/>
              </a:ext>
            </a:extLst>
          </p:cNvPr>
          <p:cNvSpPr/>
          <p:nvPr/>
        </p:nvSpPr>
        <p:spPr>
          <a:xfrm>
            <a:off x="2496312" y="2267712"/>
            <a:ext cx="1371600" cy="329184"/>
          </a:xfrm>
          <a:prstGeom prst="rect">
            <a:avLst/>
          </a:prstGeom>
          <a:noFill/>
          <a:ln/>
        </p:spPr>
        <p:txBody>
          <a:bodyPr wrap="square"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Energy Use</a:t>
            </a:r>
            <a:endParaRPr lang="en-US" sz="1000" dirty="0"/>
          </a:p>
        </p:txBody>
      </p:sp>
      <p:sp>
        <p:nvSpPr>
          <p:cNvPr id="25" name="Text 23">
            <a:extLst>
              <a:ext uri="{FF2B5EF4-FFF2-40B4-BE49-F238E27FC236}">
                <a16:creationId xmlns:a16="http://schemas.microsoft.com/office/drawing/2014/main" id="{6EEC5C3E-C40B-999E-FC24-8B99EE048C69}"/>
              </a:ext>
            </a:extLst>
          </p:cNvPr>
          <p:cNvSpPr/>
          <p:nvPr/>
        </p:nvSpPr>
        <p:spPr>
          <a:xfrm>
            <a:off x="3931920" y="2267712"/>
            <a:ext cx="502920" cy="329184"/>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-0.06</a:t>
            </a:r>
            <a:endParaRPr lang="en-US" sz="1000" dirty="0"/>
          </a:p>
        </p:txBody>
      </p:sp>
      <p:sp>
        <p:nvSpPr>
          <p:cNvPr id="26" name="Text 24">
            <a:extLst>
              <a:ext uri="{FF2B5EF4-FFF2-40B4-BE49-F238E27FC236}">
                <a16:creationId xmlns:a16="http://schemas.microsoft.com/office/drawing/2014/main" id="{67E12838-462A-FD83-ADE0-B86FAE10BFC0}"/>
              </a:ext>
            </a:extLst>
          </p:cNvPr>
          <p:cNvSpPr/>
          <p:nvPr/>
        </p:nvSpPr>
        <p:spPr>
          <a:xfrm>
            <a:off x="274320" y="2715768"/>
            <a:ext cx="4297680" cy="320040"/>
          </a:xfrm>
          <a:prstGeom prst="rect">
            <a:avLst/>
          </a:prstGeom>
          <a:noFill/>
          <a:ln/>
        </p:spPr>
        <p:txBody>
          <a:bodyPr wrap="square" rtlCol="0" anchor="ctr"/>
          <a:lstStyle/>
          <a:p>
            <a:pPr marL="0" indent="0">
              <a:buNone/>
            </a:pPr>
            <a:r>
              <a:rPr lang="en-US" sz="1050" i="1" dirty="0">
                <a:solidFill>
                  <a:srgbClr val="555555"/>
                </a:solidFill>
                <a:latin typeface="Calibri" pitchFamily="34" charset="0"/>
                <a:ea typeface="Calibri" pitchFamily="34" charset="-122"/>
                <a:cs typeface="Calibri" pitchFamily="34" charset="-120"/>
              </a:rPr>
              <a:t>→  No single raw indicator is a strong predictor of GDP growth</a:t>
            </a:r>
            <a:endParaRPr lang="en-US" sz="1050" dirty="0"/>
          </a:p>
        </p:txBody>
      </p:sp>
      <p:sp>
        <p:nvSpPr>
          <p:cNvPr id="27" name="Shape 25">
            <a:extLst>
              <a:ext uri="{FF2B5EF4-FFF2-40B4-BE49-F238E27FC236}">
                <a16:creationId xmlns:a16="http://schemas.microsoft.com/office/drawing/2014/main" id="{B34BDE94-45E9-4DF1-378A-D84C72370DA0}"/>
              </a:ext>
            </a:extLst>
          </p:cNvPr>
          <p:cNvSpPr/>
          <p:nvPr/>
        </p:nvSpPr>
        <p:spPr>
          <a:xfrm>
            <a:off x="274320" y="3081528"/>
            <a:ext cx="4297680" cy="292608"/>
          </a:xfrm>
          <a:prstGeom prst="rect">
            <a:avLst/>
          </a:prstGeom>
          <a:solidFill>
            <a:srgbClr val="010F2F"/>
          </a:solidFill>
          <a:ln w="12700">
            <a:solidFill>
              <a:srgbClr val="000000"/>
            </a:solidFill>
            <a:prstDash val="solid"/>
          </a:ln>
        </p:spPr>
        <p:txBody>
          <a:bodyPr/>
          <a:lstStyle/>
          <a:p>
            <a:endParaRPr lang="en-PK"/>
          </a:p>
        </p:txBody>
      </p:sp>
      <p:sp>
        <p:nvSpPr>
          <p:cNvPr id="28" name="Text 26">
            <a:extLst>
              <a:ext uri="{FF2B5EF4-FFF2-40B4-BE49-F238E27FC236}">
                <a16:creationId xmlns:a16="http://schemas.microsoft.com/office/drawing/2014/main" id="{B16393B9-C008-BA23-C93F-61497F6D4986}"/>
              </a:ext>
            </a:extLst>
          </p:cNvPr>
          <p:cNvSpPr/>
          <p:nvPr/>
        </p:nvSpPr>
        <p:spPr>
          <a:xfrm>
            <a:off x="274320" y="308152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After — Engineered Features (max correlation: 0.45)</a:t>
            </a:r>
            <a:endParaRPr lang="en-US" sz="1100" dirty="0"/>
          </a:p>
        </p:txBody>
      </p:sp>
      <p:sp>
        <p:nvSpPr>
          <p:cNvPr id="29" name="Shape 27">
            <a:extLst>
              <a:ext uri="{FF2B5EF4-FFF2-40B4-BE49-F238E27FC236}">
                <a16:creationId xmlns:a16="http://schemas.microsoft.com/office/drawing/2014/main" id="{9A9954A3-B1B0-E119-52E7-38EA60DA537D}"/>
              </a:ext>
            </a:extLst>
          </p:cNvPr>
          <p:cNvSpPr/>
          <p:nvPr/>
        </p:nvSpPr>
        <p:spPr>
          <a:xfrm>
            <a:off x="274320" y="3465576"/>
            <a:ext cx="2057400" cy="329184"/>
          </a:xfrm>
          <a:prstGeom prst="rect">
            <a:avLst/>
          </a:prstGeom>
          <a:solidFill>
            <a:srgbClr val="FFFFFF"/>
          </a:solidFill>
          <a:ln w="12700">
            <a:solidFill>
              <a:srgbClr val="CCCCCC"/>
            </a:solidFill>
            <a:prstDash val="solid"/>
          </a:ln>
        </p:spPr>
        <p:txBody>
          <a:bodyPr/>
          <a:lstStyle/>
          <a:p>
            <a:endParaRPr lang="en-PK"/>
          </a:p>
        </p:txBody>
      </p:sp>
      <p:sp>
        <p:nvSpPr>
          <p:cNvPr id="30" name="Shape 28">
            <a:extLst>
              <a:ext uri="{FF2B5EF4-FFF2-40B4-BE49-F238E27FC236}">
                <a16:creationId xmlns:a16="http://schemas.microsoft.com/office/drawing/2014/main" id="{1C1FDD01-7B43-6EE8-F947-F2A3EA1745F3}"/>
              </a:ext>
            </a:extLst>
          </p:cNvPr>
          <p:cNvSpPr/>
          <p:nvPr/>
        </p:nvSpPr>
        <p:spPr>
          <a:xfrm>
            <a:off x="274320" y="3721608"/>
            <a:ext cx="822960" cy="73152"/>
          </a:xfrm>
          <a:prstGeom prst="rect">
            <a:avLst/>
          </a:prstGeom>
          <a:solidFill>
            <a:srgbClr val="010F2F"/>
          </a:solidFill>
          <a:ln w="12700">
            <a:solidFill>
              <a:srgbClr val="000000"/>
            </a:solidFill>
            <a:prstDash val="solid"/>
          </a:ln>
        </p:spPr>
        <p:txBody>
          <a:bodyPr/>
          <a:lstStyle/>
          <a:p>
            <a:endParaRPr lang="en-PK"/>
          </a:p>
        </p:txBody>
      </p:sp>
      <p:sp>
        <p:nvSpPr>
          <p:cNvPr id="31" name="Text 29">
            <a:extLst>
              <a:ext uri="{FF2B5EF4-FFF2-40B4-BE49-F238E27FC236}">
                <a16:creationId xmlns:a16="http://schemas.microsoft.com/office/drawing/2014/main" id="{77A44DF0-D8B6-FCFE-5C14-FC40AC71EE19}"/>
              </a:ext>
            </a:extLst>
          </p:cNvPr>
          <p:cNvSpPr/>
          <p:nvPr/>
        </p:nvSpPr>
        <p:spPr>
          <a:xfrm>
            <a:off x="347472" y="3465576"/>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Country_GDP_mean</a:t>
            </a:r>
            <a:endParaRPr lang="en-US" sz="1000" dirty="0"/>
          </a:p>
        </p:txBody>
      </p:sp>
      <p:sp>
        <p:nvSpPr>
          <p:cNvPr id="32" name="Text 30">
            <a:extLst>
              <a:ext uri="{FF2B5EF4-FFF2-40B4-BE49-F238E27FC236}">
                <a16:creationId xmlns:a16="http://schemas.microsoft.com/office/drawing/2014/main" id="{2324380C-44E0-AE66-98E9-1AD088807D4F}"/>
              </a:ext>
            </a:extLst>
          </p:cNvPr>
          <p:cNvSpPr/>
          <p:nvPr/>
        </p:nvSpPr>
        <p:spPr>
          <a:xfrm>
            <a:off x="1783080" y="3465576"/>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+0.45</a:t>
            </a:r>
            <a:endParaRPr lang="en-US" sz="1000" dirty="0"/>
          </a:p>
        </p:txBody>
      </p:sp>
      <p:sp>
        <p:nvSpPr>
          <p:cNvPr id="33" name="Shape 31">
            <a:extLst>
              <a:ext uri="{FF2B5EF4-FFF2-40B4-BE49-F238E27FC236}">
                <a16:creationId xmlns:a16="http://schemas.microsoft.com/office/drawing/2014/main" id="{E5FE7808-0743-768E-ECC1-594F45ED13E9}"/>
              </a:ext>
            </a:extLst>
          </p:cNvPr>
          <p:cNvSpPr/>
          <p:nvPr/>
        </p:nvSpPr>
        <p:spPr>
          <a:xfrm>
            <a:off x="2423160" y="3465576"/>
            <a:ext cx="2057400" cy="329184"/>
          </a:xfrm>
          <a:prstGeom prst="rect">
            <a:avLst/>
          </a:prstGeom>
          <a:solidFill>
            <a:srgbClr val="FFFFFF"/>
          </a:solidFill>
          <a:ln w="12700">
            <a:solidFill>
              <a:srgbClr val="CCCCCC"/>
            </a:solidFill>
            <a:prstDash val="solid"/>
          </a:ln>
        </p:spPr>
        <p:txBody>
          <a:bodyPr/>
          <a:lstStyle/>
          <a:p>
            <a:endParaRPr lang="en-PK"/>
          </a:p>
        </p:txBody>
      </p:sp>
      <p:sp>
        <p:nvSpPr>
          <p:cNvPr id="34" name="Shape 32">
            <a:extLst>
              <a:ext uri="{FF2B5EF4-FFF2-40B4-BE49-F238E27FC236}">
                <a16:creationId xmlns:a16="http://schemas.microsoft.com/office/drawing/2014/main" id="{D6E941A2-5172-2E6F-17BA-331CA69C9F2E}"/>
              </a:ext>
            </a:extLst>
          </p:cNvPr>
          <p:cNvSpPr/>
          <p:nvPr/>
        </p:nvSpPr>
        <p:spPr>
          <a:xfrm>
            <a:off x="2423160" y="3721608"/>
            <a:ext cx="768096" cy="73152"/>
          </a:xfrm>
          <a:prstGeom prst="rect">
            <a:avLst/>
          </a:prstGeom>
          <a:solidFill>
            <a:srgbClr val="010F2F"/>
          </a:solidFill>
          <a:ln w="12700">
            <a:solidFill>
              <a:srgbClr val="000000"/>
            </a:solidFill>
            <a:prstDash val="solid"/>
          </a:ln>
        </p:spPr>
        <p:txBody>
          <a:bodyPr/>
          <a:lstStyle/>
          <a:p>
            <a:endParaRPr lang="en-PK"/>
          </a:p>
        </p:txBody>
      </p:sp>
      <p:sp>
        <p:nvSpPr>
          <p:cNvPr id="35" name="Text 33">
            <a:extLst>
              <a:ext uri="{FF2B5EF4-FFF2-40B4-BE49-F238E27FC236}">
                <a16:creationId xmlns:a16="http://schemas.microsoft.com/office/drawing/2014/main" id="{DA53D545-DDB2-4B74-913A-BDDAEB0B7FC7}"/>
              </a:ext>
            </a:extLst>
          </p:cNvPr>
          <p:cNvSpPr/>
          <p:nvPr/>
        </p:nvSpPr>
        <p:spPr>
          <a:xfrm>
            <a:off x="2496312" y="3465576"/>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GDP_Growth_roll3</a:t>
            </a:r>
            <a:endParaRPr lang="en-US" sz="1000" dirty="0"/>
          </a:p>
        </p:txBody>
      </p:sp>
      <p:sp>
        <p:nvSpPr>
          <p:cNvPr id="36" name="Text 34">
            <a:extLst>
              <a:ext uri="{FF2B5EF4-FFF2-40B4-BE49-F238E27FC236}">
                <a16:creationId xmlns:a16="http://schemas.microsoft.com/office/drawing/2014/main" id="{6D30D4CD-370D-DF8D-772D-3B6A063BC2AB}"/>
              </a:ext>
            </a:extLst>
          </p:cNvPr>
          <p:cNvSpPr/>
          <p:nvPr/>
        </p:nvSpPr>
        <p:spPr>
          <a:xfrm>
            <a:off x="3931920" y="3465576"/>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+0.42</a:t>
            </a:r>
            <a:endParaRPr lang="en-US" sz="1000" dirty="0"/>
          </a:p>
        </p:txBody>
      </p:sp>
      <p:sp>
        <p:nvSpPr>
          <p:cNvPr id="37" name="Shape 35">
            <a:extLst>
              <a:ext uri="{FF2B5EF4-FFF2-40B4-BE49-F238E27FC236}">
                <a16:creationId xmlns:a16="http://schemas.microsoft.com/office/drawing/2014/main" id="{DBD45826-E777-1085-A8BE-A603F79AC798}"/>
              </a:ext>
            </a:extLst>
          </p:cNvPr>
          <p:cNvSpPr/>
          <p:nvPr/>
        </p:nvSpPr>
        <p:spPr>
          <a:xfrm>
            <a:off x="274320" y="3849624"/>
            <a:ext cx="2057400" cy="329184"/>
          </a:xfrm>
          <a:prstGeom prst="rect">
            <a:avLst/>
          </a:prstGeom>
          <a:solidFill>
            <a:srgbClr val="FFFFFF"/>
          </a:solidFill>
          <a:ln w="12700">
            <a:solidFill>
              <a:srgbClr val="CCCCCC"/>
            </a:solidFill>
            <a:prstDash val="solid"/>
          </a:ln>
        </p:spPr>
        <p:txBody>
          <a:bodyPr/>
          <a:lstStyle/>
          <a:p>
            <a:endParaRPr lang="en-PK"/>
          </a:p>
        </p:txBody>
      </p:sp>
      <p:sp>
        <p:nvSpPr>
          <p:cNvPr id="38" name="Shape 36">
            <a:extLst>
              <a:ext uri="{FF2B5EF4-FFF2-40B4-BE49-F238E27FC236}">
                <a16:creationId xmlns:a16="http://schemas.microsoft.com/office/drawing/2014/main" id="{A6E0185A-0DEC-B690-4631-4B868DE76CE7}"/>
              </a:ext>
            </a:extLst>
          </p:cNvPr>
          <p:cNvSpPr/>
          <p:nvPr/>
        </p:nvSpPr>
        <p:spPr>
          <a:xfrm>
            <a:off x="274320" y="4105656"/>
            <a:ext cx="713232" cy="73152"/>
          </a:xfrm>
          <a:prstGeom prst="rect">
            <a:avLst/>
          </a:prstGeom>
          <a:solidFill>
            <a:srgbClr val="010F2F"/>
          </a:solidFill>
          <a:ln w="12700">
            <a:solidFill>
              <a:srgbClr val="000000"/>
            </a:solidFill>
            <a:prstDash val="solid"/>
          </a:ln>
        </p:spPr>
        <p:txBody>
          <a:bodyPr/>
          <a:lstStyle/>
          <a:p>
            <a:endParaRPr lang="en-PK"/>
          </a:p>
        </p:txBody>
      </p:sp>
      <p:sp>
        <p:nvSpPr>
          <p:cNvPr id="39" name="Text 37">
            <a:extLst>
              <a:ext uri="{FF2B5EF4-FFF2-40B4-BE49-F238E27FC236}">
                <a16:creationId xmlns:a16="http://schemas.microsoft.com/office/drawing/2014/main" id="{480FF749-08C6-D552-8A35-4851DC21116A}"/>
              </a:ext>
            </a:extLst>
          </p:cNvPr>
          <p:cNvSpPr/>
          <p:nvPr/>
        </p:nvSpPr>
        <p:spPr>
          <a:xfrm>
            <a:off x="347472" y="3849624"/>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GDP_Growth_roll2</a:t>
            </a:r>
            <a:endParaRPr lang="en-US" sz="1000" dirty="0"/>
          </a:p>
        </p:txBody>
      </p:sp>
      <p:sp>
        <p:nvSpPr>
          <p:cNvPr id="40" name="Text 38">
            <a:extLst>
              <a:ext uri="{FF2B5EF4-FFF2-40B4-BE49-F238E27FC236}">
                <a16:creationId xmlns:a16="http://schemas.microsoft.com/office/drawing/2014/main" id="{0497D4FA-7FCA-AD14-B4E0-7180C73562C0}"/>
              </a:ext>
            </a:extLst>
          </p:cNvPr>
          <p:cNvSpPr/>
          <p:nvPr/>
        </p:nvSpPr>
        <p:spPr>
          <a:xfrm>
            <a:off x="1783080" y="3849624"/>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+0.39</a:t>
            </a:r>
            <a:endParaRPr lang="en-US" sz="1000" dirty="0"/>
          </a:p>
        </p:txBody>
      </p:sp>
      <p:sp>
        <p:nvSpPr>
          <p:cNvPr id="41" name="Shape 39">
            <a:extLst>
              <a:ext uri="{FF2B5EF4-FFF2-40B4-BE49-F238E27FC236}">
                <a16:creationId xmlns:a16="http://schemas.microsoft.com/office/drawing/2014/main" id="{ADAAD431-3C9D-ADC2-9926-29DA51880925}"/>
              </a:ext>
            </a:extLst>
          </p:cNvPr>
          <p:cNvSpPr/>
          <p:nvPr/>
        </p:nvSpPr>
        <p:spPr>
          <a:xfrm>
            <a:off x="2423160" y="3849624"/>
            <a:ext cx="2057400" cy="329184"/>
          </a:xfrm>
          <a:prstGeom prst="rect">
            <a:avLst/>
          </a:prstGeom>
          <a:solidFill>
            <a:srgbClr val="FFFFFF"/>
          </a:solidFill>
          <a:ln w="12700">
            <a:solidFill>
              <a:srgbClr val="CCCCCC"/>
            </a:solidFill>
            <a:prstDash val="solid"/>
          </a:ln>
        </p:spPr>
        <p:txBody>
          <a:bodyPr/>
          <a:lstStyle/>
          <a:p>
            <a:endParaRPr lang="en-PK"/>
          </a:p>
        </p:txBody>
      </p:sp>
      <p:sp>
        <p:nvSpPr>
          <p:cNvPr id="42" name="Shape 40">
            <a:extLst>
              <a:ext uri="{FF2B5EF4-FFF2-40B4-BE49-F238E27FC236}">
                <a16:creationId xmlns:a16="http://schemas.microsoft.com/office/drawing/2014/main" id="{5C67E78E-EF99-BA2E-2BC0-8F397B50FC1E}"/>
              </a:ext>
            </a:extLst>
          </p:cNvPr>
          <p:cNvSpPr/>
          <p:nvPr/>
        </p:nvSpPr>
        <p:spPr>
          <a:xfrm>
            <a:off x="2423160" y="4105656"/>
            <a:ext cx="694944" cy="73152"/>
          </a:xfrm>
          <a:prstGeom prst="rect">
            <a:avLst/>
          </a:prstGeom>
          <a:solidFill>
            <a:srgbClr val="010F2F"/>
          </a:solidFill>
          <a:ln w="12700">
            <a:solidFill>
              <a:srgbClr val="000000"/>
            </a:solidFill>
            <a:prstDash val="solid"/>
          </a:ln>
        </p:spPr>
        <p:txBody>
          <a:bodyPr/>
          <a:lstStyle/>
          <a:p>
            <a:endParaRPr lang="en-PK"/>
          </a:p>
        </p:txBody>
      </p:sp>
      <p:sp>
        <p:nvSpPr>
          <p:cNvPr id="43" name="Text 41">
            <a:extLst>
              <a:ext uri="{FF2B5EF4-FFF2-40B4-BE49-F238E27FC236}">
                <a16:creationId xmlns:a16="http://schemas.microsoft.com/office/drawing/2014/main" id="{02D45A28-ED47-7502-7267-6404F4743611}"/>
              </a:ext>
            </a:extLst>
          </p:cNvPr>
          <p:cNvSpPr/>
          <p:nvPr/>
        </p:nvSpPr>
        <p:spPr>
          <a:xfrm>
            <a:off x="2496312" y="3849624"/>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GDP_Growth_lag1</a:t>
            </a:r>
            <a:endParaRPr lang="en-US" sz="1000" dirty="0"/>
          </a:p>
        </p:txBody>
      </p:sp>
      <p:sp>
        <p:nvSpPr>
          <p:cNvPr id="44" name="Text 42">
            <a:extLst>
              <a:ext uri="{FF2B5EF4-FFF2-40B4-BE49-F238E27FC236}">
                <a16:creationId xmlns:a16="http://schemas.microsoft.com/office/drawing/2014/main" id="{36609670-F085-E3D8-D451-1411E87F43AD}"/>
              </a:ext>
            </a:extLst>
          </p:cNvPr>
          <p:cNvSpPr/>
          <p:nvPr/>
        </p:nvSpPr>
        <p:spPr>
          <a:xfrm>
            <a:off x="3931920" y="3849624"/>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+0.38</a:t>
            </a:r>
            <a:endParaRPr lang="en-US" sz="1000" dirty="0"/>
          </a:p>
        </p:txBody>
      </p:sp>
      <p:sp>
        <p:nvSpPr>
          <p:cNvPr id="45" name="Shape 43">
            <a:extLst>
              <a:ext uri="{FF2B5EF4-FFF2-40B4-BE49-F238E27FC236}">
                <a16:creationId xmlns:a16="http://schemas.microsoft.com/office/drawing/2014/main" id="{5D1DBF05-FE19-21E8-4A0A-A9D5E8395AB7}"/>
              </a:ext>
            </a:extLst>
          </p:cNvPr>
          <p:cNvSpPr/>
          <p:nvPr/>
        </p:nvSpPr>
        <p:spPr>
          <a:xfrm>
            <a:off x="274320" y="4233672"/>
            <a:ext cx="2057400" cy="329184"/>
          </a:xfrm>
          <a:prstGeom prst="rect">
            <a:avLst/>
          </a:prstGeom>
          <a:solidFill>
            <a:srgbClr val="FFFFFF"/>
          </a:solidFill>
          <a:ln w="12700">
            <a:solidFill>
              <a:srgbClr val="CCCCCC"/>
            </a:solidFill>
            <a:prstDash val="solid"/>
          </a:ln>
        </p:spPr>
        <p:txBody>
          <a:bodyPr/>
          <a:lstStyle/>
          <a:p>
            <a:endParaRPr lang="en-PK"/>
          </a:p>
        </p:txBody>
      </p:sp>
      <p:sp>
        <p:nvSpPr>
          <p:cNvPr id="46" name="Shape 44">
            <a:extLst>
              <a:ext uri="{FF2B5EF4-FFF2-40B4-BE49-F238E27FC236}">
                <a16:creationId xmlns:a16="http://schemas.microsoft.com/office/drawing/2014/main" id="{3CF6C584-E546-5B72-E991-2107AF264738}"/>
              </a:ext>
            </a:extLst>
          </p:cNvPr>
          <p:cNvSpPr/>
          <p:nvPr/>
        </p:nvSpPr>
        <p:spPr>
          <a:xfrm>
            <a:off x="274320" y="4489704"/>
            <a:ext cx="548640" cy="73152"/>
          </a:xfrm>
          <a:prstGeom prst="rect">
            <a:avLst/>
          </a:prstGeom>
          <a:solidFill>
            <a:srgbClr val="010F2F"/>
          </a:solidFill>
          <a:ln w="12700">
            <a:solidFill>
              <a:srgbClr val="000000"/>
            </a:solidFill>
            <a:prstDash val="solid"/>
          </a:ln>
        </p:spPr>
        <p:txBody>
          <a:bodyPr/>
          <a:lstStyle/>
          <a:p>
            <a:endParaRPr lang="en-PK"/>
          </a:p>
        </p:txBody>
      </p:sp>
      <p:sp>
        <p:nvSpPr>
          <p:cNvPr id="47" name="Text 45">
            <a:extLst>
              <a:ext uri="{FF2B5EF4-FFF2-40B4-BE49-F238E27FC236}">
                <a16:creationId xmlns:a16="http://schemas.microsoft.com/office/drawing/2014/main" id="{DD1EEBB7-BF26-9CA0-93B4-59AA53C8BC55}"/>
              </a:ext>
            </a:extLst>
          </p:cNvPr>
          <p:cNvSpPr/>
          <p:nvPr/>
        </p:nvSpPr>
        <p:spPr>
          <a:xfrm>
            <a:off x="347472" y="4233672"/>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GDP_Growth_lag3</a:t>
            </a:r>
            <a:endParaRPr lang="en-US" sz="1000" dirty="0"/>
          </a:p>
        </p:txBody>
      </p:sp>
      <p:sp>
        <p:nvSpPr>
          <p:cNvPr id="48" name="Text 46">
            <a:extLst>
              <a:ext uri="{FF2B5EF4-FFF2-40B4-BE49-F238E27FC236}">
                <a16:creationId xmlns:a16="http://schemas.microsoft.com/office/drawing/2014/main" id="{824F92FE-441D-9050-EFF0-EC57856EAFA6}"/>
              </a:ext>
            </a:extLst>
          </p:cNvPr>
          <p:cNvSpPr/>
          <p:nvPr/>
        </p:nvSpPr>
        <p:spPr>
          <a:xfrm>
            <a:off x="1783080" y="4233672"/>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+0.30</a:t>
            </a:r>
            <a:endParaRPr lang="en-US" sz="1000" dirty="0"/>
          </a:p>
        </p:txBody>
      </p:sp>
      <p:sp>
        <p:nvSpPr>
          <p:cNvPr id="49" name="Shape 47">
            <a:extLst>
              <a:ext uri="{FF2B5EF4-FFF2-40B4-BE49-F238E27FC236}">
                <a16:creationId xmlns:a16="http://schemas.microsoft.com/office/drawing/2014/main" id="{D2B925BB-730C-2B65-09B1-CB5A5BB5A332}"/>
              </a:ext>
            </a:extLst>
          </p:cNvPr>
          <p:cNvSpPr/>
          <p:nvPr/>
        </p:nvSpPr>
        <p:spPr>
          <a:xfrm>
            <a:off x="2423160" y="4233672"/>
            <a:ext cx="2057400" cy="329184"/>
          </a:xfrm>
          <a:prstGeom prst="rect">
            <a:avLst/>
          </a:prstGeom>
          <a:solidFill>
            <a:srgbClr val="FFFFFF"/>
          </a:solidFill>
          <a:ln w="12700">
            <a:solidFill>
              <a:srgbClr val="CCCCCC"/>
            </a:solidFill>
            <a:prstDash val="solid"/>
          </a:ln>
        </p:spPr>
        <p:txBody>
          <a:bodyPr/>
          <a:lstStyle/>
          <a:p>
            <a:endParaRPr lang="en-PK"/>
          </a:p>
        </p:txBody>
      </p:sp>
      <p:sp>
        <p:nvSpPr>
          <p:cNvPr id="50" name="Shape 48">
            <a:extLst>
              <a:ext uri="{FF2B5EF4-FFF2-40B4-BE49-F238E27FC236}">
                <a16:creationId xmlns:a16="http://schemas.microsoft.com/office/drawing/2014/main" id="{BE95F8F1-1149-0BEF-8DE2-508D9F4440FF}"/>
              </a:ext>
            </a:extLst>
          </p:cNvPr>
          <p:cNvSpPr/>
          <p:nvPr/>
        </p:nvSpPr>
        <p:spPr>
          <a:xfrm>
            <a:off x="2423160" y="4489704"/>
            <a:ext cx="493776" cy="73152"/>
          </a:xfrm>
          <a:prstGeom prst="rect">
            <a:avLst/>
          </a:prstGeom>
          <a:solidFill>
            <a:srgbClr val="010F2F"/>
          </a:solidFill>
          <a:ln w="12700">
            <a:solidFill>
              <a:srgbClr val="000000"/>
            </a:solidFill>
            <a:prstDash val="solid"/>
          </a:ln>
        </p:spPr>
        <p:txBody>
          <a:bodyPr/>
          <a:lstStyle/>
          <a:p>
            <a:endParaRPr lang="en-PK"/>
          </a:p>
        </p:txBody>
      </p:sp>
      <p:sp>
        <p:nvSpPr>
          <p:cNvPr id="51" name="Text 49">
            <a:extLst>
              <a:ext uri="{FF2B5EF4-FFF2-40B4-BE49-F238E27FC236}">
                <a16:creationId xmlns:a16="http://schemas.microsoft.com/office/drawing/2014/main" id="{3F246EFD-07E2-654A-AA17-57735288E748}"/>
              </a:ext>
            </a:extLst>
          </p:cNvPr>
          <p:cNvSpPr/>
          <p:nvPr/>
        </p:nvSpPr>
        <p:spPr>
          <a:xfrm>
            <a:off x="2496312" y="4233672"/>
            <a:ext cx="1371600" cy="292608"/>
          </a:xfrm>
          <a:prstGeom prst="rect">
            <a:avLst/>
          </a:prstGeom>
          <a:noFill/>
          <a:ln/>
        </p:spPr>
        <p:txBody>
          <a:bodyPr wrap="square" rtlCol="0" anchor="ctr"/>
          <a:lstStyle/>
          <a:p>
            <a:pPr marL="0" indent="0">
              <a:buNone/>
            </a:pPr>
            <a:r>
              <a:rPr lang="en-US" sz="1000" dirty="0">
                <a:solidFill>
                  <a:srgbClr val="000000"/>
                </a:solidFill>
                <a:latin typeface="Calibri" pitchFamily="34" charset="0"/>
                <a:ea typeface="Calibri" pitchFamily="34" charset="-122"/>
                <a:cs typeface="Calibri" pitchFamily="34" charset="-120"/>
              </a:rPr>
              <a:t>GDP_Growth_lag2</a:t>
            </a:r>
            <a:endParaRPr lang="en-US" sz="1000" dirty="0"/>
          </a:p>
        </p:txBody>
      </p:sp>
      <p:sp>
        <p:nvSpPr>
          <p:cNvPr id="52" name="Text 50">
            <a:extLst>
              <a:ext uri="{FF2B5EF4-FFF2-40B4-BE49-F238E27FC236}">
                <a16:creationId xmlns:a16="http://schemas.microsoft.com/office/drawing/2014/main" id="{0D4249CE-0CCD-394C-D1A2-2293170917B5}"/>
              </a:ext>
            </a:extLst>
          </p:cNvPr>
          <p:cNvSpPr/>
          <p:nvPr/>
        </p:nvSpPr>
        <p:spPr>
          <a:xfrm>
            <a:off x="3931920" y="4233672"/>
            <a:ext cx="502920" cy="292608"/>
          </a:xfrm>
          <a:prstGeom prst="rect">
            <a:avLst/>
          </a:prstGeom>
          <a:noFill/>
          <a:ln/>
        </p:spPr>
        <p:txBody>
          <a:bodyPr wrap="square" rtlCol="0" anchor="ctr"/>
          <a:lstStyle/>
          <a:p>
            <a:pPr marL="0" indent="0" algn="r">
              <a:buNone/>
            </a:pPr>
            <a:r>
              <a:rPr lang="en-US" sz="1000" b="1" dirty="0">
                <a:solidFill>
                  <a:srgbClr val="000000"/>
                </a:solidFill>
                <a:latin typeface="Calibri" pitchFamily="34" charset="0"/>
                <a:ea typeface="Calibri" pitchFamily="34" charset="-122"/>
                <a:cs typeface="Calibri" pitchFamily="34" charset="-120"/>
              </a:rPr>
              <a:t>+0.27</a:t>
            </a:r>
            <a:endParaRPr lang="en-US" sz="1000" dirty="0"/>
          </a:p>
        </p:txBody>
      </p:sp>
      <p:sp>
        <p:nvSpPr>
          <p:cNvPr id="57" name="Shape 55">
            <a:extLst>
              <a:ext uri="{FF2B5EF4-FFF2-40B4-BE49-F238E27FC236}">
                <a16:creationId xmlns:a16="http://schemas.microsoft.com/office/drawing/2014/main" id="{226B2392-827B-8153-DAE6-47916A7BC7C0}"/>
              </a:ext>
            </a:extLst>
          </p:cNvPr>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58" name="Text 56">
            <a:extLst>
              <a:ext uri="{FF2B5EF4-FFF2-40B4-BE49-F238E27FC236}">
                <a16:creationId xmlns:a16="http://schemas.microsoft.com/office/drawing/2014/main" id="{07F0F7AA-0B20-5B17-AAB0-1E5D619DC2E0}"/>
              </a:ext>
            </a:extLst>
          </p:cNvPr>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Feature engineering raised max correlation from 0.20 → 0.45. GDP growth predicts itself (autocorrelation) — the key insight.</a:t>
            </a:r>
            <a:endParaRPr lang="en-US" sz="1000" dirty="0"/>
          </a:p>
        </p:txBody>
      </p:sp>
      <p:pic>
        <p:nvPicPr>
          <p:cNvPr id="53" name="Picture 52">
            <a:extLst>
              <a:ext uri="{FF2B5EF4-FFF2-40B4-BE49-F238E27FC236}">
                <a16:creationId xmlns:a16="http://schemas.microsoft.com/office/drawing/2014/main" id="{146348D0-5838-FB9F-7A5D-CDA6BC6C95B1}"/>
              </a:ext>
            </a:extLst>
          </p:cNvPr>
          <p:cNvPicPr>
            <a:picLocks noChangeAspect="1"/>
          </p:cNvPicPr>
          <p:nvPr/>
        </p:nvPicPr>
        <p:blipFill>
          <a:blip r:embed="rId3"/>
          <a:stretch>
            <a:fillRect/>
          </a:stretch>
        </p:blipFill>
        <p:spPr>
          <a:xfrm>
            <a:off x="4723625" y="1014984"/>
            <a:ext cx="4177314" cy="3721608"/>
          </a:xfrm>
          <a:prstGeom prst="rect">
            <a:avLst/>
          </a:prstGeom>
        </p:spPr>
      </p:pic>
    </p:spTree>
    <p:extLst>
      <p:ext uri="{BB962C8B-B14F-4D97-AF65-F5344CB8AC3E}">
        <p14:creationId xmlns:p14="http://schemas.microsoft.com/office/powerpoint/2010/main" val="2287748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Three Models — How They Work</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From simple linear to complex ensemble</a:t>
            </a:r>
            <a:endParaRPr lang="en-US" sz="1000" dirty="0"/>
          </a:p>
        </p:txBody>
      </p:sp>
      <p:sp>
        <p:nvSpPr>
          <p:cNvPr id="6" name="Shape 4"/>
          <p:cNvSpPr/>
          <p:nvPr/>
        </p:nvSpPr>
        <p:spPr>
          <a:xfrm>
            <a:off x="274320" y="1115568"/>
            <a:ext cx="4297680" cy="1170432"/>
          </a:xfrm>
          <a:prstGeom prst="rect">
            <a:avLst/>
          </a:prstGeom>
          <a:solidFill>
            <a:srgbClr val="FFFFFF"/>
          </a:solidFill>
          <a:ln w="12700">
            <a:solidFill>
              <a:srgbClr val="CCCCCC"/>
            </a:solidFill>
            <a:prstDash val="solid"/>
          </a:ln>
        </p:spPr>
        <p:txBody>
          <a:bodyPr/>
          <a:lstStyle/>
          <a:p>
            <a:endParaRPr lang="en-PK"/>
          </a:p>
        </p:txBody>
      </p:sp>
      <p:sp>
        <p:nvSpPr>
          <p:cNvPr id="7" name="Shape 5"/>
          <p:cNvSpPr/>
          <p:nvPr/>
        </p:nvSpPr>
        <p:spPr>
          <a:xfrm>
            <a:off x="274320" y="1115568"/>
            <a:ext cx="54864" cy="1170432"/>
          </a:xfrm>
          <a:prstGeom prst="rect">
            <a:avLst/>
          </a:prstGeom>
          <a:solidFill>
            <a:srgbClr val="010F2F"/>
          </a:solidFill>
          <a:ln w="12700">
            <a:solidFill>
              <a:srgbClr val="000000"/>
            </a:solidFill>
            <a:prstDash val="solid"/>
          </a:ln>
        </p:spPr>
        <p:txBody>
          <a:bodyPr/>
          <a:lstStyle/>
          <a:p>
            <a:endParaRPr lang="en-PK"/>
          </a:p>
        </p:txBody>
      </p:sp>
      <p:sp>
        <p:nvSpPr>
          <p:cNvPr id="8" name="Shape 6"/>
          <p:cNvSpPr/>
          <p:nvPr/>
        </p:nvSpPr>
        <p:spPr>
          <a:xfrm>
            <a:off x="384048" y="1188720"/>
            <a:ext cx="347472" cy="347472"/>
          </a:xfrm>
          <a:prstGeom prst="ellipse">
            <a:avLst/>
          </a:prstGeom>
          <a:solidFill>
            <a:srgbClr val="010F2F"/>
          </a:solidFill>
          <a:ln w="12700">
            <a:solidFill>
              <a:srgbClr val="000000"/>
            </a:solidFill>
            <a:prstDash val="solid"/>
          </a:ln>
        </p:spPr>
        <p:txBody>
          <a:bodyPr/>
          <a:lstStyle/>
          <a:p>
            <a:endParaRPr lang="en-PK"/>
          </a:p>
        </p:txBody>
      </p:sp>
      <p:sp>
        <p:nvSpPr>
          <p:cNvPr id="9" name="Text 7"/>
          <p:cNvSpPr/>
          <p:nvPr/>
        </p:nvSpPr>
        <p:spPr>
          <a:xfrm>
            <a:off x="384048" y="118872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0" name="Text 8"/>
          <p:cNvSpPr/>
          <p:nvPr/>
        </p:nvSpPr>
        <p:spPr>
          <a:xfrm>
            <a:off x="822960" y="1170432"/>
            <a:ext cx="1691640" cy="310896"/>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Ridge Regression</a:t>
            </a:r>
            <a:endParaRPr lang="en-US" sz="1200" dirty="0"/>
          </a:p>
        </p:txBody>
      </p:sp>
      <p:sp>
        <p:nvSpPr>
          <p:cNvPr id="11" name="Text 9"/>
          <p:cNvSpPr/>
          <p:nvPr/>
        </p:nvSpPr>
        <p:spPr>
          <a:xfrm>
            <a:off x="822960" y="1481328"/>
            <a:ext cx="1691640" cy="201168"/>
          </a:xfrm>
          <a:prstGeom prst="rect">
            <a:avLst/>
          </a:prstGeom>
          <a:noFill/>
          <a:ln/>
        </p:spPr>
        <p:txBody>
          <a:bodyPr wrap="square"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Linear Baseline</a:t>
            </a:r>
            <a:endParaRPr lang="en-US" sz="900" dirty="0"/>
          </a:p>
        </p:txBody>
      </p:sp>
      <p:sp>
        <p:nvSpPr>
          <p:cNvPr id="12" name="Shape 10"/>
          <p:cNvSpPr/>
          <p:nvPr/>
        </p:nvSpPr>
        <p:spPr>
          <a:xfrm>
            <a:off x="822960" y="1709928"/>
            <a:ext cx="713232" cy="182880"/>
          </a:xfrm>
          <a:prstGeom prst="rect">
            <a:avLst/>
          </a:prstGeom>
          <a:solidFill>
            <a:srgbClr val="010F2F"/>
          </a:solidFill>
          <a:ln w="12700">
            <a:solidFill>
              <a:srgbClr val="000000"/>
            </a:solidFill>
            <a:prstDash val="solid"/>
          </a:ln>
        </p:spPr>
        <p:txBody>
          <a:bodyPr/>
          <a:lstStyle/>
          <a:p>
            <a:endParaRPr lang="en-PK"/>
          </a:p>
        </p:txBody>
      </p:sp>
      <p:sp>
        <p:nvSpPr>
          <p:cNvPr id="13" name="Text 11"/>
          <p:cNvSpPr/>
          <p:nvPr/>
        </p:nvSpPr>
        <p:spPr>
          <a:xfrm>
            <a:off x="822960" y="1709928"/>
            <a:ext cx="713232"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 WINNER</a:t>
            </a:r>
            <a:endParaRPr lang="en-US" sz="700" dirty="0"/>
          </a:p>
        </p:txBody>
      </p:sp>
      <p:sp>
        <p:nvSpPr>
          <p:cNvPr id="14" name="Shape 12"/>
          <p:cNvSpPr/>
          <p:nvPr/>
        </p:nvSpPr>
        <p:spPr>
          <a:xfrm>
            <a:off x="2633472" y="1188720"/>
            <a:ext cx="0" cy="1024128"/>
          </a:xfrm>
          <a:prstGeom prst="line">
            <a:avLst/>
          </a:prstGeom>
          <a:noFill/>
          <a:ln w="12700">
            <a:solidFill>
              <a:srgbClr val="CCCCCC"/>
            </a:solidFill>
            <a:prstDash val="solid"/>
          </a:ln>
        </p:spPr>
        <p:txBody>
          <a:bodyPr/>
          <a:lstStyle/>
          <a:p>
            <a:endParaRPr lang="en-PK"/>
          </a:p>
        </p:txBody>
      </p:sp>
      <p:sp>
        <p:nvSpPr>
          <p:cNvPr id="15" name="Text 13"/>
          <p:cNvSpPr/>
          <p:nvPr/>
        </p:nvSpPr>
        <p:spPr>
          <a:xfrm>
            <a:off x="2743200" y="1113376"/>
            <a:ext cx="1755648" cy="73152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Best straight line through data with L2 penalty. Prevents any single feature dominating. Handles correlated features well.</a:t>
            </a:r>
            <a:endParaRPr lang="en-US" sz="1000" dirty="0"/>
          </a:p>
        </p:txBody>
      </p:sp>
      <p:sp>
        <p:nvSpPr>
          <p:cNvPr id="16" name="Shape 14"/>
          <p:cNvSpPr/>
          <p:nvPr/>
        </p:nvSpPr>
        <p:spPr>
          <a:xfrm>
            <a:off x="2743200" y="1956816"/>
            <a:ext cx="1755648" cy="256032"/>
          </a:xfrm>
          <a:prstGeom prst="rect">
            <a:avLst/>
          </a:prstGeom>
          <a:solidFill>
            <a:srgbClr val="F5F5F5"/>
          </a:solidFill>
          <a:ln w="6350">
            <a:solidFill>
              <a:srgbClr val="CCCCCC"/>
            </a:solidFill>
            <a:prstDash val="solid"/>
          </a:ln>
        </p:spPr>
        <p:txBody>
          <a:bodyPr/>
          <a:lstStyle/>
          <a:p>
            <a:endParaRPr lang="en-PK"/>
          </a:p>
        </p:txBody>
      </p:sp>
      <p:sp>
        <p:nvSpPr>
          <p:cNvPr id="17" name="Text 15"/>
          <p:cNvSpPr/>
          <p:nvPr/>
        </p:nvSpPr>
        <p:spPr>
          <a:xfrm>
            <a:off x="2752345" y="1969890"/>
            <a:ext cx="1682496" cy="256032"/>
          </a:xfrm>
          <a:prstGeom prst="rect">
            <a:avLst/>
          </a:prstGeom>
          <a:noFill/>
          <a:ln/>
        </p:spPr>
        <p:txBody>
          <a:bodyPr wrap="square" rtlCol="0" anchor="ctr"/>
          <a:lstStyle/>
          <a:p>
            <a:pPr marL="0" indent="0">
              <a:buNone/>
            </a:pPr>
            <a:r>
              <a:rPr lang="en-US" sz="950" b="1" dirty="0">
                <a:solidFill>
                  <a:srgbClr val="000000"/>
                </a:solidFill>
                <a:latin typeface="Calibri" pitchFamily="34" charset="0"/>
                <a:ea typeface="Calibri" pitchFamily="34" charset="-122"/>
                <a:cs typeface="Calibri" pitchFamily="34" charset="-120"/>
              </a:rPr>
              <a:t>R² = 0.350  |  RMSE = 2.451  |  MAE = 1.643</a:t>
            </a:r>
            <a:endParaRPr lang="en-US" sz="950" dirty="0"/>
          </a:p>
        </p:txBody>
      </p:sp>
      <p:sp>
        <p:nvSpPr>
          <p:cNvPr id="18" name="Shape 16"/>
          <p:cNvSpPr/>
          <p:nvPr/>
        </p:nvSpPr>
        <p:spPr>
          <a:xfrm>
            <a:off x="274320" y="2350008"/>
            <a:ext cx="4297680" cy="1170432"/>
          </a:xfrm>
          <a:prstGeom prst="rect">
            <a:avLst/>
          </a:prstGeom>
          <a:solidFill>
            <a:srgbClr val="FFFFFF"/>
          </a:solidFill>
          <a:ln w="12700">
            <a:solidFill>
              <a:srgbClr val="CCCCCC"/>
            </a:solidFill>
            <a:prstDash val="solid"/>
          </a:ln>
        </p:spPr>
        <p:txBody>
          <a:bodyPr/>
          <a:lstStyle/>
          <a:p>
            <a:endParaRPr lang="en-PK"/>
          </a:p>
        </p:txBody>
      </p:sp>
      <p:sp>
        <p:nvSpPr>
          <p:cNvPr id="19" name="Shape 17"/>
          <p:cNvSpPr/>
          <p:nvPr/>
        </p:nvSpPr>
        <p:spPr>
          <a:xfrm>
            <a:off x="274320" y="2350008"/>
            <a:ext cx="54864" cy="1170432"/>
          </a:xfrm>
          <a:prstGeom prst="rect">
            <a:avLst/>
          </a:prstGeom>
          <a:solidFill>
            <a:srgbClr val="010F2F"/>
          </a:solidFill>
          <a:ln w="12700">
            <a:solidFill>
              <a:srgbClr val="000000"/>
            </a:solidFill>
            <a:prstDash val="solid"/>
          </a:ln>
        </p:spPr>
        <p:txBody>
          <a:bodyPr/>
          <a:lstStyle/>
          <a:p>
            <a:endParaRPr lang="en-PK"/>
          </a:p>
        </p:txBody>
      </p:sp>
      <p:sp>
        <p:nvSpPr>
          <p:cNvPr id="20" name="Shape 18"/>
          <p:cNvSpPr/>
          <p:nvPr/>
        </p:nvSpPr>
        <p:spPr>
          <a:xfrm>
            <a:off x="384048" y="2423160"/>
            <a:ext cx="347472" cy="347472"/>
          </a:xfrm>
          <a:prstGeom prst="ellipse">
            <a:avLst/>
          </a:prstGeom>
          <a:solidFill>
            <a:srgbClr val="010F2F"/>
          </a:solidFill>
          <a:ln w="12700">
            <a:solidFill>
              <a:srgbClr val="000000"/>
            </a:solidFill>
            <a:prstDash val="solid"/>
          </a:ln>
        </p:spPr>
        <p:txBody>
          <a:bodyPr/>
          <a:lstStyle/>
          <a:p>
            <a:endParaRPr lang="en-PK"/>
          </a:p>
        </p:txBody>
      </p:sp>
      <p:sp>
        <p:nvSpPr>
          <p:cNvPr id="21" name="Text 19"/>
          <p:cNvSpPr/>
          <p:nvPr/>
        </p:nvSpPr>
        <p:spPr>
          <a:xfrm>
            <a:off x="384048" y="242316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22" name="Text 20"/>
          <p:cNvSpPr/>
          <p:nvPr/>
        </p:nvSpPr>
        <p:spPr>
          <a:xfrm>
            <a:off x="822960" y="2404872"/>
            <a:ext cx="1691640" cy="310896"/>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Random Forest</a:t>
            </a:r>
            <a:endParaRPr lang="en-US" sz="1200" dirty="0"/>
          </a:p>
        </p:txBody>
      </p:sp>
      <p:sp>
        <p:nvSpPr>
          <p:cNvPr id="23" name="Text 21"/>
          <p:cNvSpPr/>
          <p:nvPr/>
        </p:nvSpPr>
        <p:spPr>
          <a:xfrm>
            <a:off x="822960" y="2715768"/>
            <a:ext cx="1691640" cy="201168"/>
          </a:xfrm>
          <a:prstGeom prst="rect">
            <a:avLst/>
          </a:prstGeom>
          <a:noFill/>
          <a:ln/>
        </p:spPr>
        <p:txBody>
          <a:bodyPr wrap="square"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Parallel Ensemble</a:t>
            </a:r>
            <a:endParaRPr lang="en-US" sz="900" dirty="0"/>
          </a:p>
        </p:txBody>
      </p:sp>
      <p:sp>
        <p:nvSpPr>
          <p:cNvPr id="24" name="Shape 22"/>
          <p:cNvSpPr/>
          <p:nvPr/>
        </p:nvSpPr>
        <p:spPr>
          <a:xfrm>
            <a:off x="2633472" y="2423160"/>
            <a:ext cx="0" cy="1024128"/>
          </a:xfrm>
          <a:prstGeom prst="line">
            <a:avLst/>
          </a:prstGeom>
          <a:noFill/>
          <a:ln w="12700">
            <a:solidFill>
              <a:srgbClr val="CCCCCC"/>
            </a:solidFill>
            <a:prstDash val="solid"/>
          </a:ln>
        </p:spPr>
        <p:txBody>
          <a:bodyPr/>
          <a:lstStyle/>
          <a:p>
            <a:endParaRPr lang="en-PK"/>
          </a:p>
        </p:txBody>
      </p:sp>
      <p:sp>
        <p:nvSpPr>
          <p:cNvPr id="25" name="Text 23"/>
          <p:cNvSpPr/>
          <p:nvPr/>
        </p:nvSpPr>
        <p:spPr>
          <a:xfrm>
            <a:off x="2743200" y="2322576"/>
            <a:ext cx="1755648" cy="73152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Builds hundreds of trees independently on random data subsets. Final answer = average of all trees. Captures non-linear patterns.</a:t>
            </a:r>
          </a:p>
          <a:p>
            <a:pPr marL="0" indent="0">
              <a:buNone/>
            </a:pPr>
            <a:endParaRPr lang="en-US" sz="1000" dirty="0"/>
          </a:p>
        </p:txBody>
      </p:sp>
      <p:sp>
        <p:nvSpPr>
          <p:cNvPr id="26" name="Shape 24"/>
          <p:cNvSpPr/>
          <p:nvPr/>
        </p:nvSpPr>
        <p:spPr>
          <a:xfrm>
            <a:off x="2743200" y="3191256"/>
            <a:ext cx="1755648" cy="256032"/>
          </a:xfrm>
          <a:prstGeom prst="rect">
            <a:avLst/>
          </a:prstGeom>
          <a:solidFill>
            <a:srgbClr val="F5F5F5"/>
          </a:solidFill>
          <a:ln w="6350">
            <a:solidFill>
              <a:srgbClr val="CCCCCC"/>
            </a:solidFill>
            <a:prstDash val="solid"/>
          </a:ln>
        </p:spPr>
        <p:txBody>
          <a:bodyPr/>
          <a:lstStyle/>
          <a:p>
            <a:endParaRPr lang="en-PK"/>
          </a:p>
        </p:txBody>
      </p:sp>
      <p:sp>
        <p:nvSpPr>
          <p:cNvPr id="27" name="Text 25"/>
          <p:cNvSpPr/>
          <p:nvPr/>
        </p:nvSpPr>
        <p:spPr>
          <a:xfrm>
            <a:off x="2743200" y="3193448"/>
            <a:ext cx="1682496" cy="256032"/>
          </a:xfrm>
          <a:prstGeom prst="rect">
            <a:avLst/>
          </a:prstGeom>
          <a:noFill/>
          <a:ln/>
        </p:spPr>
        <p:txBody>
          <a:bodyPr wrap="square" rtlCol="0" anchor="ctr"/>
          <a:lstStyle/>
          <a:p>
            <a:pPr marL="0" indent="0">
              <a:buNone/>
            </a:pPr>
            <a:r>
              <a:rPr lang="en-US" sz="950" b="1" dirty="0">
                <a:solidFill>
                  <a:srgbClr val="000000"/>
                </a:solidFill>
                <a:latin typeface="Calibri" pitchFamily="34" charset="0"/>
                <a:ea typeface="Calibri" pitchFamily="34" charset="-122"/>
                <a:cs typeface="Calibri" pitchFamily="34" charset="-120"/>
              </a:rPr>
              <a:t>R² = 0.301  |  RMSE = 2.541  |  MAE = 1.709</a:t>
            </a:r>
            <a:endParaRPr lang="en-US" sz="950" dirty="0"/>
          </a:p>
        </p:txBody>
      </p:sp>
      <p:sp>
        <p:nvSpPr>
          <p:cNvPr id="28" name="Shape 26"/>
          <p:cNvSpPr/>
          <p:nvPr/>
        </p:nvSpPr>
        <p:spPr>
          <a:xfrm>
            <a:off x="274320" y="3584448"/>
            <a:ext cx="4297680" cy="1170432"/>
          </a:xfrm>
          <a:prstGeom prst="rect">
            <a:avLst/>
          </a:prstGeom>
          <a:solidFill>
            <a:srgbClr val="FFFFFF"/>
          </a:solidFill>
          <a:ln w="12700">
            <a:solidFill>
              <a:srgbClr val="CCCCCC"/>
            </a:solidFill>
            <a:prstDash val="solid"/>
          </a:ln>
        </p:spPr>
        <p:txBody>
          <a:bodyPr/>
          <a:lstStyle/>
          <a:p>
            <a:endParaRPr lang="en-PK"/>
          </a:p>
        </p:txBody>
      </p:sp>
      <p:sp>
        <p:nvSpPr>
          <p:cNvPr id="29" name="Shape 27"/>
          <p:cNvSpPr/>
          <p:nvPr/>
        </p:nvSpPr>
        <p:spPr>
          <a:xfrm>
            <a:off x="274320" y="3584448"/>
            <a:ext cx="54864" cy="1170432"/>
          </a:xfrm>
          <a:prstGeom prst="rect">
            <a:avLst/>
          </a:prstGeom>
          <a:solidFill>
            <a:srgbClr val="010F2F"/>
          </a:solidFill>
          <a:ln w="12700">
            <a:solidFill>
              <a:srgbClr val="000000"/>
            </a:solidFill>
            <a:prstDash val="solid"/>
          </a:ln>
        </p:spPr>
        <p:txBody>
          <a:bodyPr/>
          <a:lstStyle/>
          <a:p>
            <a:endParaRPr lang="en-PK"/>
          </a:p>
        </p:txBody>
      </p:sp>
      <p:sp>
        <p:nvSpPr>
          <p:cNvPr id="30" name="Shape 28"/>
          <p:cNvSpPr/>
          <p:nvPr/>
        </p:nvSpPr>
        <p:spPr>
          <a:xfrm>
            <a:off x="384048" y="3657600"/>
            <a:ext cx="347472" cy="347472"/>
          </a:xfrm>
          <a:prstGeom prst="ellipse">
            <a:avLst/>
          </a:prstGeom>
          <a:solidFill>
            <a:srgbClr val="010F2F"/>
          </a:solidFill>
          <a:ln w="12700">
            <a:solidFill>
              <a:srgbClr val="000000"/>
            </a:solidFill>
            <a:prstDash val="solid"/>
          </a:ln>
        </p:spPr>
        <p:txBody>
          <a:bodyPr/>
          <a:lstStyle/>
          <a:p>
            <a:endParaRPr lang="en-PK"/>
          </a:p>
        </p:txBody>
      </p:sp>
      <p:sp>
        <p:nvSpPr>
          <p:cNvPr id="31" name="Text 29"/>
          <p:cNvSpPr/>
          <p:nvPr/>
        </p:nvSpPr>
        <p:spPr>
          <a:xfrm>
            <a:off x="384048" y="365760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32" name="Text 30"/>
          <p:cNvSpPr/>
          <p:nvPr/>
        </p:nvSpPr>
        <p:spPr>
          <a:xfrm>
            <a:off x="822960" y="3639312"/>
            <a:ext cx="1691640" cy="310896"/>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Gradient Boosting</a:t>
            </a:r>
            <a:endParaRPr lang="en-US" sz="1200" dirty="0"/>
          </a:p>
        </p:txBody>
      </p:sp>
      <p:sp>
        <p:nvSpPr>
          <p:cNvPr id="33" name="Text 31"/>
          <p:cNvSpPr/>
          <p:nvPr/>
        </p:nvSpPr>
        <p:spPr>
          <a:xfrm>
            <a:off x="822960" y="3950208"/>
            <a:ext cx="1691640" cy="201168"/>
          </a:xfrm>
          <a:prstGeom prst="rect">
            <a:avLst/>
          </a:prstGeom>
          <a:noFill/>
          <a:ln/>
        </p:spPr>
        <p:txBody>
          <a:bodyPr wrap="square" rtlCol="0" anchor="ctr"/>
          <a:lstStyle/>
          <a:p>
            <a:pPr marL="0" indent="0">
              <a:buNone/>
            </a:pPr>
            <a:r>
              <a:rPr lang="en-US" sz="900" i="1" dirty="0">
                <a:solidFill>
                  <a:srgbClr val="555555"/>
                </a:solidFill>
                <a:latin typeface="Calibri" pitchFamily="34" charset="0"/>
                <a:ea typeface="Calibri" pitchFamily="34" charset="-122"/>
                <a:cs typeface="Calibri" pitchFamily="34" charset="-120"/>
              </a:rPr>
              <a:t>Sequential Ensemble</a:t>
            </a:r>
            <a:endParaRPr lang="en-US" sz="900" dirty="0"/>
          </a:p>
        </p:txBody>
      </p:sp>
      <p:sp>
        <p:nvSpPr>
          <p:cNvPr id="34" name="Shape 32"/>
          <p:cNvSpPr/>
          <p:nvPr/>
        </p:nvSpPr>
        <p:spPr>
          <a:xfrm>
            <a:off x="2633472" y="3657600"/>
            <a:ext cx="0" cy="1024128"/>
          </a:xfrm>
          <a:prstGeom prst="line">
            <a:avLst/>
          </a:prstGeom>
          <a:noFill/>
          <a:ln w="12700">
            <a:solidFill>
              <a:srgbClr val="CCCCCC"/>
            </a:solidFill>
            <a:prstDash val="solid"/>
          </a:ln>
        </p:spPr>
        <p:txBody>
          <a:bodyPr/>
          <a:lstStyle/>
          <a:p>
            <a:endParaRPr lang="en-PK"/>
          </a:p>
        </p:txBody>
      </p:sp>
      <p:sp>
        <p:nvSpPr>
          <p:cNvPr id="35" name="Text 33"/>
          <p:cNvSpPr/>
          <p:nvPr/>
        </p:nvSpPr>
        <p:spPr>
          <a:xfrm>
            <a:off x="2670048" y="3584448"/>
            <a:ext cx="1755648" cy="73152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Builds trees one by one each new tree corrects errors of the previous. More powerful but prone to overfitting.</a:t>
            </a:r>
            <a:endParaRPr lang="en-US" sz="1000" dirty="0"/>
          </a:p>
        </p:txBody>
      </p:sp>
      <p:sp>
        <p:nvSpPr>
          <p:cNvPr id="36" name="Shape 34"/>
          <p:cNvSpPr/>
          <p:nvPr/>
        </p:nvSpPr>
        <p:spPr>
          <a:xfrm>
            <a:off x="2743200" y="4425696"/>
            <a:ext cx="1755648" cy="256032"/>
          </a:xfrm>
          <a:prstGeom prst="rect">
            <a:avLst/>
          </a:prstGeom>
          <a:solidFill>
            <a:srgbClr val="F5F5F5"/>
          </a:solidFill>
          <a:ln w="6350">
            <a:solidFill>
              <a:srgbClr val="CCCCCC"/>
            </a:solidFill>
            <a:prstDash val="solid"/>
          </a:ln>
        </p:spPr>
        <p:txBody>
          <a:bodyPr/>
          <a:lstStyle/>
          <a:p>
            <a:endParaRPr lang="en-PK"/>
          </a:p>
        </p:txBody>
      </p:sp>
      <p:sp>
        <p:nvSpPr>
          <p:cNvPr id="37" name="Text 35"/>
          <p:cNvSpPr/>
          <p:nvPr/>
        </p:nvSpPr>
        <p:spPr>
          <a:xfrm>
            <a:off x="2706624" y="4407408"/>
            <a:ext cx="1682496" cy="256032"/>
          </a:xfrm>
          <a:prstGeom prst="rect">
            <a:avLst/>
          </a:prstGeom>
          <a:noFill/>
          <a:ln/>
        </p:spPr>
        <p:txBody>
          <a:bodyPr wrap="square" rtlCol="0" anchor="ctr"/>
          <a:lstStyle/>
          <a:p>
            <a:pPr marL="0" indent="0">
              <a:buNone/>
            </a:pPr>
            <a:r>
              <a:rPr lang="en-US" sz="950" b="1" dirty="0">
                <a:solidFill>
                  <a:srgbClr val="000000"/>
                </a:solidFill>
                <a:latin typeface="Calibri" pitchFamily="34" charset="0"/>
                <a:ea typeface="Calibri" pitchFamily="34" charset="-122"/>
                <a:cs typeface="Calibri" pitchFamily="34" charset="-120"/>
              </a:rPr>
              <a:t>R² = 0.256  |  RMSE = 2.622  |  MAE = 1.726</a:t>
            </a:r>
            <a:endParaRPr lang="en-US" sz="950" dirty="0"/>
          </a:p>
        </p:txBody>
      </p:sp>
      <p:sp>
        <p:nvSpPr>
          <p:cNvPr id="39" name="Text 37"/>
          <p:cNvSpPr/>
          <p:nvPr/>
        </p:nvSpPr>
        <p:spPr>
          <a:xfrm>
            <a:off x="4937760" y="2761488"/>
            <a:ext cx="3931920" cy="548640"/>
          </a:xfrm>
          <a:prstGeom prst="rect">
            <a:avLst/>
          </a:prstGeom>
          <a:noFill/>
          <a:ln/>
        </p:spPr>
        <p:txBody>
          <a:bodyPr wrap="square" rtlCol="0" anchor="ctr"/>
          <a:lstStyle/>
          <a:p>
            <a:pPr marL="0" indent="0" algn="ctr">
              <a:buNone/>
            </a:pPr>
            <a:endParaRPr lang="en-US" sz="1100" dirty="0"/>
          </a:p>
        </p:txBody>
      </p:sp>
      <p:sp>
        <p:nvSpPr>
          <p:cNvPr id="40" name="Shape 38"/>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41" name="Text 39"/>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All 3 models beat the DummyRegressor baseline (R² = -0.064) — confirming genuine learning from the data</a:t>
            </a:r>
            <a:endParaRPr lang="en-US" sz="1000" dirty="0"/>
          </a:p>
        </p:txBody>
      </p:sp>
      <p:pic>
        <p:nvPicPr>
          <p:cNvPr id="42" name="Picture 41">
            <a:extLst>
              <a:ext uri="{FF2B5EF4-FFF2-40B4-BE49-F238E27FC236}">
                <a16:creationId xmlns:a16="http://schemas.microsoft.com/office/drawing/2014/main" id="{4B650008-EF76-5D6C-C3A6-BFC56F657845}"/>
              </a:ext>
            </a:extLst>
          </p:cNvPr>
          <p:cNvPicPr>
            <a:picLocks noChangeAspect="1"/>
          </p:cNvPicPr>
          <p:nvPr/>
        </p:nvPicPr>
        <p:blipFill>
          <a:blip r:embed="rId3"/>
          <a:stretch>
            <a:fillRect/>
          </a:stretch>
        </p:blipFill>
        <p:spPr>
          <a:xfrm>
            <a:off x="5986351" y="788693"/>
            <a:ext cx="3066209" cy="1494997"/>
          </a:xfrm>
          <a:prstGeom prst="rect">
            <a:avLst/>
          </a:prstGeom>
        </p:spPr>
      </p:pic>
      <p:pic>
        <p:nvPicPr>
          <p:cNvPr id="46" name="Picture 45">
            <a:extLst>
              <a:ext uri="{FF2B5EF4-FFF2-40B4-BE49-F238E27FC236}">
                <a16:creationId xmlns:a16="http://schemas.microsoft.com/office/drawing/2014/main" id="{1CF98837-8757-0993-1CF1-82D826307F65}"/>
              </a:ext>
            </a:extLst>
          </p:cNvPr>
          <p:cNvPicPr>
            <a:picLocks noChangeAspect="1"/>
          </p:cNvPicPr>
          <p:nvPr/>
        </p:nvPicPr>
        <p:blipFill>
          <a:blip r:embed="rId4"/>
          <a:stretch>
            <a:fillRect/>
          </a:stretch>
        </p:blipFill>
        <p:spPr>
          <a:xfrm>
            <a:off x="4608575" y="2286000"/>
            <a:ext cx="3066210" cy="1495142"/>
          </a:xfrm>
          <a:prstGeom prst="rect">
            <a:avLst/>
          </a:prstGeom>
        </p:spPr>
      </p:pic>
      <p:pic>
        <p:nvPicPr>
          <p:cNvPr id="47" name="Picture 46">
            <a:extLst>
              <a:ext uri="{FF2B5EF4-FFF2-40B4-BE49-F238E27FC236}">
                <a16:creationId xmlns:a16="http://schemas.microsoft.com/office/drawing/2014/main" id="{52242459-0582-DA91-B17B-6EBFFA8288D1}"/>
              </a:ext>
            </a:extLst>
          </p:cNvPr>
          <p:cNvPicPr>
            <a:picLocks noChangeAspect="1"/>
          </p:cNvPicPr>
          <p:nvPr/>
        </p:nvPicPr>
        <p:blipFill>
          <a:blip r:embed="rId5"/>
          <a:stretch>
            <a:fillRect/>
          </a:stretch>
        </p:blipFill>
        <p:spPr>
          <a:xfrm>
            <a:off x="6274794" y="3778735"/>
            <a:ext cx="2761851" cy="13630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Model Comparison — Results &amp; Evaluation</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RMSE, MAE, R² — which model won and why?</a:t>
            </a:r>
            <a:endParaRPr lang="en-US" sz="1000" dirty="0"/>
          </a:p>
        </p:txBody>
      </p:sp>
      <p:sp>
        <p:nvSpPr>
          <p:cNvPr id="6" name="Shape 4"/>
          <p:cNvSpPr/>
          <p:nvPr/>
        </p:nvSpPr>
        <p:spPr>
          <a:xfrm>
            <a:off x="274320" y="1115568"/>
            <a:ext cx="4297680" cy="292608"/>
          </a:xfrm>
          <a:prstGeom prst="rect">
            <a:avLst/>
          </a:prstGeom>
          <a:solidFill>
            <a:srgbClr val="010F2F"/>
          </a:solidFill>
          <a:ln w="12700">
            <a:solidFill>
              <a:srgbClr val="000000"/>
            </a:solidFill>
            <a:prstDash val="solid"/>
          </a:ln>
        </p:spPr>
        <p:txBody>
          <a:bodyPr/>
          <a:lstStyle/>
          <a:p>
            <a:endParaRPr lang="en-PK"/>
          </a:p>
        </p:txBody>
      </p:sp>
      <p:sp>
        <p:nvSpPr>
          <p:cNvPr id="7" name="Text 5"/>
          <p:cNvSpPr/>
          <p:nvPr/>
        </p:nvSpPr>
        <p:spPr>
          <a:xfrm>
            <a:off x="274320" y="111556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the 3 Metrics Mean</a:t>
            </a:r>
            <a:endParaRPr lang="en-US" sz="1100" dirty="0"/>
          </a:p>
        </p:txBody>
      </p:sp>
      <p:sp>
        <p:nvSpPr>
          <p:cNvPr id="8" name="Shape 6"/>
          <p:cNvSpPr/>
          <p:nvPr/>
        </p:nvSpPr>
        <p:spPr>
          <a:xfrm>
            <a:off x="274320" y="1499616"/>
            <a:ext cx="502920" cy="347472"/>
          </a:xfrm>
          <a:prstGeom prst="rect">
            <a:avLst/>
          </a:prstGeom>
          <a:solidFill>
            <a:srgbClr val="010F2F"/>
          </a:solidFill>
          <a:ln w="12700">
            <a:solidFill>
              <a:srgbClr val="000000"/>
            </a:solidFill>
            <a:prstDash val="solid"/>
          </a:ln>
        </p:spPr>
        <p:txBody>
          <a:bodyPr/>
          <a:lstStyle/>
          <a:p>
            <a:endParaRPr lang="en-PK"/>
          </a:p>
        </p:txBody>
      </p:sp>
      <p:sp>
        <p:nvSpPr>
          <p:cNvPr id="9" name="Text 7"/>
          <p:cNvSpPr/>
          <p:nvPr/>
        </p:nvSpPr>
        <p:spPr>
          <a:xfrm>
            <a:off x="274320" y="1499616"/>
            <a:ext cx="5029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RMSE</a:t>
            </a:r>
            <a:endParaRPr lang="en-US" sz="1100" dirty="0"/>
          </a:p>
        </p:txBody>
      </p:sp>
      <p:sp>
        <p:nvSpPr>
          <p:cNvPr id="10" name="Text 8"/>
          <p:cNvSpPr/>
          <p:nvPr/>
        </p:nvSpPr>
        <p:spPr>
          <a:xfrm>
            <a:off x="868680" y="1499616"/>
            <a:ext cx="3657600" cy="34747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Average prediction error in %. Lower = better. Sensitive to large errors.</a:t>
            </a:r>
            <a:endParaRPr lang="en-US" sz="1050" dirty="0"/>
          </a:p>
        </p:txBody>
      </p:sp>
      <p:sp>
        <p:nvSpPr>
          <p:cNvPr id="11" name="Shape 9"/>
          <p:cNvSpPr/>
          <p:nvPr/>
        </p:nvSpPr>
        <p:spPr>
          <a:xfrm>
            <a:off x="274320" y="1938528"/>
            <a:ext cx="502920" cy="347472"/>
          </a:xfrm>
          <a:prstGeom prst="rect">
            <a:avLst/>
          </a:prstGeom>
          <a:solidFill>
            <a:srgbClr val="010F2F"/>
          </a:solidFill>
          <a:ln w="12700">
            <a:solidFill>
              <a:srgbClr val="000000"/>
            </a:solidFill>
            <a:prstDash val="solid"/>
          </a:ln>
        </p:spPr>
        <p:txBody>
          <a:bodyPr/>
          <a:lstStyle/>
          <a:p>
            <a:endParaRPr lang="en-PK"/>
          </a:p>
        </p:txBody>
      </p:sp>
      <p:sp>
        <p:nvSpPr>
          <p:cNvPr id="12" name="Text 10"/>
          <p:cNvSpPr/>
          <p:nvPr/>
        </p:nvSpPr>
        <p:spPr>
          <a:xfrm>
            <a:off x="274320" y="1938528"/>
            <a:ext cx="5029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MAE</a:t>
            </a:r>
            <a:endParaRPr lang="en-US" sz="1100" dirty="0"/>
          </a:p>
        </p:txBody>
      </p:sp>
      <p:sp>
        <p:nvSpPr>
          <p:cNvPr id="13" name="Text 11"/>
          <p:cNvSpPr/>
          <p:nvPr/>
        </p:nvSpPr>
        <p:spPr>
          <a:xfrm>
            <a:off x="868680" y="1938528"/>
            <a:ext cx="3657600" cy="34747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Average absolute error in %. Lower = better. More robust to outliers.</a:t>
            </a:r>
            <a:endParaRPr lang="en-US" sz="1050" dirty="0"/>
          </a:p>
        </p:txBody>
      </p:sp>
      <p:sp>
        <p:nvSpPr>
          <p:cNvPr id="14" name="Shape 12"/>
          <p:cNvSpPr/>
          <p:nvPr/>
        </p:nvSpPr>
        <p:spPr>
          <a:xfrm>
            <a:off x="274320" y="2377440"/>
            <a:ext cx="502920" cy="347472"/>
          </a:xfrm>
          <a:prstGeom prst="rect">
            <a:avLst/>
          </a:prstGeom>
          <a:solidFill>
            <a:srgbClr val="010F2F"/>
          </a:solidFill>
          <a:ln w="12700">
            <a:solidFill>
              <a:srgbClr val="000000"/>
            </a:solidFill>
            <a:prstDash val="solid"/>
          </a:ln>
        </p:spPr>
        <p:txBody>
          <a:bodyPr/>
          <a:lstStyle/>
          <a:p>
            <a:endParaRPr lang="en-PK"/>
          </a:p>
        </p:txBody>
      </p:sp>
      <p:sp>
        <p:nvSpPr>
          <p:cNvPr id="15" name="Text 13"/>
          <p:cNvSpPr/>
          <p:nvPr/>
        </p:nvSpPr>
        <p:spPr>
          <a:xfrm>
            <a:off x="274320" y="2377440"/>
            <a:ext cx="5029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R²</a:t>
            </a:r>
            <a:endParaRPr lang="en-US" sz="1100" dirty="0"/>
          </a:p>
        </p:txBody>
      </p:sp>
      <p:sp>
        <p:nvSpPr>
          <p:cNvPr id="16" name="Text 14"/>
          <p:cNvSpPr/>
          <p:nvPr/>
        </p:nvSpPr>
        <p:spPr>
          <a:xfrm>
            <a:off x="868680" y="2377440"/>
            <a:ext cx="3657600" cy="34747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 of variance explained. 1.0 = perfect. 0 = no better than predicting the mean.</a:t>
            </a:r>
            <a:endParaRPr lang="en-US" sz="1050" dirty="0"/>
          </a:p>
        </p:txBody>
      </p:sp>
      <p:sp>
        <p:nvSpPr>
          <p:cNvPr id="17" name="Shape 15"/>
          <p:cNvSpPr/>
          <p:nvPr/>
        </p:nvSpPr>
        <p:spPr>
          <a:xfrm>
            <a:off x="274320" y="2852928"/>
            <a:ext cx="4297680" cy="292608"/>
          </a:xfrm>
          <a:prstGeom prst="rect">
            <a:avLst/>
          </a:prstGeom>
          <a:solidFill>
            <a:srgbClr val="010F2F"/>
          </a:solidFill>
          <a:ln w="12700">
            <a:solidFill>
              <a:srgbClr val="000000"/>
            </a:solidFill>
            <a:prstDash val="solid"/>
          </a:ln>
        </p:spPr>
        <p:txBody>
          <a:bodyPr/>
          <a:lstStyle/>
          <a:p>
            <a:endParaRPr lang="en-PK"/>
          </a:p>
        </p:txBody>
      </p:sp>
      <p:sp>
        <p:nvSpPr>
          <p:cNvPr id="18" name="Text 16"/>
          <p:cNvSpPr/>
          <p:nvPr/>
        </p:nvSpPr>
        <p:spPr>
          <a:xfrm>
            <a:off x="274320" y="285292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Results Table (Test Set — COVID excluded)</a:t>
            </a:r>
            <a:endParaRPr lang="en-US" sz="1100" dirty="0"/>
          </a:p>
        </p:txBody>
      </p:sp>
      <p:sp>
        <p:nvSpPr>
          <p:cNvPr id="19" name="Shape 17"/>
          <p:cNvSpPr/>
          <p:nvPr/>
        </p:nvSpPr>
        <p:spPr>
          <a:xfrm>
            <a:off x="274320" y="3218688"/>
            <a:ext cx="1828800" cy="292608"/>
          </a:xfrm>
          <a:prstGeom prst="rect">
            <a:avLst/>
          </a:prstGeom>
          <a:solidFill>
            <a:srgbClr val="010F2F"/>
          </a:solidFill>
          <a:ln w="12700">
            <a:solidFill>
              <a:srgbClr val="000000"/>
            </a:solidFill>
            <a:prstDash val="solid"/>
          </a:ln>
        </p:spPr>
        <p:txBody>
          <a:bodyPr/>
          <a:lstStyle/>
          <a:p>
            <a:endParaRPr lang="en-PK"/>
          </a:p>
        </p:txBody>
      </p:sp>
      <p:sp>
        <p:nvSpPr>
          <p:cNvPr id="20" name="Text 18"/>
          <p:cNvSpPr/>
          <p:nvPr/>
        </p:nvSpPr>
        <p:spPr>
          <a:xfrm>
            <a:off x="274320" y="3218688"/>
            <a:ext cx="18288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Model</a:t>
            </a:r>
            <a:endParaRPr lang="en-US" sz="1000" dirty="0"/>
          </a:p>
        </p:txBody>
      </p:sp>
      <p:sp>
        <p:nvSpPr>
          <p:cNvPr id="21" name="Shape 19"/>
          <p:cNvSpPr/>
          <p:nvPr/>
        </p:nvSpPr>
        <p:spPr>
          <a:xfrm>
            <a:off x="2148840" y="3218688"/>
            <a:ext cx="749808" cy="292608"/>
          </a:xfrm>
          <a:prstGeom prst="rect">
            <a:avLst/>
          </a:prstGeom>
          <a:solidFill>
            <a:srgbClr val="010F2F"/>
          </a:solidFill>
          <a:ln w="12700">
            <a:solidFill>
              <a:srgbClr val="000000"/>
            </a:solidFill>
            <a:prstDash val="solid"/>
          </a:ln>
        </p:spPr>
        <p:txBody>
          <a:bodyPr/>
          <a:lstStyle/>
          <a:p>
            <a:endParaRPr lang="en-PK"/>
          </a:p>
        </p:txBody>
      </p:sp>
      <p:sp>
        <p:nvSpPr>
          <p:cNvPr id="22" name="Text 20"/>
          <p:cNvSpPr/>
          <p:nvPr/>
        </p:nvSpPr>
        <p:spPr>
          <a:xfrm>
            <a:off x="2148840" y="3218688"/>
            <a:ext cx="7498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RMSE</a:t>
            </a:r>
            <a:endParaRPr lang="en-US" sz="1000" dirty="0"/>
          </a:p>
        </p:txBody>
      </p:sp>
      <p:sp>
        <p:nvSpPr>
          <p:cNvPr id="23" name="Shape 21"/>
          <p:cNvSpPr/>
          <p:nvPr/>
        </p:nvSpPr>
        <p:spPr>
          <a:xfrm>
            <a:off x="2944368" y="3218688"/>
            <a:ext cx="749808" cy="292608"/>
          </a:xfrm>
          <a:prstGeom prst="rect">
            <a:avLst/>
          </a:prstGeom>
          <a:solidFill>
            <a:srgbClr val="010F2F"/>
          </a:solidFill>
          <a:ln w="12700">
            <a:solidFill>
              <a:srgbClr val="000000"/>
            </a:solidFill>
            <a:prstDash val="solid"/>
          </a:ln>
        </p:spPr>
        <p:txBody>
          <a:bodyPr/>
          <a:lstStyle/>
          <a:p>
            <a:endParaRPr lang="en-PK"/>
          </a:p>
        </p:txBody>
      </p:sp>
      <p:sp>
        <p:nvSpPr>
          <p:cNvPr id="24" name="Text 22"/>
          <p:cNvSpPr/>
          <p:nvPr/>
        </p:nvSpPr>
        <p:spPr>
          <a:xfrm>
            <a:off x="2944368" y="3218688"/>
            <a:ext cx="7498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MAE</a:t>
            </a:r>
            <a:endParaRPr lang="en-US" sz="1000" dirty="0"/>
          </a:p>
        </p:txBody>
      </p:sp>
      <p:sp>
        <p:nvSpPr>
          <p:cNvPr id="25" name="Shape 23"/>
          <p:cNvSpPr/>
          <p:nvPr/>
        </p:nvSpPr>
        <p:spPr>
          <a:xfrm>
            <a:off x="3730752" y="3218688"/>
            <a:ext cx="749808" cy="292608"/>
          </a:xfrm>
          <a:prstGeom prst="rect">
            <a:avLst/>
          </a:prstGeom>
          <a:solidFill>
            <a:srgbClr val="010F2F"/>
          </a:solidFill>
          <a:ln w="12700">
            <a:solidFill>
              <a:srgbClr val="000000"/>
            </a:solidFill>
            <a:prstDash val="solid"/>
          </a:ln>
        </p:spPr>
        <p:txBody>
          <a:bodyPr/>
          <a:lstStyle/>
          <a:p>
            <a:endParaRPr lang="en-PK"/>
          </a:p>
        </p:txBody>
      </p:sp>
      <p:sp>
        <p:nvSpPr>
          <p:cNvPr id="26" name="Text 24"/>
          <p:cNvSpPr/>
          <p:nvPr/>
        </p:nvSpPr>
        <p:spPr>
          <a:xfrm>
            <a:off x="3730752" y="3218688"/>
            <a:ext cx="7498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R²</a:t>
            </a:r>
            <a:endParaRPr lang="en-US" sz="1000" dirty="0"/>
          </a:p>
        </p:txBody>
      </p:sp>
      <p:sp>
        <p:nvSpPr>
          <p:cNvPr id="27" name="Shape 25"/>
          <p:cNvSpPr/>
          <p:nvPr/>
        </p:nvSpPr>
        <p:spPr>
          <a:xfrm>
            <a:off x="274320" y="3538728"/>
            <a:ext cx="1828800" cy="320040"/>
          </a:xfrm>
          <a:prstGeom prst="rect">
            <a:avLst/>
          </a:prstGeom>
          <a:solidFill>
            <a:srgbClr val="FFFFFF"/>
          </a:solidFill>
          <a:ln w="12700">
            <a:solidFill>
              <a:srgbClr val="CCCCCC"/>
            </a:solidFill>
            <a:prstDash val="solid"/>
          </a:ln>
        </p:spPr>
        <p:txBody>
          <a:bodyPr/>
          <a:lstStyle/>
          <a:p>
            <a:endParaRPr lang="en-PK"/>
          </a:p>
        </p:txBody>
      </p:sp>
      <p:sp>
        <p:nvSpPr>
          <p:cNvPr id="28" name="Text 26"/>
          <p:cNvSpPr/>
          <p:nvPr/>
        </p:nvSpPr>
        <p:spPr>
          <a:xfrm>
            <a:off x="320040" y="3538728"/>
            <a:ext cx="1783080" cy="320040"/>
          </a:xfrm>
          <a:prstGeom prst="rect">
            <a:avLst/>
          </a:prstGeom>
          <a:noFill/>
          <a:ln/>
        </p:spPr>
        <p:txBody>
          <a:bodyPr wrap="square" rtlCol="0" anchor="ctr"/>
          <a:lstStyle/>
          <a:p>
            <a:pPr marL="0" indent="0" algn="l">
              <a:buNone/>
            </a:pPr>
            <a:r>
              <a:rPr lang="en-US" sz="1000" dirty="0">
                <a:solidFill>
                  <a:srgbClr val="000000"/>
                </a:solidFill>
                <a:latin typeface="Calibri" pitchFamily="34" charset="0"/>
                <a:ea typeface="Calibri" pitchFamily="34" charset="-122"/>
                <a:cs typeface="Calibri" pitchFamily="34" charset="-120"/>
              </a:rPr>
              <a:t>Baseline (Mean)</a:t>
            </a:r>
            <a:endParaRPr lang="en-US" sz="1000" dirty="0"/>
          </a:p>
        </p:txBody>
      </p:sp>
      <p:sp>
        <p:nvSpPr>
          <p:cNvPr id="29" name="Shape 27"/>
          <p:cNvSpPr/>
          <p:nvPr/>
        </p:nvSpPr>
        <p:spPr>
          <a:xfrm>
            <a:off x="2148840" y="3538728"/>
            <a:ext cx="749808" cy="320040"/>
          </a:xfrm>
          <a:prstGeom prst="rect">
            <a:avLst/>
          </a:prstGeom>
          <a:solidFill>
            <a:srgbClr val="FFFFFF"/>
          </a:solidFill>
          <a:ln w="12700">
            <a:solidFill>
              <a:srgbClr val="CCCCCC"/>
            </a:solidFill>
            <a:prstDash val="solid"/>
          </a:ln>
        </p:spPr>
        <p:txBody>
          <a:bodyPr/>
          <a:lstStyle/>
          <a:p>
            <a:endParaRPr lang="en-PK"/>
          </a:p>
        </p:txBody>
      </p:sp>
      <p:sp>
        <p:nvSpPr>
          <p:cNvPr id="30" name="Text 28"/>
          <p:cNvSpPr/>
          <p:nvPr/>
        </p:nvSpPr>
        <p:spPr>
          <a:xfrm>
            <a:off x="2194560" y="3538728"/>
            <a:ext cx="704088" cy="32004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3.134</a:t>
            </a:r>
            <a:endParaRPr lang="en-US" sz="1050" dirty="0"/>
          </a:p>
        </p:txBody>
      </p:sp>
      <p:sp>
        <p:nvSpPr>
          <p:cNvPr id="31" name="Shape 29"/>
          <p:cNvSpPr/>
          <p:nvPr/>
        </p:nvSpPr>
        <p:spPr>
          <a:xfrm>
            <a:off x="2944368" y="3538728"/>
            <a:ext cx="749808" cy="320040"/>
          </a:xfrm>
          <a:prstGeom prst="rect">
            <a:avLst/>
          </a:prstGeom>
          <a:solidFill>
            <a:srgbClr val="FFFFFF"/>
          </a:solidFill>
          <a:ln w="12700">
            <a:solidFill>
              <a:srgbClr val="CCCCCC"/>
            </a:solidFill>
            <a:prstDash val="solid"/>
          </a:ln>
        </p:spPr>
        <p:txBody>
          <a:bodyPr/>
          <a:lstStyle/>
          <a:p>
            <a:endParaRPr lang="en-PK"/>
          </a:p>
        </p:txBody>
      </p:sp>
      <p:sp>
        <p:nvSpPr>
          <p:cNvPr id="32" name="Text 30"/>
          <p:cNvSpPr/>
          <p:nvPr/>
        </p:nvSpPr>
        <p:spPr>
          <a:xfrm>
            <a:off x="2990088" y="3538728"/>
            <a:ext cx="704088" cy="32004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2.255</a:t>
            </a:r>
            <a:endParaRPr lang="en-US" sz="1050" dirty="0"/>
          </a:p>
        </p:txBody>
      </p:sp>
      <p:sp>
        <p:nvSpPr>
          <p:cNvPr id="33" name="Shape 31"/>
          <p:cNvSpPr/>
          <p:nvPr/>
        </p:nvSpPr>
        <p:spPr>
          <a:xfrm>
            <a:off x="3730752" y="3538728"/>
            <a:ext cx="749808" cy="320040"/>
          </a:xfrm>
          <a:prstGeom prst="rect">
            <a:avLst/>
          </a:prstGeom>
          <a:solidFill>
            <a:srgbClr val="FFFFFF"/>
          </a:solidFill>
          <a:ln w="12700">
            <a:solidFill>
              <a:srgbClr val="CCCCCC"/>
            </a:solidFill>
            <a:prstDash val="solid"/>
          </a:ln>
        </p:spPr>
        <p:txBody>
          <a:bodyPr/>
          <a:lstStyle/>
          <a:p>
            <a:endParaRPr lang="en-PK"/>
          </a:p>
        </p:txBody>
      </p:sp>
      <p:sp>
        <p:nvSpPr>
          <p:cNvPr id="34" name="Text 32"/>
          <p:cNvSpPr/>
          <p:nvPr/>
        </p:nvSpPr>
        <p:spPr>
          <a:xfrm>
            <a:off x="3776472" y="3538728"/>
            <a:ext cx="704088" cy="32004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-0.064</a:t>
            </a:r>
            <a:endParaRPr lang="en-US" sz="1050" dirty="0"/>
          </a:p>
        </p:txBody>
      </p:sp>
      <p:sp>
        <p:nvSpPr>
          <p:cNvPr id="35" name="Shape 33"/>
          <p:cNvSpPr/>
          <p:nvPr/>
        </p:nvSpPr>
        <p:spPr>
          <a:xfrm>
            <a:off x="274320" y="3886200"/>
            <a:ext cx="1828800" cy="320040"/>
          </a:xfrm>
          <a:prstGeom prst="rect">
            <a:avLst/>
          </a:prstGeom>
          <a:solidFill>
            <a:srgbClr val="F5F5F5"/>
          </a:solidFill>
          <a:ln w="12700">
            <a:solidFill>
              <a:srgbClr val="CCCCCC"/>
            </a:solidFill>
            <a:prstDash val="solid"/>
          </a:ln>
        </p:spPr>
        <p:txBody>
          <a:bodyPr/>
          <a:lstStyle/>
          <a:p>
            <a:endParaRPr lang="en-PK"/>
          </a:p>
        </p:txBody>
      </p:sp>
      <p:sp>
        <p:nvSpPr>
          <p:cNvPr id="36" name="Text 34"/>
          <p:cNvSpPr/>
          <p:nvPr/>
        </p:nvSpPr>
        <p:spPr>
          <a:xfrm>
            <a:off x="320040" y="3886200"/>
            <a:ext cx="1783080" cy="320040"/>
          </a:xfrm>
          <a:prstGeom prst="rect">
            <a:avLst/>
          </a:prstGeom>
          <a:noFill/>
          <a:ln/>
        </p:spPr>
        <p:txBody>
          <a:bodyPr wrap="square" rtlCol="0" anchor="ctr"/>
          <a:lstStyle/>
          <a:p>
            <a:pPr marL="0" indent="0" algn="l">
              <a:buNone/>
            </a:pPr>
            <a:r>
              <a:rPr lang="en-US" sz="1000" b="1" dirty="0">
                <a:solidFill>
                  <a:srgbClr val="000000"/>
                </a:solidFill>
                <a:latin typeface="Calibri" pitchFamily="34" charset="0"/>
                <a:ea typeface="Calibri" pitchFamily="34" charset="-122"/>
                <a:cs typeface="Calibri" pitchFamily="34" charset="-120"/>
              </a:rPr>
              <a:t>Ridge Regression ★</a:t>
            </a:r>
            <a:endParaRPr lang="en-US" sz="1000" dirty="0"/>
          </a:p>
        </p:txBody>
      </p:sp>
      <p:sp>
        <p:nvSpPr>
          <p:cNvPr id="37" name="Shape 35"/>
          <p:cNvSpPr/>
          <p:nvPr/>
        </p:nvSpPr>
        <p:spPr>
          <a:xfrm>
            <a:off x="2148840" y="3886200"/>
            <a:ext cx="749808" cy="320040"/>
          </a:xfrm>
          <a:prstGeom prst="rect">
            <a:avLst/>
          </a:prstGeom>
          <a:solidFill>
            <a:srgbClr val="F5F5F5"/>
          </a:solidFill>
          <a:ln w="12700">
            <a:solidFill>
              <a:srgbClr val="CCCCCC"/>
            </a:solidFill>
            <a:prstDash val="solid"/>
          </a:ln>
        </p:spPr>
        <p:txBody>
          <a:bodyPr/>
          <a:lstStyle/>
          <a:p>
            <a:endParaRPr lang="en-PK"/>
          </a:p>
        </p:txBody>
      </p:sp>
      <p:sp>
        <p:nvSpPr>
          <p:cNvPr id="38" name="Text 36"/>
          <p:cNvSpPr/>
          <p:nvPr/>
        </p:nvSpPr>
        <p:spPr>
          <a:xfrm>
            <a:off x="2194560" y="3886200"/>
            <a:ext cx="704088" cy="320040"/>
          </a:xfrm>
          <a:prstGeom prst="rect">
            <a:avLst/>
          </a:prstGeom>
          <a:noFill/>
          <a:ln/>
        </p:spPr>
        <p:txBody>
          <a:bodyPr wrap="square" rtlCol="0" anchor="ctr"/>
          <a:lstStyle/>
          <a:p>
            <a:pPr marL="0" indent="0" algn="ctr">
              <a:buNone/>
            </a:pPr>
            <a:r>
              <a:rPr lang="en-US" sz="1050" b="1" dirty="0">
                <a:solidFill>
                  <a:srgbClr val="000000"/>
                </a:solidFill>
                <a:latin typeface="Calibri" pitchFamily="34" charset="0"/>
                <a:ea typeface="Calibri" pitchFamily="34" charset="-122"/>
                <a:cs typeface="Calibri" pitchFamily="34" charset="-120"/>
              </a:rPr>
              <a:t>2.451</a:t>
            </a:r>
            <a:endParaRPr lang="en-US" sz="1050" dirty="0"/>
          </a:p>
        </p:txBody>
      </p:sp>
      <p:sp>
        <p:nvSpPr>
          <p:cNvPr id="39" name="Shape 37"/>
          <p:cNvSpPr/>
          <p:nvPr/>
        </p:nvSpPr>
        <p:spPr>
          <a:xfrm>
            <a:off x="2944368" y="3886200"/>
            <a:ext cx="749808" cy="320040"/>
          </a:xfrm>
          <a:prstGeom prst="rect">
            <a:avLst/>
          </a:prstGeom>
          <a:solidFill>
            <a:srgbClr val="F5F5F5"/>
          </a:solidFill>
          <a:ln w="12700">
            <a:solidFill>
              <a:srgbClr val="CCCCCC"/>
            </a:solidFill>
            <a:prstDash val="solid"/>
          </a:ln>
        </p:spPr>
        <p:txBody>
          <a:bodyPr/>
          <a:lstStyle/>
          <a:p>
            <a:endParaRPr lang="en-PK"/>
          </a:p>
        </p:txBody>
      </p:sp>
      <p:sp>
        <p:nvSpPr>
          <p:cNvPr id="40" name="Text 38"/>
          <p:cNvSpPr/>
          <p:nvPr/>
        </p:nvSpPr>
        <p:spPr>
          <a:xfrm>
            <a:off x="2990088" y="3886200"/>
            <a:ext cx="704088" cy="320040"/>
          </a:xfrm>
          <a:prstGeom prst="rect">
            <a:avLst/>
          </a:prstGeom>
          <a:noFill/>
          <a:ln/>
        </p:spPr>
        <p:txBody>
          <a:bodyPr wrap="square" rtlCol="0" anchor="ctr"/>
          <a:lstStyle/>
          <a:p>
            <a:pPr marL="0" indent="0" algn="ctr">
              <a:buNone/>
            </a:pPr>
            <a:r>
              <a:rPr lang="en-US" sz="1050" b="1" dirty="0">
                <a:solidFill>
                  <a:srgbClr val="000000"/>
                </a:solidFill>
                <a:latin typeface="Calibri" pitchFamily="34" charset="0"/>
                <a:ea typeface="Calibri" pitchFamily="34" charset="-122"/>
                <a:cs typeface="Calibri" pitchFamily="34" charset="-120"/>
              </a:rPr>
              <a:t>1.643</a:t>
            </a:r>
            <a:endParaRPr lang="en-US" sz="1050" dirty="0"/>
          </a:p>
        </p:txBody>
      </p:sp>
      <p:sp>
        <p:nvSpPr>
          <p:cNvPr id="41" name="Shape 39"/>
          <p:cNvSpPr/>
          <p:nvPr/>
        </p:nvSpPr>
        <p:spPr>
          <a:xfrm>
            <a:off x="3730752" y="3886200"/>
            <a:ext cx="749808" cy="320040"/>
          </a:xfrm>
          <a:prstGeom prst="rect">
            <a:avLst/>
          </a:prstGeom>
          <a:solidFill>
            <a:srgbClr val="F5F5F5"/>
          </a:solidFill>
          <a:ln w="12700">
            <a:solidFill>
              <a:srgbClr val="CCCCCC"/>
            </a:solidFill>
            <a:prstDash val="solid"/>
          </a:ln>
        </p:spPr>
        <p:txBody>
          <a:bodyPr/>
          <a:lstStyle/>
          <a:p>
            <a:endParaRPr lang="en-PK"/>
          </a:p>
        </p:txBody>
      </p:sp>
      <p:sp>
        <p:nvSpPr>
          <p:cNvPr id="42" name="Text 40"/>
          <p:cNvSpPr/>
          <p:nvPr/>
        </p:nvSpPr>
        <p:spPr>
          <a:xfrm>
            <a:off x="3776472" y="3886200"/>
            <a:ext cx="704088" cy="320040"/>
          </a:xfrm>
          <a:prstGeom prst="rect">
            <a:avLst/>
          </a:prstGeom>
          <a:noFill/>
          <a:ln/>
        </p:spPr>
        <p:txBody>
          <a:bodyPr wrap="square" rtlCol="0" anchor="ctr"/>
          <a:lstStyle/>
          <a:p>
            <a:pPr marL="0" indent="0" algn="ctr">
              <a:buNone/>
            </a:pPr>
            <a:r>
              <a:rPr lang="en-US" sz="1050" b="1" dirty="0">
                <a:solidFill>
                  <a:srgbClr val="000000"/>
                </a:solidFill>
                <a:latin typeface="Calibri" pitchFamily="34" charset="0"/>
                <a:ea typeface="Calibri" pitchFamily="34" charset="-122"/>
                <a:cs typeface="Calibri" pitchFamily="34" charset="-120"/>
              </a:rPr>
              <a:t>0.350</a:t>
            </a:r>
            <a:endParaRPr lang="en-US" sz="1050" dirty="0"/>
          </a:p>
        </p:txBody>
      </p:sp>
      <p:sp>
        <p:nvSpPr>
          <p:cNvPr id="43" name="Shape 41"/>
          <p:cNvSpPr/>
          <p:nvPr/>
        </p:nvSpPr>
        <p:spPr>
          <a:xfrm>
            <a:off x="274320" y="4233672"/>
            <a:ext cx="1828800" cy="320040"/>
          </a:xfrm>
          <a:prstGeom prst="rect">
            <a:avLst/>
          </a:prstGeom>
          <a:solidFill>
            <a:srgbClr val="FFFFFF"/>
          </a:solidFill>
          <a:ln w="12700">
            <a:solidFill>
              <a:srgbClr val="CCCCCC"/>
            </a:solidFill>
            <a:prstDash val="solid"/>
          </a:ln>
        </p:spPr>
        <p:txBody>
          <a:bodyPr/>
          <a:lstStyle/>
          <a:p>
            <a:endParaRPr lang="en-PK"/>
          </a:p>
        </p:txBody>
      </p:sp>
      <p:sp>
        <p:nvSpPr>
          <p:cNvPr id="44" name="Text 42"/>
          <p:cNvSpPr/>
          <p:nvPr/>
        </p:nvSpPr>
        <p:spPr>
          <a:xfrm>
            <a:off x="320040" y="4233672"/>
            <a:ext cx="1783080" cy="320040"/>
          </a:xfrm>
          <a:prstGeom prst="rect">
            <a:avLst/>
          </a:prstGeom>
          <a:noFill/>
          <a:ln/>
        </p:spPr>
        <p:txBody>
          <a:bodyPr wrap="square" rtlCol="0" anchor="ctr"/>
          <a:lstStyle/>
          <a:p>
            <a:pPr marL="0" indent="0" algn="l">
              <a:buNone/>
            </a:pPr>
            <a:r>
              <a:rPr lang="en-US" sz="1000" dirty="0">
                <a:solidFill>
                  <a:srgbClr val="000000"/>
                </a:solidFill>
                <a:latin typeface="Calibri" pitchFamily="34" charset="0"/>
                <a:ea typeface="Calibri" pitchFamily="34" charset="-122"/>
                <a:cs typeface="Calibri" pitchFamily="34" charset="-120"/>
              </a:rPr>
              <a:t>Random Forest</a:t>
            </a:r>
            <a:endParaRPr lang="en-US" sz="1000" dirty="0"/>
          </a:p>
        </p:txBody>
      </p:sp>
      <p:sp>
        <p:nvSpPr>
          <p:cNvPr id="45" name="Shape 43"/>
          <p:cNvSpPr/>
          <p:nvPr/>
        </p:nvSpPr>
        <p:spPr>
          <a:xfrm>
            <a:off x="2148840" y="4233672"/>
            <a:ext cx="749808" cy="320040"/>
          </a:xfrm>
          <a:prstGeom prst="rect">
            <a:avLst/>
          </a:prstGeom>
          <a:solidFill>
            <a:srgbClr val="FFFFFF"/>
          </a:solidFill>
          <a:ln w="12700">
            <a:solidFill>
              <a:srgbClr val="CCCCCC"/>
            </a:solidFill>
            <a:prstDash val="solid"/>
          </a:ln>
        </p:spPr>
        <p:txBody>
          <a:bodyPr/>
          <a:lstStyle/>
          <a:p>
            <a:endParaRPr lang="en-PK"/>
          </a:p>
        </p:txBody>
      </p:sp>
      <p:sp>
        <p:nvSpPr>
          <p:cNvPr id="46" name="Text 44"/>
          <p:cNvSpPr/>
          <p:nvPr/>
        </p:nvSpPr>
        <p:spPr>
          <a:xfrm>
            <a:off x="2194560" y="4233672"/>
            <a:ext cx="704088" cy="32004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2.541</a:t>
            </a:r>
            <a:endParaRPr lang="en-US" sz="1050" dirty="0"/>
          </a:p>
        </p:txBody>
      </p:sp>
      <p:sp>
        <p:nvSpPr>
          <p:cNvPr id="47" name="Shape 45"/>
          <p:cNvSpPr/>
          <p:nvPr/>
        </p:nvSpPr>
        <p:spPr>
          <a:xfrm>
            <a:off x="2944368" y="4233672"/>
            <a:ext cx="749808" cy="320040"/>
          </a:xfrm>
          <a:prstGeom prst="rect">
            <a:avLst/>
          </a:prstGeom>
          <a:solidFill>
            <a:srgbClr val="FFFFFF"/>
          </a:solidFill>
          <a:ln w="12700">
            <a:solidFill>
              <a:srgbClr val="CCCCCC"/>
            </a:solidFill>
            <a:prstDash val="solid"/>
          </a:ln>
        </p:spPr>
        <p:txBody>
          <a:bodyPr/>
          <a:lstStyle/>
          <a:p>
            <a:endParaRPr lang="en-PK"/>
          </a:p>
        </p:txBody>
      </p:sp>
      <p:sp>
        <p:nvSpPr>
          <p:cNvPr id="48" name="Text 46"/>
          <p:cNvSpPr/>
          <p:nvPr/>
        </p:nvSpPr>
        <p:spPr>
          <a:xfrm>
            <a:off x="2990088" y="4233672"/>
            <a:ext cx="704088" cy="32004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1.709</a:t>
            </a:r>
            <a:endParaRPr lang="en-US" sz="1050" dirty="0"/>
          </a:p>
        </p:txBody>
      </p:sp>
      <p:sp>
        <p:nvSpPr>
          <p:cNvPr id="49" name="Shape 47"/>
          <p:cNvSpPr/>
          <p:nvPr/>
        </p:nvSpPr>
        <p:spPr>
          <a:xfrm>
            <a:off x="3730752" y="4233672"/>
            <a:ext cx="749808" cy="320040"/>
          </a:xfrm>
          <a:prstGeom prst="rect">
            <a:avLst/>
          </a:prstGeom>
          <a:solidFill>
            <a:srgbClr val="FFFFFF"/>
          </a:solidFill>
          <a:ln w="12700">
            <a:solidFill>
              <a:srgbClr val="CCCCCC"/>
            </a:solidFill>
            <a:prstDash val="solid"/>
          </a:ln>
        </p:spPr>
        <p:txBody>
          <a:bodyPr/>
          <a:lstStyle/>
          <a:p>
            <a:endParaRPr lang="en-PK"/>
          </a:p>
        </p:txBody>
      </p:sp>
      <p:sp>
        <p:nvSpPr>
          <p:cNvPr id="50" name="Text 48"/>
          <p:cNvSpPr/>
          <p:nvPr/>
        </p:nvSpPr>
        <p:spPr>
          <a:xfrm>
            <a:off x="3776472" y="4233672"/>
            <a:ext cx="704088" cy="32004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0.301</a:t>
            </a:r>
            <a:endParaRPr lang="en-US" sz="1050" dirty="0"/>
          </a:p>
        </p:txBody>
      </p:sp>
      <p:sp>
        <p:nvSpPr>
          <p:cNvPr id="51" name="Shape 49"/>
          <p:cNvSpPr/>
          <p:nvPr/>
        </p:nvSpPr>
        <p:spPr>
          <a:xfrm>
            <a:off x="274320" y="4581144"/>
            <a:ext cx="1828800" cy="320040"/>
          </a:xfrm>
          <a:prstGeom prst="rect">
            <a:avLst/>
          </a:prstGeom>
          <a:solidFill>
            <a:srgbClr val="FFFFFF"/>
          </a:solidFill>
          <a:ln w="12700">
            <a:solidFill>
              <a:srgbClr val="CCCCCC"/>
            </a:solidFill>
            <a:prstDash val="solid"/>
          </a:ln>
        </p:spPr>
        <p:txBody>
          <a:bodyPr/>
          <a:lstStyle/>
          <a:p>
            <a:endParaRPr lang="en-PK"/>
          </a:p>
        </p:txBody>
      </p:sp>
      <p:sp>
        <p:nvSpPr>
          <p:cNvPr id="52" name="Text 50"/>
          <p:cNvSpPr/>
          <p:nvPr/>
        </p:nvSpPr>
        <p:spPr>
          <a:xfrm>
            <a:off x="320040" y="4581144"/>
            <a:ext cx="1783080" cy="320040"/>
          </a:xfrm>
          <a:prstGeom prst="rect">
            <a:avLst/>
          </a:prstGeom>
          <a:noFill/>
          <a:ln/>
        </p:spPr>
        <p:txBody>
          <a:bodyPr wrap="square" rtlCol="0" anchor="ctr"/>
          <a:lstStyle/>
          <a:p>
            <a:pPr marL="0" indent="0" algn="l">
              <a:buNone/>
            </a:pPr>
            <a:r>
              <a:rPr lang="en-US" sz="1000" dirty="0">
                <a:solidFill>
                  <a:srgbClr val="000000"/>
                </a:solidFill>
                <a:latin typeface="Calibri" pitchFamily="34" charset="0"/>
                <a:ea typeface="Calibri" pitchFamily="34" charset="-122"/>
                <a:cs typeface="Calibri" pitchFamily="34" charset="-120"/>
              </a:rPr>
              <a:t>Gradient Boosting</a:t>
            </a:r>
            <a:endParaRPr lang="en-US" sz="1000" dirty="0"/>
          </a:p>
        </p:txBody>
      </p:sp>
      <p:sp>
        <p:nvSpPr>
          <p:cNvPr id="53" name="Shape 51"/>
          <p:cNvSpPr/>
          <p:nvPr/>
        </p:nvSpPr>
        <p:spPr>
          <a:xfrm>
            <a:off x="2148840" y="4581144"/>
            <a:ext cx="749808" cy="320040"/>
          </a:xfrm>
          <a:prstGeom prst="rect">
            <a:avLst/>
          </a:prstGeom>
          <a:solidFill>
            <a:srgbClr val="FFFFFF"/>
          </a:solidFill>
          <a:ln w="12700">
            <a:solidFill>
              <a:srgbClr val="CCCCCC"/>
            </a:solidFill>
            <a:prstDash val="solid"/>
          </a:ln>
        </p:spPr>
        <p:txBody>
          <a:bodyPr/>
          <a:lstStyle/>
          <a:p>
            <a:endParaRPr lang="en-PK"/>
          </a:p>
        </p:txBody>
      </p:sp>
      <p:sp>
        <p:nvSpPr>
          <p:cNvPr id="54" name="Text 52"/>
          <p:cNvSpPr/>
          <p:nvPr/>
        </p:nvSpPr>
        <p:spPr>
          <a:xfrm>
            <a:off x="2194560" y="4581144"/>
            <a:ext cx="704088" cy="32004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2.622</a:t>
            </a:r>
            <a:endParaRPr lang="en-US" sz="1050" dirty="0"/>
          </a:p>
        </p:txBody>
      </p:sp>
      <p:sp>
        <p:nvSpPr>
          <p:cNvPr id="55" name="Shape 53"/>
          <p:cNvSpPr/>
          <p:nvPr/>
        </p:nvSpPr>
        <p:spPr>
          <a:xfrm>
            <a:off x="2944368" y="4581144"/>
            <a:ext cx="749808" cy="320040"/>
          </a:xfrm>
          <a:prstGeom prst="rect">
            <a:avLst/>
          </a:prstGeom>
          <a:solidFill>
            <a:srgbClr val="FFFFFF"/>
          </a:solidFill>
          <a:ln w="12700">
            <a:solidFill>
              <a:srgbClr val="CCCCCC"/>
            </a:solidFill>
            <a:prstDash val="solid"/>
          </a:ln>
        </p:spPr>
        <p:txBody>
          <a:bodyPr/>
          <a:lstStyle/>
          <a:p>
            <a:endParaRPr lang="en-PK"/>
          </a:p>
        </p:txBody>
      </p:sp>
      <p:sp>
        <p:nvSpPr>
          <p:cNvPr id="56" name="Text 54"/>
          <p:cNvSpPr/>
          <p:nvPr/>
        </p:nvSpPr>
        <p:spPr>
          <a:xfrm>
            <a:off x="2990088" y="4581144"/>
            <a:ext cx="704088" cy="32004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1.726</a:t>
            </a:r>
            <a:endParaRPr lang="en-US" sz="1050" dirty="0"/>
          </a:p>
        </p:txBody>
      </p:sp>
      <p:sp>
        <p:nvSpPr>
          <p:cNvPr id="57" name="Shape 55"/>
          <p:cNvSpPr/>
          <p:nvPr/>
        </p:nvSpPr>
        <p:spPr>
          <a:xfrm>
            <a:off x="3730752" y="4581144"/>
            <a:ext cx="749808" cy="320040"/>
          </a:xfrm>
          <a:prstGeom prst="rect">
            <a:avLst/>
          </a:prstGeom>
          <a:solidFill>
            <a:srgbClr val="FFFFFF"/>
          </a:solidFill>
          <a:ln w="12700">
            <a:solidFill>
              <a:srgbClr val="CCCCCC"/>
            </a:solidFill>
            <a:prstDash val="solid"/>
          </a:ln>
        </p:spPr>
        <p:txBody>
          <a:bodyPr/>
          <a:lstStyle/>
          <a:p>
            <a:endParaRPr lang="en-PK"/>
          </a:p>
        </p:txBody>
      </p:sp>
      <p:sp>
        <p:nvSpPr>
          <p:cNvPr id="58" name="Text 56"/>
          <p:cNvSpPr/>
          <p:nvPr/>
        </p:nvSpPr>
        <p:spPr>
          <a:xfrm>
            <a:off x="3776472" y="4581144"/>
            <a:ext cx="704088" cy="320040"/>
          </a:xfrm>
          <a:prstGeom prst="rect">
            <a:avLst/>
          </a:prstGeom>
          <a:noFill/>
          <a:ln/>
        </p:spPr>
        <p:txBody>
          <a:bodyPr wrap="square" rtlCol="0" anchor="ctr"/>
          <a:lstStyle/>
          <a:p>
            <a:pPr marL="0" indent="0" algn="ctr">
              <a:buNone/>
            </a:pPr>
            <a:r>
              <a:rPr lang="en-US" sz="1050" dirty="0">
                <a:solidFill>
                  <a:srgbClr val="000000"/>
                </a:solidFill>
                <a:latin typeface="Calibri" pitchFamily="34" charset="0"/>
                <a:ea typeface="Calibri" pitchFamily="34" charset="-122"/>
                <a:cs typeface="Calibri" pitchFamily="34" charset="-120"/>
              </a:rPr>
              <a:t>0.256</a:t>
            </a:r>
            <a:endParaRPr lang="en-US" sz="1050" dirty="0"/>
          </a:p>
        </p:txBody>
      </p:sp>
      <p:sp>
        <p:nvSpPr>
          <p:cNvPr id="62" name="Text 60"/>
          <p:cNvSpPr/>
          <p:nvPr/>
        </p:nvSpPr>
        <p:spPr>
          <a:xfrm>
            <a:off x="212523" y="4858051"/>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Ridge wins: R²=0.35 — within academic benchmark (0.25–0.50). Gradient Boosting mildly overfit on this dataset.</a:t>
            </a:r>
            <a:endParaRPr lang="en-US" sz="1000" dirty="0"/>
          </a:p>
        </p:txBody>
      </p:sp>
      <p:pic>
        <p:nvPicPr>
          <p:cNvPr id="65" name="Picture 64">
            <a:extLst>
              <a:ext uri="{FF2B5EF4-FFF2-40B4-BE49-F238E27FC236}">
                <a16:creationId xmlns:a16="http://schemas.microsoft.com/office/drawing/2014/main" id="{34A334BA-C53D-468E-9FFF-034783E69C08}"/>
              </a:ext>
            </a:extLst>
          </p:cNvPr>
          <p:cNvPicPr>
            <a:picLocks noChangeAspect="1"/>
          </p:cNvPicPr>
          <p:nvPr/>
        </p:nvPicPr>
        <p:blipFill>
          <a:blip r:embed="rId3"/>
          <a:stretch>
            <a:fillRect/>
          </a:stretch>
        </p:blipFill>
        <p:spPr>
          <a:xfrm>
            <a:off x="4663441" y="966623"/>
            <a:ext cx="1847892" cy="1381655"/>
          </a:xfrm>
          <a:prstGeom prst="rect">
            <a:avLst/>
          </a:prstGeom>
        </p:spPr>
      </p:pic>
      <p:pic>
        <p:nvPicPr>
          <p:cNvPr id="66" name="Picture 65">
            <a:extLst>
              <a:ext uri="{FF2B5EF4-FFF2-40B4-BE49-F238E27FC236}">
                <a16:creationId xmlns:a16="http://schemas.microsoft.com/office/drawing/2014/main" id="{E43A5308-D443-B911-F6F0-F3543FDB273A}"/>
              </a:ext>
            </a:extLst>
          </p:cNvPr>
          <p:cNvPicPr>
            <a:picLocks noChangeAspect="1"/>
          </p:cNvPicPr>
          <p:nvPr/>
        </p:nvPicPr>
        <p:blipFill>
          <a:blip r:embed="rId4"/>
          <a:stretch>
            <a:fillRect/>
          </a:stretch>
        </p:blipFill>
        <p:spPr>
          <a:xfrm>
            <a:off x="6625863" y="2034560"/>
            <a:ext cx="2518137" cy="1754378"/>
          </a:xfrm>
          <a:prstGeom prst="rect">
            <a:avLst/>
          </a:prstGeom>
        </p:spPr>
      </p:pic>
      <p:pic>
        <p:nvPicPr>
          <p:cNvPr id="67" name="Picture 66">
            <a:extLst>
              <a:ext uri="{FF2B5EF4-FFF2-40B4-BE49-F238E27FC236}">
                <a16:creationId xmlns:a16="http://schemas.microsoft.com/office/drawing/2014/main" id="{7338AA3D-2DCD-3CF3-9ACC-AC778184DAE1}"/>
              </a:ext>
            </a:extLst>
          </p:cNvPr>
          <p:cNvPicPr>
            <a:picLocks noChangeAspect="1"/>
          </p:cNvPicPr>
          <p:nvPr/>
        </p:nvPicPr>
        <p:blipFill>
          <a:blip r:embed="rId5"/>
          <a:stretch>
            <a:fillRect/>
          </a:stretch>
        </p:blipFill>
        <p:spPr>
          <a:xfrm>
            <a:off x="4507947" y="3273552"/>
            <a:ext cx="2158880" cy="15844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Ridge Regression — Actual vs Predicted &amp; Residuals</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Is the model accurate? Is it biased?</a:t>
            </a:r>
            <a:endParaRPr lang="en-US" sz="1000" dirty="0"/>
          </a:p>
        </p:txBody>
      </p:sp>
      <p:sp>
        <p:nvSpPr>
          <p:cNvPr id="6" name="Shape 4"/>
          <p:cNvSpPr/>
          <p:nvPr/>
        </p:nvSpPr>
        <p:spPr>
          <a:xfrm>
            <a:off x="274320" y="1115568"/>
            <a:ext cx="4297680" cy="292608"/>
          </a:xfrm>
          <a:prstGeom prst="rect">
            <a:avLst/>
          </a:prstGeom>
          <a:solidFill>
            <a:srgbClr val="010F2F"/>
          </a:solidFill>
          <a:ln w="12700">
            <a:solidFill>
              <a:srgbClr val="000000"/>
            </a:solidFill>
            <a:prstDash val="solid"/>
          </a:ln>
        </p:spPr>
        <p:txBody>
          <a:bodyPr/>
          <a:lstStyle/>
          <a:p>
            <a:endParaRPr lang="en-PK"/>
          </a:p>
        </p:txBody>
      </p:sp>
      <p:sp>
        <p:nvSpPr>
          <p:cNvPr id="7" name="Text 5"/>
          <p:cNvSpPr/>
          <p:nvPr/>
        </p:nvSpPr>
        <p:spPr>
          <a:xfrm>
            <a:off x="274320" y="111556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Left Graph — Actual vs Predicted</a:t>
            </a:r>
            <a:endParaRPr lang="en-US" sz="1100" dirty="0"/>
          </a:p>
        </p:txBody>
      </p:sp>
      <p:sp>
        <p:nvSpPr>
          <p:cNvPr id="8" name="Text 6"/>
          <p:cNvSpPr/>
          <p:nvPr/>
        </p:nvSpPr>
        <p:spPr>
          <a:xfrm>
            <a:off x="274320" y="1499616"/>
            <a:ext cx="4297680" cy="1325880"/>
          </a:xfrm>
          <a:prstGeom prst="rect">
            <a:avLst/>
          </a:prstGeom>
          <a:noFill/>
          <a:ln/>
        </p:spPr>
        <p:txBody>
          <a:bodyPr wrap="square" rtlCol="0" anchor="t"/>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Each dot = one country in one test year</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Red dashed line = perfect prediction (y = x)</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Dots follow the diagonal → model has genuine predictive power</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Spread at extremes → Ridge compresses very high/low values (L2 effect)</a:t>
            </a:r>
            <a:endParaRPr lang="en-US" sz="1100" dirty="0"/>
          </a:p>
        </p:txBody>
      </p:sp>
      <p:sp>
        <p:nvSpPr>
          <p:cNvPr id="9" name="Shape 7"/>
          <p:cNvSpPr/>
          <p:nvPr/>
        </p:nvSpPr>
        <p:spPr>
          <a:xfrm>
            <a:off x="274320" y="2898648"/>
            <a:ext cx="4297680" cy="292608"/>
          </a:xfrm>
          <a:prstGeom prst="rect">
            <a:avLst/>
          </a:prstGeom>
          <a:solidFill>
            <a:srgbClr val="010F2F"/>
          </a:solidFill>
          <a:ln w="12700">
            <a:solidFill>
              <a:srgbClr val="000000"/>
            </a:solidFill>
            <a:prstDash val="solid"/>
          </a:ln>
        </p:spPr>
        <p:txBody>
          <a:bodyPr/>
          <a:lstStyle/>
          <a:p>
            <a:endParaRPr lang="en-PK"/>
          </a:p>
        </p:txBody>
      </p:sp>
      <p:sp>
        <p:nvSpPr>
          <p:cNvPr id="10" name="Text 8"/>
          <p:cNvSpPr/>
          <p:nvPr/>
        </p:nvSpPr>
        <p:spPr>
          <a:xfrm>
            <a:off x="274320" y="289864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Right Graph — Residuals (Actual − Predicted)</a:t>
            </a:r>
            <a:endParaRPr lang="en-US" sz="1100" dirty="0"/>
          </a:p>
        </p:txBody>
      </p:sp>
      <p:sp>
        <p:nvSpPr>
          <p:cNvPr id="11" name="Text 9"/>
          <p:cNvSpPr/>
          <p:nvPr/>
        </p:nvSpPr>
        <p:spPr>
          <a:xfrm>
            <a:off x="274320" y="3291840"/>
            <a:ext cx="4297680" cy="1508760"/>
          </a:xfrm>
          <a:prstGeom prst="rect">
            <a:avLst/>
          </a:prstGeom>
          <a:noFill/>
          <a:ln/>
        </p:spPr>
        <p:txBody>
          <a:bodyPr wrap="square" rtlCol="0" anchor="t"/>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Red line at 0 = zero error target</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Dots scattered randomly around 0 → model is UNBIASED</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No fan shape → consistent error across all predicted values</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Most errors within ±5% → consistent with MAE of 1.64</a:t>
            </a:r>
            <a:endParaRPr lang="en-US" sz="1100" dirty="0"/>
          </a:p>
        </p:txBody>
      </p:sp>
      <p:sp>
        <p:nvSpPr>
          <p:cNvPr id="16" name="Shape 14"/>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17" name="Text 15"/>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 Diagonal trend = model works   ✓ Random scatter around zero = model is unbiased   ✓ No systematic error pattern</a:t>
            </a:r>
            <a:endParaRPr lang="en-US" sz="1000" dirty="0"/>
          </a:p>
        </p:txBody>
      </p:sp>
      <p:pic>
        <p:nvPicPr>
          <p:cNvPr id="18" name="Picture 17">
            <a:extLst>
              <a:ext uri="{FF2B5EF4-FFF2-40B4-BE49-F238E27FC236}">
                <a16:creationId xmlns:a16="http://schemas.microsoft.com/office/drawing/2014/main" id="{A1270634-FBFD-1628-115E-53F8367F0FF4}"/>
              </a:ext>
            </a:extLst>
          </p:cNvPr>
          <p:cNvPicPr>
            <a:picLocks noChangeAspect="1"/>
          </p:cNvPicPr>
          <p:nvPr/>
        </p:nvPicPr>
        <p:blipFill>
          <a:blip r:embed="rId3"/>
          <a:stretch>
            <a:fillRect/>
          </a:stretch>
        </p:blipFill>
        <p:spPr>
          <a:xfrm>
            <a:off x="4572000" y="1201287"/>
            <a:ext cx="4525567" cy="1712234"/>
          </a:xfrm>
          <a:prstGeom prst="rect">
            <a:avLst/>
          </a:prstGeom>
        </p:spPr>
      </p:pic>
      <p:pic>
        <p:nvPicPr>
          <p:cNvPr id="19" name="Picture 18">
            <a:extLst>
              <a:ext uri="{FF2B5EF4-FFF2-40B4-BE49-F238E27FC236}">
                <a16:creationId xmlns:a16="http://schemas.microsoft.com/office/drawing/2014/main" id="{806D134A-0139-33B6-B7C5-1A1EB250EBFB}"/>
              </a:ext>
            </a:extLst>
          </p:cNvPr>
          <p:cNvPicPr>
            <a:picLocks noChangeAspect="1"/>
          </p:cNvPicPr>
          <p:nvPr/>
        </p:nvPicPr>
        <p:blipFill>
          <a:blip r:embed="rId4"/>
          <a:stretch>
            <a:fillRect/>
          </a:stretch>
        </p:blipFill>
        <p:spPr>
          <a:xfrm>
            <a:off x="4290807" y="3218697"/>
            <a:ext cx="4806760" cy="15544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dirty="0"/>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Single-Country Case Study — United Kingdom</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Removing cross-country noise for a controlled test</a:t>
            </a:r>
            <a:endParaRPr lang="en-US" sz="1000" dirty="0"/>
          </a:p>
        </p:txBody>
      </p:sp>
      <p:sp>
        <p:nvSpPr>
          <p:cNvPr id="6" name="Shape 4"/>
          <p:cNvSpPr/>
          <p:nvPr/>
        </p:nvSpPr>
        <p:spPr>
          <a:xfrm>
            <a:off x="274320" y="1115568"/>
            <a:ext cx="4297680" cy="292608"/>
          </a:xfrm>
          <a:prstGeom prst="rect">
            <a:avLst/>
          </a:prstGeom>
          <a:solidFill>
            <a:srgbClr val="010F2F"/>
          </a:solidFill>
          <a:ln w="12700">
            <a:solidFill>
              <a:srgbClr val="000000"/>
            </a:solidFill>
            <a:prstDash val="solid"/>
          </a:ln>
        </p:spPr>
        <p:txBody>
          <a:bodyPr/>
          <a:lstStyle/>
          <a:p>
            <a:endParaRPr lang="en-PK"/>
          </a:p>
        </p:txBody>
      </p:sp>
      <p:sp>
        <p:nvSpPr>
          <p:cNvPr id="7" name="Text 5"/>
          <p:cNvSpPr/>
          <p:nvPr/>
        </p:nvSpPr>
        <p:spPr>
          <a:xfrm>
            <a:off x="274320" y="111556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Why UK? Why Single Country?</a:t>
            </a:r>
            <a:endParaRPr lang="en-US" sz="1100" dirty="0"/>
          </a:p>
        </p:txBody>
      </p:sp>
      <p:sp>
        <p:nvSpPr>
          <p:cNvPr id="8" name="Text 6"/>
          <p:cNvSpPr/>
          <p:nvPr/>
        </p:nvSpPr>
        <p:spPr>
          <a:xfrm>
            <a:off x="274320" y="1499616"/>
            <a:ext cx="4297680" cy="1005840"/>
          </a:xfrm>
          <a:prstGeom prst="rect">
            <a:avLst/>
          </a:prstGeom>
          <a:noFill/>
          <a:ln/>
        </p:spPr>
        <p:txBody>
          <a:bodyPr wrap="square" rtlCol="0" anchor="t"/>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Global model mixes 100+ countries — Nigeria, Germany, China — all adding noise</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UK: high quality, consistent, well-measured data over decades</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Single-country test: can the model learn ONE economy's temporal patterns?</a:t>
            </a:r>
            <a:endParaRPr lang="en-US" sz="1100" dirty="0"/>
          </a:p>
        </p:txBody>
      </p:sp>
      <p:sp>
        <p:nvSpPr>
          <p:cNvPr id="9" name="Shape 7"/>
          <p:cNvSpPr/>
          <p:nvPr/>
        </p:nvSpPr>
        <p:spPr>
          <a:xfrm>
            <a:off x="274320" y="2578608"/>
            <a:ext cx="4297680" cy="292608"/>
          </a:xfrm>
          <a:prstGeom prst="rect">
            <a:avLst/>
          </a:prstGeom>
          <a:solidFill>
            <a:srgbClr val="010F2F"/>
          </a:solidFill>
          <a:ln w="12700">
            <a:solidFill>
              <a:srgbClr val="000000"/>
            </a:solidFill>
            <a:prstDash val="solid"/>
          </a:ln>
        </p:spPr>
        <p:txBody>
          <a:bodyPr/>
          <a:lstStyle/>
          <a:p>
            <a:endParaRPr lang="en-PK"/>
          </a:p>
        </p:txBody>
      </p:sp>
      <p:sp>
        <p:nvSpPr>
          <p:cNvPr id="10" name="Text 8"/>
          <p:cNvSpPr/>
          <p:nvPr/>
        </p:nvSpPr>
        <p:spPr>
          <a:xfrm>
            <a:off x="274320" y="257860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UK Results — All Models</a:t>
            </a:r>
            <a:endParaRPr lang="en-US" sz="1100" dirty="0"/>
          </a:p>
        </p:txBody>
      </p:sp>
      <p:sp>
        <p:nvSpPr>
          <p:cNvPr id="11" name="Shape 9"/>
          <p:cNvSpPr/>
          <p:nvPr/>
        </p:nvSpPr>
        <p:spPr>
          <a:xfrm>
            <a:off x="274320" y="2962656"/>
            <a:ext cx="4297680" cy="301752"/>
          </a:xfrm>
          <a:prstGeom prst="rect">
            <a:avLst/>
          </a:prstGeom>
          <a:solidFill>
            <a:srgbClr val="FFFFFF"/>
          </a:solidFill>
          <a:ln w="12700">
            <a:solidFill>
              <a:srgbClr val="CCCCCC"/>
            </a:solidFill>
            <a:prstDash val="solid"/>
          </a:ln>
        </p:spPr>
        <p:txBody>
          <a:bodyPr/>
          <a:lstStyle/>
          <a:p>
            <a:endParaRPr lang="en-PK"/>
          </a:p>
        </p:txBody>
      </p:sp>
      <p:sp>
        <p:nvSpPr>
          <p:cNvPr id="12" name="Text 10"/>
          <p:cNvSpPr/>
          <p:nvPr/>
        </p:nvSpPr>
        <p:spPr>
          <a:xfrm>
            <a:off x="365760" y="2962656"/>
            <a:ext cx="2926080" cy="301752"/>
          </a:xfrm>
          <a:prstGeom prst="rect">
            <a:avLst/>
          </a:prstGeom>
          <a:noFill/>
          <a:ln/>
        </p:spPr>
        <p:txBody>
          <a:bodyPr wrap="square" rtlCol="0" anchor="ctr"/>
          <a:lstStyle/>
          <a:p>
            <a:pPr marL="0" indent="0">
              <a:buNone/>
            </a:pPr>
            <a:r>
              <a:rPr lang="en-US" sz="1050" dirty="0">
                <a:solidFill>
                  <a:srgbClr val="000000"/>
                </a:solidFill>
                <a:latin typeface="Calibri" pitchFamily="34" charset="0"/>
                <a:ea typeface="Calibri" pitchFamily="34" charset="-122"/>
                <a:cs typeface="Calibri" pitchFamily="34" charset="-120"/>
              </a:rPr>
              <a:t>Baseline (Mean)</a:t>
            </a:r>
            <a:endParaRPr lang="en-US" sz="1050" dirty="0"/>
          </a:p>
        </p:txBody>
      </p:sp>
      <p:sp>
        <p:nvSpPr>
          <p:cNvPr id="13" name="Text 11"/>
          <p:cNvSpPr/>
          <p:nvPr/>
        </p:nvSpPr>
        <p:spPr>
          <a:xfrm>
            <a:off x="3383280" y="2962656"/>
            <a:ext cx="914400" cy="301752"/>
          </a:xfrm>
          <a:prstGeom prst="rect">
            <a:avLst/>
          </a:prstGeom>
          <a:noFill/>
          <a:ln/>
        </p:spPr>
        <p:txBody>
          <a:bodyPr wrap="square" rtlCol="0" anchor="ctr"/>
          <a:lstStyle/>
          <a:p>
            <a:pPr marL="0" indent="0" algn="r">
              <a:buNone/>
            </a:pPr>
            <a:r>
              <a:rPr lang="en-US" sz="1050" dirty="0">
                <a:solidFill>
                  <a:srgbClr val="000000"/>
                </a:solidFill>
                <a:latin typeface="Calibri" pitchFamily="34" charset="0"/>
                <a:ea typeface="Calibri" pitchFamily="34" charset="-122"/>
                <a:cs typeface="Calibri" pitchFamily="34" charset="-120"/>
              </a:rPr>
              <a:t>R² = -0.064</a:t>
            </a:r>
            <a:endParaRPr lang="en-US" sz="1050" dirty="0"/>
          </a:p>
        </p:txBody>
      </p:sp>
      <p:sp>
        <p:nvSpPr>
          <p:cNvPr id="14" name="Shape 12"/>
          <p:cNvSpPr/>
          <p:nvPr/>
        </p:nvSpPr>
        <p:spPr>
          <a:xfrm>
            <a:off x="274320" y="3310128"/>
            <a:ext cx="4297680" cy="301752"/>
          </a:xfrm>
          <a:prstGeom prst="rect">
            <a:avLst/>
          </a:prstGeom>
          <a:solidFill>
            <a:srgbClr val="F5F5F5"/>
          </a:solidFill>
          <a:ln w="12700">
            <a:solidFill>
              <a:srgbClr val="CCCCCC"/>
            </a:solidFill>
            <a:prstDash val="solid"/>
          </a:ln>
        </p:spPr>
        <p:txBody>
          <a:bodyPr/>
          <a:lstStyle/>
          <a:p>
            <a:endParaRPr lang="en-PK"/>
          </a:p>
        </p:txBody>
      </p:sp>
      <p:sp>
        <p:nvSpPr>
          <p:cNvPr id="15" name="Text 13"/>
          <p:cNvSpPr/>
          <p:nvPr/>
        </p:nvSpPr>
        <p:spPr>
          <a:xfrm>
            <a:off x="365760" y="3310128"/>
            <a:ext cx="2926080" cy="301752"/>
          </a:xfrm>
          <a:prstGeom prst="rect">
            <a:avLst/>
          </a:prstGeom>
          <a:noFill/>
          <a:ln/>
        </p:spPr>
        <p:txBody>
          <a:bodyPr wrap="square" rtlCol="0" anchor="ctr"/>
          <a:lstStyle/>
          <a:p>
            <a:pPr marL="0" indent="0">
              <a:buNone/>
            </a:pPr>
            <a:r>
              <a:rPr lang="en-US" sz="1050" b="1" dirty="0">
                <a:solidFill>
                  <a:srgbClr val="000000"/>
                </a:solidFill>
                <a:latin typeface="Calibri" pitchFamily="34" charset="0"/>
                <a:ea typeface="Calibri" pitchFamily="34" charset="-122"/>
                <a:cs typeface="Calibri" pitchFamily="34" charset="-120"/>
              </a:rPr>
              <a:t>Ridge Regression</a:t>
            </a:r>
            <a:endParaRPr lang="en-US" sz="1050" dirty="0"/>
          </a:p>
        </p:txBody>
      </p:sp>
      <p:sp>
        <p:nvSpPr>
          <p:cNvPr id="16" name="Text 14"/>
          <p:cNvSpPr/>
          <p:nvPr/>
        </p:nvSpPr>
        <p:spPr>
          <a:xfrm>
            <a:off x="3383280" y="3310128"/>
            <a:ext cx="914400" cy="301752"/>
          </a:xfrm>
          <a:prstGeom prst="rect">
            <a:avLst/>
          </a:prstGeom>
          <a:noFill/>
          <a:ln/>
        </p:spPr>
        <p:txBody>
          <a:bodyPr wrap="square" rtlCol="0" anchor="ctr"/>
          <a:lstStyle/>
          <a:p>
            <a:pPr marL="0" indent="0" algn="r">
              <a:buNone/>
            </a:pPr>
            <a:r>
              <a:rPr lang="en-US" sz="1050" b="1" dirty="0">
                <a:solidFill>
                  <a:srgbClr val="000000"/>
                </a:solidFill>
                <a:latin typeface="Calibri" pitchFamily="34" charset="0"/>
                <a:ea typeface="Calibri" pitchFamily="34" charset="-122"/>
                <a:cs typeface="Calibri" pitchFamily="34" charset="-120"/>
              </a:rPr>
              <a:t>R² = 0.35+</a:t>
            </a:r>
            <a:endParaRPr lang="en-US" sz="1050" dirty="0"/>
          </a:p>
        </p:txBody>
      </p:sp>
      <p:sp>
        <p:nvSpPr>
          <p:cNvPr id="17" name="Shape 15"/>
          <p:cNvSpPr/>
          <p:nvPr/>
        </p:nvSpPr>
        <p:spPr>
          <a:xfrm>
            <a:off x="274320" y="3657600"/>
            <a:ext cx="4297680" cy="301752"/>
          </a:xfrm>
          <a:prstGeom prst="rect">
            <a:avLst/>
          </a:prstGeom>
          <a:solidFill>
            <a:srgbClr val="FFFFFF"/>
          </a:solidFill>
          <a:ln w="12700">
            <a:solidFill>
              <a:srgbClr val="CCCCCC"/>
            </a:solidFill>
            <a:prstDash val="solid"/>
          </a:ln>
        </p:spPr>
        <p:txBody>
          <a:bodyPr/>
          <a:lstStyle/>
          <a:p>
            <a:endParaRPr lang="en-PK"/>
          </a:p>
        </p:txBody>
      </p:sp>
      <p:sp>
        <p:nvSpPr>
          <p:cNvPr id="18" name="Text 16"/>
          <p:cNvSpPr/>
          <p:nvPr/>
        </p:nvSpPr>
        <p:spPr>
          <a:xfrm>
            <a:off x="365760" y="3657600"/>
            <a:ext cx="2926080" cy="301752"/>
          </a:xfrm>
          <a:prstGeom prst="rect">
            <a:avLst/>
          </a:prstGeom>
          <a:noFill/>
          <a:ln/>
        </p:spPr>
        <p:txBody>
          <a:bodyPr wrap="square" rtlCol="0" anchor="ctr"/>
          <a:lstStyle/>
          <a:p>
            <a:pPr marL="0" indent="0">
              <a:buNone/>
            </a:pPr>
            <a:r>
              <a:rPr lang="en-US" sz="1050" dirty="0">
                <a:solidFill>
                  <a:srgbClr val="000000"/>
                </a:solidFill>
                <a:latin typeface="Calibri" pitchFamily="34" charset="0"/>
                <a:ea typeface="Calibri" pitchFamily="34" charset="-122"/>
                <a:cs typeface="Calibri" pitchFamily="34" charset="-120"/>
              </a:rPr>
              <a:t>Random Forest</a:t>
            </a:r>
            <a:endParaRPr lang="en-US" sz="1050" dirty="0"/>
          </a:p>
        </p:txBody>
      </p:sp>
      <p:sp>
        <p:nvSpPr>
          <p:cNvPr id="19" name="Text 17"/>
          <p:cNvSpPr/>
          <p:nvPr/>
        </p:nvSpPr>
        <p:spPr>
          <a:xfrm>
            <a:off x="3383280" y="3657600"/>
            <a:ext cx="914400" cy="301752"/>
          </a:xfrm>
          <a:prstGeom prst="rect">
            <a:avLst/>
          </a:prstGeom>
          <a:noFill/>
          <a:ln/>
        </p:spPr>
        <p:txBody>
          <a:bodyPr wrap="square" rtlCol="0" anchor="ctr"/>
          <a:lstStyle/>
          <a:p>
            <a:pPr marL="0" indent="0" algn="r">
              <a:buNone/>
            </a:pPr>
            <a:r>
              <a:rPr lang="en-US" sz="1050" dirty="0">
                <a:solidFill>
                  <a:srgbClr val="000000"/>
                </a:solidFill>
                <a:latin typeface="Calibri" pitchFamily="34" charset="0"/>
                <a:ea typeface="Calibri" pitchFamily="34" charset="-122"/>
                <a:cs typeface="Calibri" pitchFamily="34" charset="-120"/>
              </a:rPr>
              <a:t>R² = 0.30+</a:t>
            </a:r>
            <a:endParaRPr lang="en-US" sz="1050" dirty="0"/>
          </a:p>
        </p:txBody>
      </p:sp>
      <p:sp>
        <p:nvSpPr>
          <p:cNvPr id="20" name="Shape 18"/>
          <p:cNvSpPr/>
          <p:nvPr/>
        </p:nvSpPr>
        <p:spPr>
          <a:xfrm>
            <a:off x="274320" y="4005072"/>
            <a:ext cx="4297680" cy="301752"/>
          </a:xfrm>
          <a:prstGeom prst="rect">
            <a:avLst/>
          </a:prstGeom>
          <a:solidFill>
            <a:srgbClr val="FFFFFF"/>
          </a:solidFill>
          <a:ln w="12700">
            <a:solidFill>
              <a:srgbClr val="CCCCCC"/>
            </a:solidFill>
            <a:prstDash val="solid"/>
          </a:ln>
        </p:spPr>
        <p:txBody>
          <a:bodyPr/>
          <a:lstStyle/>
          <a:p>
            <a:endParaRPr lang="en-PK"/>
          </a:p>
        </p:txBody>
      </p:sp>
      <p:sp>
        <p:nvSpPr>
          <p:cNvPr id="21" name="Text 19"/>
          <p:cNvSpPr/>
          <p:nvPr/>
        </p:nvSpPr>
        <p:spPr>
          <a:xfrm>
            <a:off x="365760" y="4005072"/>
            <a:ext cx="2926080" cy="301752"/>
          </a:xfrm>
          <a:prstGeom prst="rect">
            <a:avLst/>
          </a:prstGeom>
          <a:noFill/>
          <a:ln/>
        </p:spPr>
        <p:txBody>
          <a:bodyPr wrap="square" rtlCol="0" anchor="ctr"/>
          <a:lstStyle/>
          <a:p>
            <a:pPr marL="0" indent="0">
              <a:buNone/>
            </a:pPr>
            <a:r>
              <a:rPr lang="en-US" sz="1050" dirty="0">
                <a:solidFill>
                  <a:srgbClr val="000000"/>
                </a:solidFill>
                <a:latin typeface="Calibri" pitchFamily="34" charset="0"/>
                <a:ea typeface="Calibri" pitchFamily="34" charset="-122"/>
                <a:cs typeface="Calibri" pitchFamily="34" charset="-120"/>
              </a:rPr>
              <a:t>Gradient Boosting</a:t>
            </a:r>
            <a:endParaRPr lang="en-US" sz="1050" dirty="0"/>
          </a:p>
        </p:txBody>
      </p:sp>
      <p:sp>
        <p:nvSpPr>
          <p:cNvPr id="22" name="Text 20"/>
          <p:cNvSpPr/>
          <p:nvPr/>
        </p:nvSpPr>
        <p:spPr>
          <a:xfrm>
            <a:off x="3383280" y="4005072"/>
            <a:ext cx="914400" cy="301752"/>
          </a:xfrm>
          <a:prstGeom prst="rect">
            <a:avLst/>
          </a:prstGeom>
          <a:noFill/>
          <a:ln/>
        </p:spPr>
        <p:txBody>
          <a:bodyPr wrap="square" rtlCol="0" anchor="ctr"/>
          <a:lstStyle/>
          <a:p>
            <a:pPr marL="0" indent="0" algn="r">
              <a:buNone/>
            </a:pPr>
            <a:r>
              <a:rPr lang="en-US" sz="1050" dirty="0">
                <a:solidFill>
                  <a:srgbClr val="000000"/>
                </a:solidFill>
                <a:latin typeface="Calibri" pitchFamily="34" charset="0"/>
                <a:ea typeface="Calibri" pitchFamily="34" charset="-122"/>
                <a:cs typeface="Calibri" pitchFamily="34" charset="-120"/>
              </a:rPr>
              <a:t>R² = 0.25+</a:t>
            </a:r>
            <a:endParaRPr lang="en-US" sz="1050" dirty="0"/>
          </a:p>
        </p:txBody>
      </p:sp>
      <p:sp>
        <p:nvSpPr>
          <p:cNvPr id="23" name="Shape 21"/>
          <p:cNvSpPr/>
          <p:nvPr/>
        </p:nvSpPr>
        <p:spPr>
          <a:xfrm>
            <a:off x="274320" y="4425696"/>
            <a:ext cx="4297680" cy="292608"/>
          </a:xfrm>
          <a:prstGeom prst="rect">
            <a:avLst/>
          </a:prstGeom>
          <a:solidFill>
            <a:srgbClr val="010F2F"/>
          </a:solidFill>
          <a:ln w="12700">
            <a:solidFill>
              <a:srgbClr val="000000"/>
            </a:solidFill>
            <a:prstDash val="solid"/>
          </a:ln>
        </p:spPr>
        <p:txBody>
          <a:bodyPr/>
          <a:lstStyle/>
          <a:p>
            <a:endParaRPr lang="en-PK"/>
          </a:p>
        </p:txBody>
      </p:sp>
      <p:sp>
        <p:nvSpPr>
          <p:cNvPr id="24" name="Text 22"/>
          <p:cNvSpPr/>
          <p:nvPr/>
        </p:nvSpPr>
        <p:spPr>
          <a:xfrm>
            <a:off x="274320" y="4425696"/>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the UK Timeline Plot Shows</a:t>
            </a:r>
            <a:endParaRPr lang="en-US" sz="1100" dirty="0"/>
          </a:p>
        </p:txBody>
      </p:sp>
      <p:sp>
        <p:nvSpPr>
          <p:cNvPr id="25" name="Text 23"/>
          <p:cNvSpPr/>
          <p:nvPr/>
        </p:nvSpPr>
        <p:spPr>
          <a:xfrm>
            <a:off x="274320" y="4809744"/>
            <a:ext cx="4297680" cy="621792"/>
          </a:xfrm>
          <a:prstGeom prst="rect">
            <a:avLst/>
          </a:prstGeom>
          <a:noFill/>
          <a:ln/>
        </p:spPr>
        <p:txBody>
          <a:bodyPr wrap="square" rtlCol="0" anchor="t"/>
          <a:lstStyle/>
          <a:p>
            <a:pPr marL="0" indent="0">
              <a:buNone/>
            </a:pPr>
            <a:r>
              <a:rPr lang="en-US" sz="1050" dirty="0">
                <a:solidFill>
                  <a:srgbClr val="555555"/>
                </a:solidFill>
                <a:latin typeface="Calibri" pitchFamily="34" charset="0"/>
                <a:ea typeface="Calibri" pitchFamily="34" charset="-122"/>
                <a:cs typeface="Calibri" pitchFamily="34" charset="-120"/>
              </a:rPr>
              <a:t>Black line = Actual UK GDP.   Coloured lines = Model predictions.   Red shaded area = COVID (2020–21) shown but excluded from evaluation.   Models track stable years reasonably well but cannot predict black swan events.</a:t>
            </a:r>
            <a:endParaRPr lang="en-US" sz="1050" dirty="0"/>
          </a:p>
        </p:txBody>
      </p:sp>
      <p:sp>
        <p:nvSpPr>
          <p:cNvPr id="28" name="Shape 26"/>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29" name="Text 27"/>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Removing 100-country noise → cleaner signal. COVID band shows model honesty — we acknowledge what models cannot predict.</a:t>
            </a:r>
            <a:endParaRPr lang="en-US" sz="1000" dirty="0"/>
          </a:p>
        </p:txBody>
      </p:sp>
      <p:pic>
        <p:nvPicPr>
          <p:cNvPr id="30" name="Picture 29">
            <a:extLst>
              <a:ext uri="{FF2B5EF4-FFF2-40B4-BE49-F238E27FC236}">
                <a16:creationId xmlns:a16="http://schemas.microsoft.com/office/drawing/2014/main" id="{381E0E5B-2EA9-9F8F-D0D0-B97A4163FD04}"/>
              </a:ext>
            </a:extLst>
          </p:cNvPr>
          <p:cNvPicPr>
            <a:picLocks noChangeAspect="1"/>
          </p:cNvPicPr>
          <p:nvPr/>
        </p:nvPicPr>
        <p:blipFill>
          <a:blip r:embed="rId3"/>
          <a:stretch>
            <a:fillRect/>
          </a:stretch>
        </p:blipFill>
        <p:spPr>
          <a:xfrm>
            <a:off x="4572000" y="1800133"/>
            <a:ext cx="4586506" cy="189367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Noise Simulation Experiment — Section 11.2</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Validating models learn signal, not noise</a:t>
            </a:r>
            <a:endParaRPr lang="en-US" sz="1000" dirty="0"/>
          </a:p>
        </p:txBody>
      </p:sp>
      <p:sp>
        <p:nvSpPr>
          <p:cNvPr id="6" name="Shape 4"/>
          <p:cNvSpPr/>
          <p:nvPr/>
        </p:nvSpPr>
        <p:spPr>
          <a:xfrm>
            <a:off x="228600" y="1037844"/>
            <a:ext cx="4297680" cy="292608"/>
          </a:xfrm>
          <a:prstGeom prst="rect">
            <a:avLst/>
          </a:prstGeom>
          <a:solidFill>
            <a:srgbClr val="010F2F"/>
          </a:solidFill>
          <a:ln w="12700">
            <a:solidFill>
              <a:srgbClr val="000000"/>
            </a:solidFill>
            <a:prstDash val="solid"/>
          </a:ln>
        </p:spPr>
        <p:txBody>
          <a:bodyPr/>
          <a:lstStyle/>
          <a:p>
            <a:endParaRPr lang="en-PK"/>
          </a:p>
        </p:txBody>
      </p:sp>
      <p:sp>
        <p:nvSpPr>
          <p:cNvPr id="7" name="Text 5"/>
          <p:cNvSpPr/>
          <p:nvPr/>
        </p:nvSpPr>
        <p:spPr>
          <a:xfrm>
            <a:off x="274320" y="969264"/>
            <a:ext cx="4297680"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Did We Do? (sklearn + PyTorch)</a:t>
            </a:r>
            <a:endParaRPr lang="en-US" sz="1100" dirty="0"/>
          </a:p>
        </p:txBody>
      </p:sp>
      <p:sp>
        <p:nvSpPr>
          <p:cNvPr id="8" name="Text 6"/>
          <p:cNvSpPr/>
          <p:nvPr/>
        </p:nvSpPr>
        <p:spPr>
          <a:xfrm>
            <a:off x="274320" y="1353312"/>
            <a:ext cx="4297680" cy="1051560"/>
          </a:xfrm>
          <a:prstGeom prst="rect">
            <a:avLst/>
          </a:prstGeom>
          <a:noFill/>
          <a:ln/>
        </p:spPr>
        <p:txBody>
          <a:bodyPr wrap="square" rtlCol="0" anchor="t"/>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Created 2000 synthetic data points with a KNOWN true formula</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Added Gaussian noise at 6 levels: σ = 0, 0.5, 1, 2, 4, 8</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Trained all 3 sklearn models + a PyTorch neural network at each level</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Measured R² at each noise level to plot the degradation curve</a:t>
            </a:r>
            <a:endParaRPr lang="en-US" sz="1100" dirty="0"/>
          </a:p>
        </p:txBody>
      </p:sp>
      <p:sp>
        <p:nvSpPr>
          <p:cNvPr id="9" name="Shape 7"/>
          <p:cNvSpPr/>
          <p:nvPr/>
        </p:nvSpPr>
        <p:spPr>
          <a:xfrm>
            <a:off x="274320" y="2366387"/>
            <a:ext cx="4297680" cy="292608"/>
          </a:xfrm>
          <a:prstGeom prst="rect">
            <a:avLst/>
          </a:prstGeom>
          <a:solidFill>
            <a:srgbClr val="010F2F"/>
          </a:solidFill>
          <a:ln w="12700">
            <a:solidFill>
              <a:srgbClr val="000000"/>
            </a:solidFill>
            <a:prstDash val="solid"/>
          </a:ln>
        </p:spPr>
        <p:txBody>
          <a:bodyPr/>
          <a:lstStyle/>
          <a:p>
            <a:endParaRPr lang="en-PK"/>
          </a:p>
        </p:txBody>
      </p:sp>
      <p:sp>
        <p:nvSpPr>
          <p:cNvPr id="10" name="Text 8"/>
          <p:cNvSpPr/>
          <p:nvPr/>
        </p:nvSpPr>
        <p:spPr>
          <a:xfrm>
            <a:off x="274320" y="2372868"/>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PyTorch Neural Network Architecture</a:t>
            </a:r>
            <a:endParaRPr lang="en-US" sz="1100" dirty="0"/>
          </a:p>
        </p:txBody>
      </p:sp>
      <p:sp>
        <p:nvSpPr>
          <p:cNvPr id="11" name="Text 9"/>
          <p:cNvSpPr/>
          <p:nvPr/>
        </p:nvSpPr>
        <p:spPr>
          <a:xfrm>
            <a:off x="274320" y="2706875"/>
            <a:ext cx="4297680" cy="1005840"/>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2 hidden layers (32 → 16 neurons, ReLU activation). </a:t>
            </a:r>
          </a:p>
          <a:p>
            <a:pPr marL="0" indent="0">
              <a:buNone/>
            </a:pPr>
            <a:r>
              <a:rPr lang="en-US" sz="1100" dirty="0">
                <a:solidFill>
                  <a:srgbClr val="555555"/>
                </a:solidFill>
                <a:latin typeface="Calibri" pitchFamily="34" charset="0"/>
                <a:ea typeface="Calibri" pitchFamily="34" charset="-122"/>
                <a:cs typeface="Calibri" pitchFamily="34" charset="-120"/>
              </a:rPr>
              <a:t>Adam optimiser.  MSE loss function.  200 training epochs.</a:t>
            </a:r>
          </a:p>
          <a:p>
            <a:pPr marL="0" indent="0">
              <a:buNone/>
            </a:pPr>
            <a:endParaRPr lang="en-US" sz="1100" dirty="0"/>
          </a:p>
          <a:p>
            <a:pPr marL="0" indent="0">
              <a:buNone/>
            </a:pPr>
            <a:r>
              <a:rPr lang="en-US" sz="1100" dirty="0">
                <a:solidFill>
                  <a:srgbClr val="555555"/>
                </a:solidFill>
                <a:latin typeface="Calibri" pitchFamily="34" charset="0"/>
                <a:ea typeface="Calibri" pitchFamily="34" charset="-122"/>
                <a:cs typeface="Calibri" pitchFamily="34" charset="-120"/>
              </a:rPr>
              <a:t>Purpose: proves even deep learning degrades with noise neural networks are NOT a silver bullet for inherently noisy economic data.</a:t>
            </a:r>
            <a:endParaRPr lang="en-US" sz="1100" dirty="0"/>
          </a:p>
        </p:txBody>
      </p:sp>
      <p:sp>
        <p:nvSpPr>
          <p:cNvPr id="12" name="Shape 10"/>
          <p:cNvSpPr/>
          <p:nvPr/>
        </p:nvSpPr>
        <p:spPr>
          <a:xfrm>
            <a:off x="274320" y="3721031"/>
            <a:ext cx="4297680" cy="219841"/>
          </a:xfrm>
          <a:prstGeom prst="rect">
            <a:avLst/>
          </a:prstGeom>
          <a:solidFill>
            <a:srgbClr val="010F2F"/>
          </a:solidFill>
          <a:ln w="12700">
            <a:solidFill>
              <a:srgbClr val="000000"/>
            </a:solidFill>
            <a:prstDash val="solid"/>
          </a:ln>
        </p:spPr>
        <p:txBody>
          <a:bodyPr/>
          <a:lstStyle/>
          <a:p>
            <a:endParaRPr lang="en-PK"/>
          </a:p>
        </p:txBody>
      </p:sp>
      <p:sp>
        <p:nvSpPr>
          <p:cNvPr id="13" name="Text 11"/>
          <p:cNvSpPr/>
          <p:nvPr/>
        </p:nvSpPr>
        <p:spPr>
          <a:xfrm>
            <a:off x="274320" y="3684647"/>
            <a:ext cx="429768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 Key Findings</a:t>
            </a:r>
            <a:endParaRPr lang="en-US" sz="1100" dirty="0"/>
          </a:p>
        </p:txBody>
      </p:sp>
      <p:sp>
        <p:nvSpPr>
          <p:cNvPr id="15" name="Text 13"/>
          <p:cNvSpPr/>
          <p:nvPr/>
        </p:nvSpPr>
        <p:spPr>
          <a:xfrm>
            <a:off x="365760" y="3896692"/>
            <a:ext cx="822960" cy="347472"/>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~1.0</a:t>
            </a:r>
            <a:endParaRPr lang="en-US" sz="1100" dirty="0"/>
          </a:p>
        </p:txBody>
      </p:sp>
      <p:sp>
        <p:nvSpPr>
          <p:cNvPr id="16" name="Text 14"/>
          <p:cNvSpPr/>
          <p:nvPr/>
        </p:nvSpPr>
        <p:spPr>
          <a:xfrm>
            <a:off x="1280160" y="3962718"/>
            <a:ext cx="3246120" cy="34747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R² at σ=0 — Models learn perfectly when the signal is clean</a:t>
            </a:r>
            <a:endParaRPr lang="en-US" sz="1050" dirty="0"/>
          </a:p>
        </p:txBody>
      </p:sp>
      <p:sp>
        <p:nvSpPr>
          <p:cNvPr id="18" name="Text 16"/>
          <p:cNvSpPr/>
          <p:nvPr/>
        </p:nvSpPr>
        <p:spPr>
          <a:xfrm>
            <a:off x="365760" y="4228237"/>
            <a:ext cx="822960" cy="347472"/>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~0.0</a:t>
            </a:r>
            <a:endParaRPr lang="en-US" sz="1100" dirty="0"/>
          </a:p>
        </p:txBody>
      </p:sp>
      <p:sp>
        <p:nvSpPr>
          <p:cNvPr id="19" name="Text 17"/>
          <p:cNvSpPr/>
          <p:nvPr/>
        </p:nvSpPr>
        <p:spPr>
          <a:xfrm>
            <a:off x="1280160" y="4269151"/>
            <a:ext cx="3246120" cy="34747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R² at σ=8 — All models fail when noise overwhelms the signal</a:t>
            </a:r>
            <a:endParaRPr lang="en-US" sz="1050" dirty="0"/>
          </a:p>
        </p:txBody>
      </p:sp>
      <p:sp>
        <p:nvSpPr>
          <p:cNvPr id="21" name="Text 19"/>
          <p:cNvSpPr/>
          <p:nvPr/>
        </p:nvSpPr>
        <p:spPr>
          <a:xfrm>
            <a:off x="320040" y="4581144"/>
            <a:ext cx="822960" cy="347472"/>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Validated</a:t>
            </a:r>
            <a:endParaRPr lang="en-US" sz="1100" dirty="0"/>
          </a:p>
        </p:txBody>
      </p:sp>
      <p:sp>
        <p:nvSpPr>
          <p:cNvPr id="22" name="Text 20"/>
          <p:cNvSpPr/>
          <p:nvPr/>
        </p:nvSpPr>
        <p:spPr>
          <a:xfrm>
            <a:off x="1280160" y="4581144"/>
            <a:ext cx="3246120" cy="347472"/>
          </a:xfrm>
          <a:prstGeom prst="rect">
            <a:avLst/>
          </a:prstGeom>
          <a:noFill/>
          <a:ln/>
        </p:spPr>
        <p:txBody>
          <a:bodyPr wrap="square" rtlCol="0" anchor="ctr"/>
          <a:lstStyle/>
          <a:p>
            <a:pPr marL="0" indent="0">
              <a:buNone/>
            </a:pPr>
            <a:r>
              <a:rPr lang="en-US" sz="1050" dirty="0">
                <a:solidFill>
                  <a:srgbClr val="555555"/>
                </a:solidFill>
                <a:latin typeface="Calibri" pitchFamily="34" charset="0"/>
                <a:ea typeface="Calibri" pitchFamily="34" charset="-122"/>
                <a:cs typeface="Calibri" pitchFamily="34" charset="-120"/>
              </a:rPr>
              <a:t>Real-world R²=0.35 — Modest because GDP data is inherently noisy — not model failure</a:t>
            </a:r>
            <a:endParaRPr lang="en-US" sz="1050" dirty="0"/>
          </a:p>
        </p:txBody>
      </p:sp>
      <p:sp>
        <p:nvSpPr>
          <p:cNvPr id="26" name="Text 24"/>
          <p:cNvSpPr/>
          <p:nvPr/>
        </p:nvSpPr>
        <p:spPr>
          <a:xfrm>
            <a:off x="320040" y="4826691"/>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At σ=0 (zero noise): R²≈1.0 for all models.  At σ=8 (high noise): R²≈0.  Confirms models learn signal, not noise.</a:t>
            </a:r>
            <a:endParaRPr lang="en-US" sz="1000" dirty="0"/>
          </a:p>
        </p:txBody>
      </p:sp>
      <p:pic>
        <p:nvPicPr>
          <p:cNvPr id="28" name="Picture 27">
            <a:extLst>
              <a:ext uri="{FF2B5EF4-FFF2-40B4-BE49-F238E27FC236}">
                <a16:creationId xmlns:a16="http://schemas.microsoft.com/office/drawing/2014/main" id="{67AFBAD1-1CB3-FE70-97EB-229335FF5301}"/>
              </a:ext>
            </a:extLst>
          </p:cNvPr>
          <p:cNvPicPr>
            <a:picLocks noChangeAspect="1"/>
          </p:cNvPicPr>
          <p:nvPr/>
        </p:nvPicPr>
        <p:blipFill>
          <a:blip r:embed="rId3"/>
          <a:stretch>
            <a:fillRect/>
          </a:stretch>
        </p:blipFill>
        <p:spPr>
          <a:xfrm>
            <a:off x="4572000" y="1401909"/>
            <a:ext cx="4481565" cy="23277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Summary, Conclusions &amp; Real-World Impact</a:t>
            </a:r>
            <a:endParaRPr lang="en-US" sz="2200" dirty="0"/>
          </a:p>
        </p:txBody>
      </p:sp>
      <p:sp>
        <p:nvSpPr>
          <p:cNvPr id="4" name="Shape 2"/>
          <p:cNvSpPr/>
          <p:nvPr/>
        </p:nvSpPr>
        <p:spPr>
          <a:xfrm>
            <a:off x="274320" y="777240"/>
            <a:ext cx="8595360" cy="987552"/>
          </a:xfrm>
          <a:prstGeom prst="rect">
            <a:avLst/>
          </a:prstGeom>
          <a:solidFill>
            <a:srgbClr val="F5F5F5"/>
          </a:solidFill>
          <a:ln w="12700">
            <a:solidFill>
              <a:srgbClr val="CCCCCC"/>
            </a:solidFill>
            <a:prstDash val="solid"/>
          </a:ln>
        </p:spPr>
        <p:txBody>
          <a:bodyPr/>
          <a:lstStyle/>
          <a:p>
            <a:endParaRPr lang="en-PK"/>
          </a:p>
        </p:txBody>
      </p:sp>
      <p:sp>
        <p:nvSpPr>
          <p:cNvPr id="5" name="Shape 3"/>
          <p:cNvSpPr/>
          <p:nvPr/>
        </p:nvSpPr>
        <p:spPr>
          <a:xfrm>
            <a:off x="274320" y="777240"/>
            <a:ext cx="64008" cy="987552"/>
          </a:xfrm>
          <a:prstGeom prst="rect">
            <a:avLst/>
          </a:prstGeom>
          <a:solidFill>
            <a:srgbClr val="010F2F"/>
          </a:solidFill>
          <a:ln w="12700">
            <a:solidFill>
              <a:srgbClr val="000000"/>
            </a:solidFill>
            <a:prstDash val="solid"/>
          </a:ln>
        </p:spPr>
        <p:txBody>
          <a:bodyPr/>
          <a:lstStyle/>
          <a:p>
            <a:endParaRPr lang="en-PK"/>
          </a:p>
        </p:txBody>
      </p:sp>
      <p:sp>
        <p:nvSpPr>
          <p:cNvPr id="6" name="Shape 4"/>
          <p:cNvSpPr/>
          <p:nvPr/>
        </p:nvSpPr>
        <p:spPr>
          <a:xfrm>
            <a:off x="411480" y="886968"/>
            <a:ext cx="457200" cy="457200"/>
          </a:xfrm>
          <a:prstGeom prst="rect">
            <a:avLst/>
          </a:prstGeom>
          <a:solidFill>
            <a:srgbClr val="010F2F"/>
          </a:solidFill>
          <a:ln w="12700">
            <a:solidFill>
              <a:srgbClr val="000000"/>
            </a:solidFill>
            <a:prstDash val="solid"/>
          </a:ln>
        </p:spPr>
        <p:txBody>
          <a:bodyPr/>
          <a:lstStyle/>
          <a:p>
            <a:endParaRPr lang="en-PK" dirty="0"/>
          </a:p>
        </p:txBody>
      </p:sp>
      <p:sp>
        <p:nvSpPr>
          <p:cNvPr id="7" name="Text 5"/>
          <p:cNvSpPr/>
          <p:nvPr/>
        </p:nvSpPr>
        <p:spPr>
          <a:xfrm>
            <a:off x="411480" y="88696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87552" y="868680"/>
            <a:ext cx="7680960" cy="32004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Which model best predicts GDP growth?</a:t>
            </a:r>
            <a:endParaRPr lang="en-US" sz="1200" dirty="0"/>
          </a:p>
        </p:txBody>
      </p:sp>
      <p:sp>
        <p:nvSpPr>
          <p:cNvPr id="9" name="Text 7"/>
          <p:cNvSpPr/>
          <p:nvPr/>
        </p:nvSpPr>
        <p:spPr>
          <a:xfrm>
            <a:off x="987552" y="1188720"/>
            <a:ext cx="7680960" cy="502920"/>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Ridge Regression — R²=0.350, RMSE=2.451. Wins because L2 regularisation handles the multicollinearity in our engineered features better than tree-based models.</a:t>
            </a:r>
            <a:endParaRPr lang="en-US" sz="1100" dirty="0"/>
          </a:p>
        </p:txBody>
      </p:sp>
      <p:sp>
        <p:nvSpPr>
          <p:cNvPr id="10" name="Shape 8"/>
          <p:cNvSpPr/>
          <p:nvPr/>
        </p:nvSpPr>
        <p:spPr>
          <a:xfrm>
            <a:off x="274320" y="1874520"/>
            <a:ext cx="8595360" cy="987552"/>
          </a:xfrm>
          <a:prstGeom prst="rect">
            <a:avLst/>
          </a:prstGeom>
          <a:solidFill>
            <a:srgbClr val="F5F5F5"/>
          </a:solidFill>
          <a:ln w="12700">
            <a:solidFill>
              <a:srgbClr val="CCCCCC"/>
            </a:solidFill>
            <a:prstDash val="solid"/>
          </a:ln>
        </p:spPr>
        <p:txBody>
          <a:bodyPr/>
          <a:lstStyle/>
          <a:p>
            <a:endParaRPr lang="en-PK"/>
          </a:p>
        </p:txBody>
      </p:sp>
      <p:sp>
        <p:nvSpPr>
          <p:cNvPr id="11" name="Shape 9"/>
          <p:cNvSpPr/>
          <p:nvPr/>
        </p:nvSpPr>
        <p:spPr>
          <a:xfrm>
            <a:off x="274320" y="1874520"/>
            <a:ext cx="64008" cy="987552"/>
          </a:xfrm>
          <a:prstGeom prst="rect">
            <a:avLst/>
          </a:prstGeom>
          <a:solidFill>
            <a:srgbClr val="010F2F"/>
          </a:solidFill>
          <a:ln w="12700">
            <a:solidFill>
              <a:srgbClr val="000000"/>
            </a:solidFill>
            <a:prstDash val="solid"/>
          </a:ln>
        </p:spPr>
        <p:txBody>
          <a:bodyPr/>
          <a:lstStyle/>
          <a:p>
            <a:endParaRPr lang="en-PK"/>
          </a:p>
        </p:txBody>
      </p:sp>
      <p:sp>
        <p:nvSpPr>
          <p:cNvPr id="12" name="Shape 10"/>
          <p:cNvSpPr/>
          <p:nvPr/>
        </p:nvSpPr>
        <p:spPr>
          <a:xfrm>
            <a:off x="411480" y="1984248"/>
            <a:ext cx="457200" cy="457200"/>
          </a:xfrm>
          <a:prstGeom prst="rect">
            <a:avLst/>
          </a:prstGeom>
          <a:solidFill>
            <a:srgbClr val="010F2F"/>
          </a:solidFill>
          <a:ln w="12700">
            <a:solidFill>
              <a:srgbClr val="000000"/>
            </a:solidFill>
            <a:prstDash val="solid"/>
          </a:ln>
        </p:spPr>
        <p:txBody>
          <a:bodyPr/>
          <a:lstStyle/>
          <a:p>
            <a:endParaRPr lang="en-PK"/>
          </a:p>
        </p:txBody>
      </p:sp>
      <p:sp>
        <p:nvSpPr>
          <p:cNvPr id="13" name="Text 11"/>
          <p:cNvSpPr/>
          <p:nvPr/>
        </p:nvSpPr>
        <p:spPr>
          <a:xfrm>
            <a:off x="411480" y="198424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987552" y="1965960"/>
            <a:ext cx="7680960" cy="32004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Linear vs Non-linear generalisation?</a:t>
            </a:r>
            <a:endParaRPr lang="en-US" sz="1200" dirty="0"/>
          </a:p>
        </p:txBody>
      </p:sp>
      <p:sp>
        <p:nvSpPr>
          <p:cNvPr id="15" name="Text 13"/>
          <p:cNvSpPr/>
          <p:nvPr/>
        </p:nvSpPr>
        <p:spPr>
          <a:xfrm>
            <a:off x="987552" y="2286000"/>
            <a:ext cx="7680960" cy="502920"/>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Ridge generalises better here. Tree models mildly overfit (Gradient Boosting CV gap = -0.045). The temporal split provides a fair forward-looking evaluation.</a:t>
            </a:r>
            <a:endParaRPr lang="en-US" sz="1100" dirty="0"/>
          </a:p>
        </p:txBody>
      </p:sp>
      <p:sp>
        <p:nvSpPr>
          <p:cNvPr id="16" name="Shape 14"/>
          <p:cNvSpPr/>
          <p:nvPr/>
        </p:nvSpPr>
        <p:spPr>
          <a:xfrm>
            <a:off x="274320" y="2971800"/>
            <a:ext cx="8595360" cy="987552"/>
          </a:xfrm>
          <a:prstGeom prst="rect">
            <a:avLst/>
          </a:prstGeom>
          <a:solidFill>
            <a:srgbClr val="F5F5F5"/>
          </a:solidFill>
          <a:ln w="12700">
            <a:solidFill>
              <a:srgbClr val="CCCCCC"/>
            </a:solidFill>
            <a:prstDash val="solid"/>
          </a:ln>
        </p:spPr>
        <p:txBody>
          <a:bodyPr/>
          <a:lstStyle/>
          <a:p>
            <a:endParaRPr lang="en-PK"/>
          </a:p>
        </p:txBody>
      </p:sp>
      <p:sp>
        <p:nvSpPr>
          <p:cNvPr id="17" name="Shape 15"/>
          <p:cNvSpPr/>
          <p:nvPr/>
        </p:nvSpPr>
        <p:spPr>
          <a:xfrm>
            <a:off x="274320" y="2971800"/>
            <a:ext cx="64008" cy="987552"/>
          </a:xfrm>
          <a:prstGeom prst="rect">
            <a:avLst/>
          </a:prstGeom>
          <a:solidFill>
            <a:srgbClr val="010F2F"/>
          </a:solidFill>
          <a:ln w="12700">
            <a:solidFill>
              <a:srgbClr val="000000"/>
            </a:solidFill>
            <a:prstDash val="solid"/>
          </a:ln>
        </p:spPr>
        <p:txBody>
          <a:bodyPr/>
          <a:lstStyle/>
          <a:p>
            <a:endParaRPr lang="en-PK"/>
          </a:p>
        </p:txBody>
      </p:sp>
      <p:sp>
        <p:nvSpPr>
          <p:cNvPr id="18" name="Shape 16"/>
          <p:cNvSpPr/>
          <p:nvPr/>
        </p:nvSpPr>
        <p:spPr>
          <a:xfrm>
            <a:off x="411480" y="3081528"/>
            <a:ext cx="457200" cy="457200"/>
          </a:xfrm>
          <a:prstGeom prst="rect">
            <a:avLst/>
          </a:prstGeom>
          <a:solidFill>
            <a:srgbClr val="010F2F"/>
          </a:solidFill>
          <a:ln w="12700">
            <a:solidFill>
              <a:srgbClr val="000000"/>
            </a:solidFill>
            <a:prstDash val="solid"/>
          </a:ln>
        </p:spPr>
        <p:txBody>
          <a:bodyPr/>
          <a:lstStyle/>
          <a:p>
            <a:endParaRPr lang="en-PK"/>
          </a:p>
        </p:txBody>
      </p:sp>
      <p:sp>
        <p:nvSpPr>
          <p:cNvPr id="19" name="Text 17"/>
          <p:cNvSpPr/>
          <p:nvPr/>
        </p:nvSpPr>
        <p:spPr>
          <a:xfrm>
            <a:off x="411480" y="3081528"/>
            <a:ext cx="4572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987552" y="3063240"/>
            <a:ext cx="7680960" cy="32004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Which features matter most?</a:t>
            </a:r>
            <a:endParaRPr lang="en-US" sz="1200" dirty="0"/>
          </a:p>
        </p:txBody>
      </p:sp>
      <p:sp>
        <p:nvSpPr>
          <p:cNvPr id="21" name="Text 19"/>
          <p:cNvSpPr/>
          <p:nvPr/>
        </p:nvSpPr>
        <p:spPr>
          <a:xfrm>
            <a:off x="987552" y="3383280"/>
            <a:ext cx="7680960" cy="502920"/>
          </a:xfrm>
          <a:prstGeom prst="rect">
            <a:avLst/>
          </a:prstGeom>
          <a:noFill/>
          <a:ln/>
        </p:spPr>
        <p:txBody>
          <a:bodyPr wrap="square" rtlCol="0" anchor="t"/>
          <a:lstStyle/>
          <a:p>
            <a:pPr marL="0" indent="0">
              <a:buNone/>
            </a:pPr>
            <a:r>
              <a:rPr lang="en-US" sz="1100" dirty="0">
                <a:solidFill>
                  <a:srgbClr val="555555"/>
                </a:solidFill>
                <a:latin typeface="Calibri" pitchFamily="34" charset="0"/>
                <a:ea typeface="Calibri" pitchFamily="34" charset="-122"/>
                <a:cs typeface="Calibri" pitchFamily="34" charset="-120"/>
              </a:rPr>
              <a:t>GDP_Growth_lag1 (autocorrelation) and Country_GDP_mean (structural growth rate). Confirmed consistently by MDI, permutation importance, and SHAP values.</a:t>
            </a:r>
            <a:endParaRPr lang="en-US" sz="1100" dirty="0"/>
          </a:p>
        </p:txBody>
      </p:sp>
      <p:sp>
        <p:nvSpPr>
          <p:cNvPr id="22" name="Shape 20"/>
          <p:cNvSpPr/>
          <p:nvPr/>
        </p:nvSpPr>
        <p:spPr>
          <a:xfrm>
            <a:off x="0" y="4251960"/>
            <a:ext cx="9144000" cy="891540"/>
          </a:xfrm>
          <a:prstGeom prst="rect">
            <a:avLst/>
          </a:prstGeom>
          <a:solidFill>
            <a:srgbClr val="010F2F"/>
          </a:solidFill>
          <a:ln w="12700">
            <a:solidFill>
              <a:srgbClr val="000000"/>
            </a:solidFill>
            <a:prstDash val="solid"/>
          </a:ln>
        </p:spPr>
        <p:txBody>
          <a:bodyPr/>
          <a:lstStyle/>
          <a:p>
            <a:endParaRPr lang="en-PK"/>
          </a:p>
        </p:txBody>
      </p:sp>
      <p:sp>
        <p:nvSpPr>
          <p:cNvPr id="23" name="Text 21"/>
          <p:cNvSpPr/>
          <p:nvPr/>
        </p:nvSpPr>
        <p:spPr>
          <a:xfrm>
            <a:off x="320040" y="4270248"/>
            <a:ext cx="8503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Real-World Engineering Value</a:t>
            </a:r>
            <a:endParaRPr lang="en-US" sz="1300" dirty="0"/>
          </a:p>
        </p:txBody>
      </p:sp>
      <p:sp>
        <p:nvSpPr>
          <p:cNvPr id="24" name="Text 22"/>
          <p:cNvSpPr/>
          <p:nvPr/>
        </p:nvSpPr>
        <p:spPr>
          <a:xfrm>
            <a:off x="274320" y="4535424"/>
            <a:ext cx="8503920" cy="530352"/>
          </a:xfrm>
          <a:prstGeom prst="rect">
            <a:avLst/>
          </a:prstGeom>
          <a:noFill/>
          <a:ln/>
        </p:spPr>
        <p:txBody>
          <a:bodyPr wrap="square" rtlCol="0" anchor="t"/>
          <a:lstStyle/>
          <a:p>
            <a:pPr marL="0" indent="0">
              <a:buNone/>
            </a:pPr>
            <a:r>
              <a:rPr lang="en-US" sz="1050" dirty="0">
                <a:solidFill>
                  <a:srgbClr val="AAAAAA"/>
                </a:solidFill>
                <a:latin typeface="Calibri" pitchFamily="34" charset="0"/>
                <a:ea typeface="Calibri" pitchFamily="34" charset="-122"/>
                <a:cs typeface="Calibri" pitchFamily="34" charset="-120"/>
              </a:rPr>
              <a:t>This project shows that freely available World Bank data + ML can produce GDP forecasts (R²≈0.35) matching published academic benchmarks — making economic forecasting accessible without proprietary data or complex econometric models.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dirty="0">
              <a:solidFill>
                <a:srgbClr val="010F2F"/>
              </a:solidFill>
            </a:endParaRPr>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Limitations</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dirty="0"/>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What the model cannot do and why</a:t>
            </a:r>
            <a:endParaRPr lang="en-US" sz="1000" dirty="0"/>
          </a:p>
        </p:txBody>
      </p:sp>
      <p:sp>
        <p:nvSpPr>
          <p:cNvPr id="6" name="Shape 4"/>
          <p:cNvSpPr/>
          <p:nvPr/>
        </p:nvSpPr>
        <p:spPr>
          <a:xfrm>
            <a:off x="274320" y="1024128"/>
            <a:ext cx="4206240" cy="1078992"/>
          </a:xfrm>
          <a:prstGeom prst="rect">
            <a:avLst/>
          </a:prstGeom>
          <a:solidFill>
            <a:srgbClr val="FFFFFF"/>
          </a:solidFill>
          <a:ln w="12700">
            <a:solidFill>
              <a:srgbClr val="CCCCCC"/>
            </a:solidFill>
            <a:prstDash val="solid"/>
          </a:ln>
        </p:spPr>
        <p:txBody>
          <a:bodyPr/>
          <a:lstStyle/>
          <a:p>
            <a:endParaRPr lang="en-PK"/>
          </a:p>
        </p:txBody>
      </p:sp>
      <p:sp>
        <p:nvSpPr>
          <p:cNvPr id="7" name="Shape 5"/>
          <p:cNvSpPr/>
          <p:nvPr/>
        </p:nvSpPr>
        <p:spPr>
          <a:xfrm>
            <a:off x="274320" y="1024128"/>
            <a:ext cx="54864" cy="1078992"/>
          </a:xfrm>
          <a:prstGeom prst="rect">
            <a:avLst/>
          </a:prstGeom>
          <a:solidFill>
            <a:srgbClr val="010F2F"/>
          </a:solidFill>
          <a:ln w="12700">
            <a:solidFill>
              <a:srgbClr val="000000"/>
            </a:solidFill>
            <a:prstDash val="solid"/>
          </a:ln>
        </p:spPr>
        <p:txBody>
          <a:bodyPr/>
          <a:lstStyle/>
          <a:p>
            <a:endParaRPr lang="en-PK"/>
          </a:p>
        </p:txBody>
      </p:sp>
      <p:sp>
        <p:nvSpPr>
          <p:cNvPr id="8" name="Shape 6"/>
          <p:cNvSpPr/>
          <p:nvPr/>
        </p:nvSpPr>
        <p:spPr>
          <a:xfrm>
            <a:off x="384048" y="1133856"/>
            <a:ext cx="310896" cy="310896"/>
          </a:xfrm>
          <a:prstGeom prst="ellipse">
            <a:avLst/>
          </a:prstGeom>
          <a:solidFill>
            <a:srgbClr val="010F2F"/>
          </a:solidFill>
          <a:ln w="12700">
            <a:solidFill>
              <a:srgbClr val="000000"/>
            </a:solidFill>
            <a:prstDash val="solid"/>
          </a:ln>
        </p:spPr>
        <p:txBody>
          <a:bodyPr/>
          <a:lstStyle/>
          <a:p>
            <a:endParaRPr lang="en-PK"/>
          </a:p>
        </p:txBody>
      </p:sp>
      <p:sp>
        <p:nvSpPr>
          <p:cNvPr id="9" name="Text 7"/>
          <p:cNvSpPr/>
          <p:nvPr/>
        </p:nvSpPr>
        <p:spPr>
          <a:xfrm>
            <a:off x="384048" y="1133856"/>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10" name="Text 8"/>
          <p:cNvSpPr/>
          <p:nvPr/>
        </p:nvSpPr>
        <p:spPr>
          <a:xfrm>
            <a:off x="804672" y="1097280"/>
            <a:ext cx="3611880" cy="27432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COVID excluded</a:t>
            </a:r>
            <a:endParaRPr lang="en-US" sz="1200" dirty="0"/>
          </a:p>
        </p:txBody>
      </p:sp>
      <p:sp>
        <p:nvSpPr>
          <p:cNvPr id="11" name="Text 9"/>
          <p:cNvSpPr/>
          <p:nvPr/>
        </p:nvSpPr>
        <p:spPr>
          <a:xfrm>
            <a:off x="804672" y="1408176"/>
            <a:ext cx="3611880" cy="64008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2020-2021 removed from test set. No historical features could predict a global pandemic — including them would unfairly penalise all models.</a:t>
            </a:r>
            <a:endParaRPr lang="en-US" sz="1000" dirty="0"/>
          </a:p>
        </p:txBody>
      </p:sp>
      <p:sp>
        <p:nvSpPr>
          <p:cNvPr id="12" name="Shape 10"/>
          <p:cNvSpPr/>
          <p:nvPr/>
        </p:nvSpPr>
        <p:spPr>
          <a:xfrm>
            <a:off x="274320" y="2231136"/>
            <a:ext cx="4206240" cy="1078992"/>
          </a:xfrm>
          <a:prstGeom prst="rect">
            <a:avLst/>
          </a:prstGeom>
          <a:solidFill>
            <a:srgbClr val="FFFFFF"/>
          </a:solidFill>
          <a:ln w="12700">
            <a:solidFill>
              <a:srgbClr val="CCCCCC"/>
            </a:solidFill>
            <a:prstDash val="solid"/>
          </a:ln>
        </p:spPr>
        <p:txBody>
          <a:bodyPr/>
          <a:lstStyle/>
          <a:p>
            <a:endParaRPr lang="en-PK"/>
          </a:p>
        </p:txBody>
      </p:sp>
      <p:sp>
        <p:nvSpPr>
          <p:cNvPr id="13" name="Shape 11"/>
          <p:cNvSpPr/>
          <p:nvPr/>
        </p:nvSpPr>
        <p:spPr>
          <a:xfrm>
            <a:off x="274320" y="2231136"/>
            <a:ext cx="54864" cy="1078992"/>
          </a:xfrm>
          <a:prstGeom prst="rect">
            <a:avLst/>
          </a:prstGeom>
          <a:solidFill>
            <a:srgbClr val="010F2F"/>
          </a:solidFill>
          <a:ln w="12700">
            <a:solidFill>
              <a:srgbClr val="000000"/>
            </a:solidFill>
            <a:prstDash val="solid"/>
          </a:ln>
        </p:spPr>
        <p:txBody>
          <a:bodyPr/>
          <a:lstStyle/>
          <a:p>
            <a:endParaRPr lang="en-PK"/>
          </a:p>
        </p:txBody>
      </p:sp>
      <p:sp>
        <p:nvSpPr>
          <p:cNvPr id="14" name="Shape 12"/>
          <p:cNvSpPr/>
          <p:nvPr/>
        </p:nvSpPr>
        <p:spPr>
          <a:xfrm>
            <a:off x="384048" y="2340864"/>
            <a:ext cx="310896" cy="310896"/>
          </a:xfrm>
          <a:prstGeom prst="ellipse">
            <a:avLst/>
          </a:prstGeom>
          <a:solidFill>
            <a:srgbClr val="000000"/>
          </a:solidFill>
          <a:ln w="12700">
            <a:solidFill>
              <a:srgbClr val="000000"/>
            </a:solidFill>
            <a:prstDash val="solid"/>
          </a:ln>
        </p:spPr>
        <p:txBody>
          <a:bodyPr/>
          <a:lstStyle/>
          <a:p>
            <a:endParaRPr lang="en-PK"/>
          </a:p>
        </p:txBody>
      </p:sp>
      <p:sp>
        <p:nvSpPr>
          <p:cNvPr id="15" name="Text 13"/>
          <p:cNvSpPr/>
          <p:nvPr/>
        </p:nvSpPr>
        <p:spPr>
          <a:xfrm>
            <a:off x="384048" y="2340864"/>
            <a:ext cx="310896" cy="310896"/>
          </a:xfrm>
          <a:prstGeom prst="rect">
            <a:avLst/>
          </a:prstGeom>
          <a:solidFill>
            <a:srgbClr val="010F2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6" name="Text 14"/>
          <p:cNvSpPr/>
          <p:nvPr/>
        </p:nvSpPr>
        <p:spPr>
          <a:xfrm>
            <a:off x="804672" y="2304288"/>
            <a:ext cx="3611880" cy="27432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Autoregressive dominance</a:t>
            </a:r>
            <a:endParaRPr lang="en-US" sz="1200" dirty="0"/>
          </a:p>
        </p:txBody>
      </p:sp>
      <p:sp>
        <p:nvSpPr>
          <p:cNvPr id="17" name="Text 15"/>
          <p:cNvSpPr/>
          <p:nvPr/>
        </p:nvSpPr>
        <p:spPr>
          <a:xfrm>
            <a:off x="804672" y="2615184"/>
            <a:ext cx="3611880" cy="64008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GDP_Growth_lag1 is the strongest predictor. The model is largely a momentum predictor — it reflects where the economy has been, not structural causes.</a:t>
            </a:r>
            <a:endParaRPr lang="en-US" sz="1000" dirty="0"/>
          </a:p>
        </p:txBody>
      </p:sp>
      <p:sp>
        <p:nvSpPr>
          <p:cNvPr id="18" name="Shape 16"/>
          <p:cNvSpPr/>
          <p:nvPr/>
        </p:nvSpPr>
        <p:spPr>
          <a:xfrm>
            <a:off x="274320" y="3438144"/>
            <a:ext cx="4206240" cy="1078992"/>
          </a:xfrm>
          <a:prstGeom prst="rect">
            <a:avLst/>
          </a:prstGeom>
          <a:solidFill>
            <a:srgbClr val="FFFFFF"/>
          </a:solidFill>
          <a:ln w="12700">
            <a:solidFill>
              <a:srgbClr val="CCCCCC"/>
            </a:solidFill>
            <a:prstDash val="solid"/>
          </a:ln>
        </p:spPr>
        <p:txBody>
          <a:bodyPr/>
          <a:lstStyle/>
          <a:p>
            <a:endParaRPr lang="en-PK"/>
          </a:p>
        </p:txBody>
      </p:sp>
      <p:sp>
        <p:nvSpPr>
          <p:cNvPr id="19" name="Shape 17"/>
          <p:cNvSpPr/>
          <p:nvPr/>
        </p:nvSpPr>
        <p:spPr>
          <a:xfrm>
            <a:off x="274320" y="3438144"/>
            <a:ext cx="54864" cy="1078992"/>
          </a:xfrm>
          <a:prstGeom prst="rect">
            <a:avLst/>
          </a:prstGeom>
          <a:solidFill>
            <a:srgbClr val="010F2F"/>
          </a:solidFill>
          <a:ln w="12700">
            <a:solidFill>
              <a:srgbClr val="000000"/>
            </a:solidFill>
            <a:prstDash val="solid"/>
          </a:ln>
        </p:spPr>
        <p:txBody>
          <a:bodyPr/>
          <a:lstStyle/>
          <a:p>
            <a:endParaRPr lang="en-PK"/>
          </a:p>
        </p:txBody>
      </p:sp>
      <p:sp>
        <p:nvSpPr>
          <p:cNvPr id="20" name="Shape 18"/>
          <p:cNvSpPr/>
          <p:nvPr/>
        </p:nvSpPr>
        <p:spPr>
          <a:xfrm>
            <a:off x="384048" y="3547872"/>
            <a:ext cx="310896" cy="310896"/>
          </a:xfrm>
          <a:prstGeom prst="ellipse">
            <a:avLst/>
          </a:prstGeom>
          <a:solidFill>
            <a:srgbClr val="010F2F"/>
          </a:solidFill>
          <a:ln w="12700">
            <a:solidFill>
              <a:srgbClr val="000000"/>
            </a:solidFill>
            <a:prstDash val="solid"/>
          </a:ln>
        </p:spPr>
        <p:txBody>
          <a:bodyPr/>
          <a:lstStyle/>
          <a:p>
            <a:endParaRPr lang="en-PK"/>
          </a:p>
        </p:txBody>
      </p:sp>
      <p:sp>
        <p:nvSpPr>
          <p:cNvPr id="21" name="Text 19"/>
          <p:cNvSpPr/>
          <p:nvPr/>
        </p:nvSpPr>
        <p:spPr>
          <a:xfrm>
            <a:off x="384048" y="3547872"/>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2" name="Text 20"/>
          <p:cNvSpPr/>
          <p:nvPr/>
        </p:nvSpPr>
        <p:spPr>
          <a:xfrm>
            <a:off x="804672" y="3511296"/>
            <a:ext cx="3611880" cy="27432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3 indicators dropped</a:t>
            </a:r>
            <a:endParaRPr lang="en-US" sz="1200" dirty="0"/>
          </a:p>
        </p:txBody>
      </p:sp>
      <p:sp>
        <p:nvSpPr>
          <p:cNvPr id="23" name="Text 21"/>
          <p:cNvSpPr/>
          <p:nvPr/>
        </p:nvSpPr>
        <p:spPr>
          <a:xfrm>
            <a:off x="804672" y="3822192"/>
            <a:ext cx="3611880" cy="64008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Education Expenditure, Energy Use, Internet Users removed due to &gt;60% missing values. Better data availability could improve predictive power.</a:t>
            </a:r>
            <a:endParaRPr lang="en-US" sz="1000" dirty="0"/>
          </a:p>
        </p:txBody>
      </p:sp>
      <p:sp>
        <p:nvSpPr>
          <p:cNvPr id="24" name="Shape 22"/>
          <p:cNvSpPr/>
          <p:nvPr/>
        </p:nvSpPr>
        <p:spPr>
          <a:xfrm>
            <a:off x="4754880" y="1024128"/>
            <a:ext cx="4206240" cy="1078992"/>
          </a:xfrm>
          <a:prstGeom prst="rect">
            <a:avLst/>
          </a:prstGeom>
          <a:solidFill>
            <a:srgbClr val="FFFFFF"/>
          </a:solidFill>
          <a:ln w="12700">
            <a:solidFill>
              <a:srgbClr val="CCCCCC"/>
            </a:solidFill>
            <a:prstDash val="solid"/>
          </a:ln>
        </p:spPr>
        <p:txBody>
          <a:bodyPr/>
          <a:lstStyle/>
          <a:p>
            <a:endParaRPr lang="en-PK"/>
          </a:p>
        </p:txBody>
      </p:sp>
      <p:sp>
        <p:nvSpPr>
          <p:cNvPr id="25" name="Shape 23"/>
          <p:cNvSpPr/>
          <p:nvPr/>
        </p:nvSpPr>
        <p:spPr>
          <a:xfrm>
            <a:off x="4754880" y="1024128"/>
            <a:ext cx="54864" cy="1078992"/>
          </a:xfrm>
          <a:prstGeom prst="rect">
            <a:avLst/>
          </a:prstGeom>
          <a:solidFill>
            <a:srgbClr val="010F2F"/>
          </a:solidFill>
          <a:ln w="12700">
            <a:solidFill>
              <a:srgbClr val="000000"/>
            </a:solidFill>
            <a:prstDash val="solid"/>
          </a:ln>
        </p:spPr>
        <p:txBody>
          <a:bodyPr/>
          <a:lstStyle/>
          <a:p>
            <a:endParaRPr lang="en-PK"/>
          </a:p>
        </p:txBody>
      </p:sp>
      <p:sp>
        <p:nvSpPr>
          <p:cNvPr id="26" name="Shape 24"/>
          <p:cNvSpPr/>
          <p:nvPr/>
        </p:nvSpPr>
        <p:spPr>
          <a:xfrm>
            <a:off x="4864608" y="1133856"/>
            <a:ext cx="310896" cy="310896"/>
          </a:xfrm>
          <a:prstGeom prst="ellipse">
            <a:avLst/>
          </a:prstGeom>
          <a:solidFill>
            <a:srgbClr val="000000"/>
          </a:solidFill>
          <a:ln w="12700">
            <a:solidFill>
              <a:srgbClr val="000000"/>
            </a:solidFill>
            <a:prstDash val="solid"/>
          </a:ln>
        </p:spPr>
        <p:txBody>
          <a:bodyPr/>
          <a:lstStyle/>
          <a:p>
            <a:endParaRPr lang="en-PK"/>
          </a:p>
        </p:txBody>
      </p:sp>
      <p:sp>
        <p:nvSpPr>
          <p:cNvPr id="27" name="Text 25"/>
          <p:cNvSpPr/>
          <p:nvPr/>
        </p:nvSpPr>
        <p:spPr>
          <a:xfrm>
            <a:off x="4864608" y="1133856"/>
            <a:ext cx="310896" cy="310896"/>
          </a:xfrm>
          <a:prstGeom prst="rect">
            <a:avLst/>
          </a:prstGeom>
          <a:solidFill>
            <a:srgbClr val="010F2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8" name="Text 26"/>
          <p:cNvSpPr/>
          <p:nvPr/>
        </p:nvSpPr>
        <p:spPr>
          <a:xfrm>
            <a:off x="5285232" y="1097280"/>
            <a:ext cx="3611880" cy="27432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Forward fill imputation</a:t>
            </a:r>
            <a:endParaRPr lang="en-US" sz="1200" dirty="0"/>
          </a:p>
        </p:txBody>
      </p:sp>
      <p:sp>
        <p:nvSpPr>
          <p:cNvPr id="29" name="Text 27"/>
          <p:cNvSpPr/>
          <p:nvPr/>
        </p:nvSpPr>
        <p:spPr>
          <a:xfrm>
            <a:off x="5285232" y="1408176"/>
            <a:ext cx="3611880" cy="64008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Missing values in Inflation, Unemployment, and Pop Growth filled using previous year values, introducing some synthetic bias into the dataset.</a:t>
            </a:r>
            <a:endParaRPr lang="en-US" sz="1000" dirty="0"/>
          </a:p>
        </p:txBody>
      </p:sp>
      <p:sp>
        <p:nvSpPr>
          <p:cNvPr id="30" name="Shape 28"/>
          <p:cNvSpPr/>
          <p:nvPr/>
        </p:nvSpPr>
        <p:spPr>
          <a:xfrm>
            <a:off x="4754880" y="2231136"/>
            <a:ext cx="4206240" cy="1078992"/>
          </a:xfrm>
          <a:prstGeom prst="rect">
            <a:avLst/>
          </a:prstGeom>
          <a:solidFill>
            <a:srgbClr val="FFFFFF"/>
          </a:solidFill>
          <a:ln w="12700">
            <a:solidFill>
              <a:srgbClr val="CCCCCC"/>
            </a:solidFill>
            <a:prstDash val="solid"/>
          </a:ln>
        </p:spPr>
        <p:txBody>
          <a:bodyPr/>
          <a:lstStyle/>
          <a:p>
            <a:endParaRPr lang="en-PK"/>
          </a:p>
        </p:txBody>
      </p:sp>
      <p:sp>
        <p:nvSpPr>
          <p:cNvPr id="31" name="Shape 29"/>
          <p:cNvSpPr/>
          <p:nvPr/>
        </p:nvSpPr>
        <p:spPr>
          <a:xfrm>
            <a:off x="4754880" y="2231136"/>
            <a:ext cx="54864" cy="1078992"/>
          </a:xfrm>
          <a:prstGeom prst="rect">
            <a:avLst/>
          </a:prstGeom>
          <a:solidFill>
            <a:srgbClr val="010F2F"/>
          </a:solidFill>
          <a:ln w="12700">
            <a:solidFill>
              <a:srgbClr val="000000"/>
            </a:solidFill>
            <a:prstDash val="solid"/>
          </a:ln>
        </p:spPr>
        <p:txBody>
          <a:bodyPr/>
          <a:lstStyle/>
          <a:p>
            <a:endParaRPr lang="en-PK"/>
          </a:p>
        </p:txBody>
      </p:sp>
      <p:sp>
        <p:nvSpPr>
          <p:cNvPr id="32" name="Shape 30"/>
          <p:cNvSpPr/>
          <p:nvPr/>
        </p:nvSpPr>
        <p:spPr>
          <a:xfrm>
            <a:off x="4864608" y="2340864"/>
            <a:ext cx="310896" cy="310896"/>
          </a:xfrm>
          <a:prstGeom prst="ellipse">
            <a:avLst/>
          </a:prstGeom>
          <a:solidFill>
            <a:srgbClr val="010F2F"/>
          </a:solidFill>
          <a:ln w="12700">
            <a:solidFill>
              <a:srgbClr val="000000"/>
            </a:solidFill>
            <a:prstDash val="solid"/>
          </a:ln>
        </p:spPr>
        <p:txBody>
          <a:bodyPr/>
          <a:lstStyle/>
          <a:p>
            <a:endParaRPr lang="en-PK"/>
          </a:p>
        </p:txBody>
      </p:sp>
      <p:sp>
        <p:nvSpPr>
          <p:cNvPr id="33" name="Text 31"/>
          <p:cNvSpPr/>
          <p:nvPr/>
        </p:nvSpPr>
        <p:spPr>
          <a:xfrm>
            <a:off x="4864608" y="2340864"/>
            <a:ext cx="310896"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34" name="Text 32"/>
          <p:cNvSpPr/>
          <p:nvPr/>
        </p:nvSpPr>
        <p:spPr>
          <a:xfrm>
            <a:off x="5285232" y="2304288"/>
            <a:ext cx="3611880" cy="27432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Single global model</a:t>
            </a:r>
            <a:endParaRPr lang="en-US" sz="1200" dirty="0"/>
          </a:p>
        </p:txBody>
      </p:sp>
      <p:sp>
        <p:nvSpPr>
          <p:cNvPr id="35" name="Text 33"/>
          <p:cNvSpPr/>
          <p:nvPr/>
        </p:nvSpPr>
        <p:spPr>
          <a:xfrm>
            <a:off x="5285232" y="2615184"/>
            <a:ext cx="3611880" cy="64008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One model across 100+ countries cannot fully capture each country's unique economic structure. Country-specific models would likely perform better.</a:t>
            </a:r>
            <a:endParaRPr lang="en-US" sz="1000" dirty="0"/>
          </a:p>
        </p:txBody>
      </p:sp>
      <p:sp>
        <p:nvSpPr>
          <p:cNvPr id="36" name="Shape 34"/>
          <p:cNvSpPr/>
          <p:nvPr/>
        </p:nvSpPr>
        <p:spPr>
          <a:xfrm>
            <a:off x="4754880" y="3438144"/>
            <a:ext cx="4206240" cy="1078992"/>
          </a:xfrm>
          <a:prstGeom prst="rect">
            <a:avLst/>
          </a:prstGeom>
          <a:solidFill>
            <a:srgbClr val="FFFFFF"/>
          </a:solidFill>
          <a:ln w="12700">
            <a:solidFill>
              <a:srgbClr val="CCCCCC"/>
            </a:solidFill>
            <a:prstDash val="solid"/>
          </a:ln>
        </p:spPr>
        <p:txBody>
          <a:bodyPr/>
          <a:lstStyle/>
          <a:p>
            <a:endParaRPr lang="en-PK"/>
          </a:p>
        </p:txBody>
      </p:sp>
      <p:sp>
        <p:nvSpPr>
          <p:cNvPr id="37" name="Shape 35"/>
          <p:cNvSpPr/>
          <p:nvPr/>
        </p:nvSpPr>
        <p:spPr>
          <a:xfrm>
            <a:off x="4754880" y="3438144"/>
            <a:ext cx="54864" cy="1078992"/>
          </a:xfrm>
          <a:prstGeom prst="rect">
            <a:avLst/>
          </a:prstGeom>
          <a:solidFill>
            <a:srgbClr val="010F2F"/>
          </a:solidFill>
          <a:ln w="12700">
            <a:solidFill>
              <a:srgbClr val="000000"/>
            </a:solidFill>
            <a:prstDash val="solid"/>
          </a:ln>
        </p:spPr>
        <p:txBody>
          <a:bodyPr/>
          <a:lstStyle/>
          <a:p>
            <a:endParaRPr lang="en-PK"/>
          </a:p>
        </p:txBody>
      </p:sp>
      <p:sp>
        <p:nvSpPr>
          <p:cNvPr id="38" name="Shape 36"/>
          <p:cNvSpPr/>
          <p:nvPr/>
        </p:nvSpPr>
        <p:spPr>
          <a:xfrm>
            <a:off x="4864608" y="3547872"/>
            <a:ext cx="310896" cy="310896"/>
          </a:xfrm>
          <a:prstGeom prst="ellipse">
            <a:avLst/>
          </a:prstGeom>
          <a:solidFill>
            <a:srgbClr val="000000"/>
          </a:solidFill>
          <a:ln w="12700">
            <a:solidFill>
              <a:srgbClr val="000000"/>
            </a:solidFill>
            <a:prstDash val="solid"/>
          </a:ln>
        </p:spPr>
        <p:txBody>
          <a:bodyPr/>
          <a:lstStyle/>
          <a:p>
            <a:endParaRPr lang="en-PK"/>
          </a:p>
        </p:txBody>
      </p:sp>
      <p:sp>
        <p:nvSpPr>
          <p:cNvPr id="39" name="Text 37"/>
          <p:cNvSpPr/>
          <p:nvPr/>
        </p:nvSpPr>
        <p:spPr>
          <a:xfrm>
            <a:off x="4864608" y="3547872"/>
            <a:ext cx="310896" cy="310896"/>
          </a:xfrm>
          <a:prstGeom prst="rect">
            <a:avLst/>
          </a:prstGeom>
          <a:solidFill>
            <a:srgbClr val="010F2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40" name="Text 38"/>
          <p:cNvSpPr/>
          <p:nvPr/>
        </p:nvSpPr>
        <p:spPr>
          <a:xfrm>
            <a:off x="5285232" y="3511296"/>
            <a:ext cx="3611880" cy="274320"/>
          </a:xfrm>
          <a:prstGeom prst="rect">
            <a:avLst/>
          </a:prstGeom>
          <a:noFill/>
          <a:ln/>
        </p:spPr>
        <p:txBody>
          <a:bodyPr wrap="square" rtlCol="0" anchor="ctr"/>
          <a:lstStyle/>
          <a:p>
            <a:pPr marL="0" indent="0">
              <a:buNone/>
            </a:pPr>
            <a:r>
              <a:rPr lang="en-US" sz="1200" b="1" dirty="0">
                <a:solidFill>
                  <a:srgbClr val="000000"/>
                </a:solidFill>
                <a:latin typeface="Calibri" pitchFamily="34" charset="0"/>
                <a:ea typeface="Calibri" pitchFamily="34" charset="-122"/>
                <a:cs typeface="Calibri" pitchFamily="34" charset="-120"/>
              </a:rPr>
              <a:t>No external shocks</a:t>
            </a:r>
            <a:endParaRPr lang="en-US" sz="1200" dirty="0"/>
          </a:p>
        </p:txBody>
      </p:sp>
      <p:sp>
        <p:nvSpPr>
          <p:cNvPr id="41" name="Text 39"/>
          <p:cNvSpPr/>
          <p:nvPr/>
        </p:nvSpPr>
        <p:spPr>
          <a:xfrm>
            <a:off x="5285232" y="3822192"/>
            <a:ext cx="3611880" cy="640080"/>
          </a:xfrm>
          <a:prstGeom prst="rect">
            <a:avLst/>
          </a:prstGeom>
          <a:noFill/>
          <a:ln/>
        </p:spPr>
        <p:txBody>
          <a:bodyPr wrap="square" rtlCol="0" anchor="t"/>
          <a:lstStyle/>
          <a:p>
            <a:pPr marL="0" indent="0">
              <a:buNone/>
            </a:pPr>
            <a:r>
              <a:rPr lang="en-US" sz="1000" dirty="0">
                <a:solidFill>
                  <a:srgbClr val="555555"/>
                </a:solidFill>
                <a:latin typeface="Calibri" pitchFamily="34" charset="0"/>
                <a:ea typeface="Calibri" pitchFamily="34" charset="-122"/>
                <a:cs typeface="Calibri" pitchFamily="34" charset="-120"/>
              </a:rPr>
              <a:t>Wars, commodity crashes, trade policy changes, and political instability are absent from all 7 indicators and cannot be captured by the model.</a:t>
            </a:r>
            <a:endParaRPr lang="en-US" sz="1000" dirty="0"/>
          </a:p>
        </p:txBody>
      </p:sp>
      <p:sp>
        <p:nvSpPr>
          <p:cNvPr id="42" name="Shape 40"/>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43" name="Text 41"/>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These limitations are acknowledged honestly and represent standard constraints of cross-country macroeconomic modelling with public data.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10F2F"/>
          </a:solidFill>
          <a:ln w="12700">
            <a:solidFill>
              <a:srgbClr val="000000"/>
            </a:solidFill>
            <a:prstDash val="solid"/>
          </a:ln>
        </p:spPr>
        <p:txBody>
          <a:bodyPr/>
          <a:lstStyle/>
          <a:p>
            <a:endParaRPr lang="en-PK" dirty="0"/>
          </a:p>
        </p:txBody>
      </p:sp>
      <p:sp>
        <p:nvSpPr>
          <p:cNvPr id="3" name="Text 1"/>
          <p:cNvSpPr/>
          <p:nvPr/>
        </p:nvSpPr>
        <p:spPr>
          <a:xfrm>
            <a:off x="320040" y="0"/>
            <a:ext cx="8503920"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Sources — World Bank Indicators</a:t>
            </a:r>
            <a:endParaRPr lang="en-US" sz="2200" dirty="0"/>
          </a:p>
        </p:txBody>
      </p:sp>
      <p:sp>
        <p:nvSpPr>
          <p:cNvPr id="4" name="Shape 2"/>
          <p:cNvSpPr/>
          <p:nvPr/>
        </p:nvSpPr>
        <p:spPr>
          <a:xfrm>
            <a:off x="0" y="640080"/>
            <a:ext cx="9144000" cy="256032"/>
          </a:xfrm>
          <a:prstGeom prst="rect">
            <a:avLst/>
          </a:prstGeom>
          <a:solidFill>
            <a:srgbClr val="F5F5F5"/>
          </a:solidFill>
          <a:ln w="12700">
            <a:solidFill>
              <a:srgbClr val="CCCCCC"/>
            </a:solidFill>
            <a:prstDash val="solid"/>
          </a:ln>
        </p:spPr>
        <p:txBody>
          <a:bodyPr/>
          <a:lstStyle/>
          <a:p>
            <a:endParaRPr lang="en-PK"/>
          </a:p>
        </p:txBody>
      </p:sp>
      <p:sp>
        <p:nvSpPr>
          <p:cNvPr id="5" name="Text 3"/>
          <p:cNvSpPr/>
          <p:nvPr/>
        </p:nvSpPr>
        <p:spPr>
          <a:xfrm>
            <a:off x="320040" y="640080"/>
            <a:ext cx="8503920" cy="256032"/>
          </a:xfrm>
          <a:prstGeom prst="rect">
            <a:avLst/>
          </a:prstGeom>
          <a:noFill/>
          <a:ln/>
        </p:spPr>
        <p:txBody>
          <a:bodyPr wrap="square" lIns="0" tIns="0" rIns="0" bIns="0"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All datasets publicly available via World Bank Open Data — data.worldbank.org</a:t>
            </a:r>
            <a:endParaRPr lang="en-US" sz="1000" dirty="0"/>
          </a:p>
        </p:txBody>
      </p:sp>
      <p:sp>
        <p:nvSpPr>
          <p:cNvPr id="6" name="Shape 4"/>
          <p:cNvSpPr/>
          <p:nvPr/>
        </p:nvSpPr>
        <p:spPr>
          <a:xfrm>
            <a:off x="274320" y="1005840"/>
            <a:ext cx="8595360" cy="429768"/>
          </a:xfrm>
          <a:prstGeom prst="rect">
            <a:avLst/>
          </a:prstGeom>
          <a:solidFill>
            <a:srgbClr val="FFFFFF"/>
          </a:solidFill>
          <a:ln w="6350">
            <a:solidFill>
              <a:srgbClr val="CCCCCC"/>
            </a:solidFill>
            <a:prstDash val="solid"/>
          </a:ln>
        </p:spPr>
        <p:txBody>
          <a:bodyPr/>
          <a:lstStyle/>
          <a:p>
            <a:endParaRPr lang="en-PK"/>
          </a:p>
        </p:txBody>
      </p:sp>
      <p:sp>
        <p:nvSpPr>
          <p:cNvPr id="7" name="Shape 5"/>
          <p:cNvSpPr/>
          <p:nvPr/>
        </p:nvSpPr>
        <p:spPr>
          <a:xfrm>
            <a:off x="274320" y="1005840"/>
            <a:ext cx="54864" cy="429768"/>
          </a:xfrm>
          <a:prstGeom prst="rect">
            <a:avLst/>
          </a:prstGeom>
          <a:solidFill>
            <a:srgbClr val="010F2F"/>
          </a:solidFill>
          <a:ln w="12700">
            <a:solidFill>
              <a:srgbClr val="0D1B2A"/>
            </a:solidFill>
            <a:prstDash val="solid"/>
          </a:ln>
        </p:spPr>
        <p:txBody>
          <a:bodyPr/>
          <a:lstStyle/>
          <a:p>
            <a:endParaRPr lang="en-PK"/>
          </a:p>
        </p:txBody>
      </p:sp>
      <p:sp>
        <p:nvSpPr>
          <p:cNvPr id="8" name="Shape 6"/>
          <p:cNvSpPr/>
          <p:nvPr/>
        </p:nvSpPr>
        <p:spPr>
          <a:xfrm>
            <a:off x="402336" y="1097280"/>
            <a:ext cx="658368" cy="237744"/>
          </a:xfrm>
          <a:prstGeom prst="rect">
            <a:avLst/>
          </a:prstGeom>
          <a:solidFill>
            <a:srgbClr val="0D1B2A"/>
          </a:solidFill>
          <a:ln w="12700">
            <a:solidFill>
              <a:srgbClr val="0D1B2A"/>
            </a:solidFill>
            <a:prstDash val="solid"/>
          </a:ln>
        </p:spPr>
        <p:txBody>
          <a:bodyPr/>
          <a:lstStyle/>
          <a:p>
            <a:endParaRPr lang="en-PK"/>
          </a:p>
        </p:txBody>
      </p:sp>
      <p:sp>
        <p:nvSpPr>
          <p:cNvPr id="9" name="Text 7"/>
          <p:cNvSpPr/>
          <p:nvPr/>
        </p:nvSpPr>
        <p:spPr>
          <a:xfrm>
            <a:off x="402336" y="1097280"/>
            <a:ext cx="6583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Target</a:t>
            </a:r>
            <a:endParaRPr lang="en-US" sz="800" dirty="0"/>
          </a:p>
        </p:txBody>
      </p:sp>
      <p:sp>
        <p:nvSpPr>
          <p:cNvPr id="10" name="Text 8"/>
          <p:cNvSpPr/>
          <p:nvPr/>
        </p:nvSpPr>
        <p:spPr>
          <a:xfrm>
            <a:off x="1152144" y="1005840"/>
            <a:ext cx="5029200" cy="429768"/>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GDP growth (annual %)</a:t>
            </a:r>
            <a:endParaRPr lang="en-US" sz="1100" dirty="0"/>
          </a:p>
        </p:txBody>
      </p:sp>
      <p:sp>
        <p:nvSpPr>
          <p:cNvPr id="11" name="Text 9"/>
          <p:cNvSpPr/>
          <p:nvPr/>
        </p:nvSpPr>
        <p:spPr>
          <a:xfrm>
            <a:off x="6309360" y="1005840"/>
            <a:ext cx="2468880" cy="429768"/>
          </a:xfrm>
          <a:prstGeom prst="rect">
            <a:avLst/>
          </a:prstGeom>
          <a:noFill/>
          <a:ln/>
        </p:spPr>
        <p:txBody>
          <a:bodyPr wrap="square" rtlCol="0" anchor="ctr"/>
          <a:lstStyle/>
          <a:p>
            <a:pPr marL="0" indent="0">
              <a:buNone/>
            </a:pPr>
            <a:r>
              <a:rPr lang="en-US" sz="900" i="1" dirty="0">
                <a:solidFill>
                  <a:srgbClr val="185FA5"/>
                </a:solidFill>
                <a:latin typeface="Calibri" pitchFamily="34" charset="0"/>
                <a:ea typeface="Calibri" pitchFamily="34" charset="-122"/>
                <a:cs typeface="Calibri" pitchFamily="34" charset="-120"/>
              </a:rPr>
              <a:t>data.worldbank.org/indicator/NY.GDP.MKTP.KD.ZG</a:t>
            </a:r>
            <a:endParaRPr lang="en-US" sz="900" dirty="0"/>
          </a:p>
        </p:txBody>
      </p:sp>
      <p:sp>
        <p:nvSpPr>
          <p:cNvPr id="12" name="Shape 10"/>
          <p:cNvSpPr/>
          <p:nvPr/>
        </p:nvSpPr>
        <p:spPr>
          <a:xfrm>
            <a:off x="274320" y="1508760"/>
            <a:ext cx="8595360" cy="429768"/>
          </a:xfrm>
          <a:prstGeom prst="rect">
            <a:avLst/>
          </a:prstGeom>
          <a:solidFill>
            <a:srgbClr val="FFFFFF"/>
          </a:solidFill>
          <a:ln w="6350">
            <a:solidFill>
              <a:srgbClr val="CCCCCC"/>
            </a:solidFill>
            <a:prstDash val="solid"/>
          </a:ln>
        </p:spPr>
        <p:txBody>
          <a:bodyPr/>
          <a:lstStyle/>
          <a:p>
            <a:endParaRPr lang="en-PK"/>
          </a:p>
        </p:txBody>
      </p:sp>
      <p:sp>
        <p:nvSpPr>
          <p:cNvPr id="13" name="Shape 11"/>
          <p:cNvSpPr/>
          <p:nvPr/>
        </p:nvSpPr>
        <p:spPr>
          <a:xfrm>
            <a:off x="274320" y="1508760"/>
            <a:ext cx="54864" cy="429768"/>
          </a:xfrm>
          <a:prstGeom prst="rect">
            <a:avLst/>
          </a:prstGeom>
          <a:solidFill>
            <a:srgbClr val="010F2F"/>
          </a:solidFill>
          <a:ln w="12700">
            <a:solidFill>
              <a:srgbClr val="444441"/>
            </a:solidFill>
            <a:prstDash val="solid"/>
          </a:ln>
        </p:spPr>
        <p:txBody>
          <a:bodyPr/>
          <a:lstStyle/>
          <a:p>
            <a:endParaRPr lang="en-PK"/>
          </a:p>
        </p:txBody>
      </p:sp>
      <p:sp>
        <p:nvSpPr>
          <p:cNvPr id="14" name="Shape 12"/>
          <p:cNvSpPr/>
          <p:nvPr/>
        </p:nvSpPr>
        <p:spPr>
          <a:xfrm>
            <a:off x="402336" y="1600200"/>
            <a:ext cx="658368" cy="237744"/>
          </a:xfrm>
          <a:prstGeom prst="rect">
            <a:avLst/>
          </a:prstGeom>
          <a:solidFill>
            <a:srgbClr val="010F2F"/>
          </a:solidFill>
          <a:ln w="12700">
            <a:solidFill>
              <a:srgbClr val="444441"/>
            </a:solidFill>
            <a:prstDash val="solid"/>
          </a:ln>
        </p:spPr>
        <p:txBody>
          <a:bodyPr/>
          <a:lstStyle/>
          <a:p>
            <a:endParaRPr lang="en-PK"/>
          </a:p>
        </p:txBody>
      </p:sp>
      <p:sp>
        <p:nvSpPr>
          <p:cNvPr id="15" name="Text 13"/>
          <p:cNvSpPr/>
          <p:nvPr/>
        </p:nvSpPr>
        <p:spPr>
          <a:xfrm>
            <a:off x="402336" y="1600200"/>
            <a:ext cx="6583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Feature</a:t>
            </a:r>
            <a:endParaRPr lang="en-US" sz="800" dirty="0"/>
          </a:p>
        </p:txBody>
      </p:sp>
      <p:sp>
        <p:nvSpPr>
          <p:cNvPr id="16" name="Text 14"/>
          <p:cNvSpPr/>
          <p:nvPr/>
        </p:nvSpPr>
        <p:spPr>
          <a:xfrm>
            <a:off x="1152144" y="1508760"/>
            <a:ext cx="5029200" cy="429768"/>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Inflation, consumer prices (annual %)</a:t>
            </a:r>
            <a:endParaRPr lang="en-US" sz="1100" dirty="0"/>
          </a:p>
        </p:txBody>
      </p:sp>
      <p:sp>
        <p:nvSpPr>
          <p:cNvPr id="17" name="Text 15"/>
          <p:cNvSpPr/>
          <p:nvPr/>
        </p:nvSpPr>
        <p:spPr>
          <a:xfrm>
            <a:off x="6309360" y="1508760"/>
            <a:ext cx="2468880" cy="429768"/>
          </a:xfrm>
          <a:prstGeom prst="rect">
            <a:avLst/>
          </a:prstGeom>
          <a:noFill/>
          <a:ln/>
        </p:spPr>
        <p:txBody>
          <a:bodyPr wrap="square" rtlCol="0" anchor="ctr"/>
          <a:lstStyle/>
          <a:p>
            <a:pPr marL="0" indent="0">
              <a:buNone/>
            </a:pPr>
            <a:r>
              <a:rPr lang="en-US" sz="900" i="1" dirty="0">
                <a:solidFill>
                  <a:srgbClr val="185FA5"/>
                </a:solidFill>
                <a:latin typeface="Calibri" pitchFamily="34" charset="0"/>
                <a:ea typeface="Calibri" pitchFamily="34" charset="-122"/>
                <a:cs typeface="Calibri" pitchFamily="34" charset="-120"/>
              </a:rPr>
              <a:t>data.worldbank.org/indicator/FP.CPI.TOTL.ZG</a:t>
            </a:r>
            <a:endParaRPr lang="en-US" sz="900" dirty="0"/>
          </a:p>
        </p:txBody>
      </p:sp>
      <p:sp>
        <p:nvSpPr>
          <p:cNvPr id="18" name="Shape 16"/>
          <p:cNvSpPr/>
          <p:nvPr/>
        </p:nvSpPr>
        <p:spPr>
          <a:xfrm>
            <a:off x="274320" y="2011680"/>
            <a:ext cx="8595360" cy="429768"/>
          </a:xfrm>
          <a:prstGeom prst="rect">
            <a:avLst/>
          </a:prstGeom>
          <a:solidFill>
            <a:srgbClr val="FFFFFF"/>
          </a:solidFill>
          <a:ln w="6350">
            <a:solidFill>
              <a:srgbClr val="CCCCCC"/>
            </a:solidFill>
            <a:prstDash val="solid"/>
          </a:ln>
        </p:spPr>
        <p:txBody>
          <a:bodyPr/>
          <a:lstStyle/>
          <a:p>
            <a:endParaRPr lang="en-PK"/>
          </a:p>
        </p:txBody>
      </p:sp>
      <p:sp>
        <p:nvSpPr>
          <p:cNvPr id="19" name="Shape 17"/>
          <p:cNvSpPr/>
          <p:nvPr/>
        </p:nvSpPr>
        <p:spPr>
          <a:xfrm>
            <a:off x="274320" y="2011680"/>
            <a:ext cx="54864" cy="429768"/>
          </a:xfrm>
          <a:prstGeom prst="rect">
            <a:avLst/>
          </a:prstGeom>
          <a:solidFill>
            <a:srgbClr val="010F2F"/>
          </a:solidFill>
          <a:ln w="12700">
            <a:solidFill>
              <a:srgbClr val="444441"/>
            </a:solidFill>
            <a:prstDash val="solid"/>
          </a:ln>
        </p:spPr>
        <p:txBody>
          <a:bodyPr/>
          <a:lstStyle/>
          <a:p>
            <a:endParaRPr lang="en-PK"/>
          </a:p>
        </p:txBody>
      </p:sp>
      <p:sp>
        <p:nvSpPr>
          <p:cNvPr id="20" name="Shape 18"/>
          <p:cNvSpPr/>
          <p:nvPr/>
        </p:nvSpPr>
        <p:spPr>
          <a:xfrm>
            <a:off x="402336" y="2103120"/>
            <a:ext cx="658368" cy="237744"/>
          </a:xfrm>
          <a:prstGeom prst="rect">
            <a:avLst/>
          </a:prstGeom>
          <a:solidFill>
            <a:srgbClr val="010F2F"/>
          </a:solidFill>
          <a:ln w="12700">
            <a:solidFill>
              <a:srgbClr val="444441"/>
            </a:solidFill>
            <a:prstDash val="solid"/>
          </a:ln>
        </p:spPr>
        <p:txBody>
          <a:bodyPr/>
          <a:lstStyle/>
          <a:p>
            <a:endParaRPr lang="en-PK"/>
          </a:p>
        </p:txBody>
      </p:sp>
      <p:sp>
        <p:nvSpPr>
          <p:cNvPr id="21" name="Text 19"/>
          <p:cNvSpPr/>
          <p:nvPr/>
        </p:nvSpPr>
        <p:spPr>
          <a:xfrm>
            <a:off x="402336" y="2103120"/>
            <a:ext cx="6583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Feature</a:t>
            </a:r>
            <a:endParaRPr lang="en-US" sz="800" dirty="0"/>
          </a:p>
        </p:txBody>
      </p:sp>
      <p:sp>
        <p:nvSpPr>
          <p:cNvPr id="22" name="Text 20"/>
          <p:cNvSpPr/>
          <p:nvPr/>
        </p:nvSpPr>
        <p:spPr>
          <a:xfrm>
            <a:off x="1152144" y="2011680"/>
            <a:ext cx="5029200" cy="429768"/>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Unemployment, total (% of labour force)</a:t>
            </a:r>
            <a:endParaRPr lang="en-US" sz="1100" dirty="0"/>
          </a:p>
        </p:txBody>
      </p:sp>
      <p:sp>
        <p:nvSpPr>
          <p:cNvPr id="23" name="Text 21"/>
          <p:cNvSpPr/>
          <p:nvPr/>
        </p:nvSpPr>
        <p:spPr>
          <a:xfrm>
            <a:off x="6309360" y="2011680"/>
            <a:ext cx="2468880" cy="429768"/>
          </a:xfrm>
          <a:prstGeom prst="rect">
            <a:avLst/>
          </a:prstGeom>
          <a:noFill/>
          <a:ln/>
        </p:spPr>
        <p:txBody>
          <a:bodyPr wrap="square" rtlCol="0" anchor="ctr"/>
          <a:lstStyle/>
          <a:p>
            <a:pPr marL="0" indent="0">
              <a:buNone/>
            </a:pPr>
            <a:r>
              <a:rPr lang="en-US" sz="900" i="1" dirty="0">
                <a:solidFill>
                  <a:srgbClr val="185FA5"/>
                </a:solidFill>
                <a:latin typeface="Calibri" pitchFamily="34" charset="0"/>
                <a:ea typeface="Calibri" pitchFamily="34" charset="-122"/>
                <a:cs typeface="Calibri" pitchFamily="34" charset="-120"/>
              </a:rPr>
              <a:t>data.worldbank.org/indicator/SL.UEM.TOTL.ZS</a:t>
            </a:r>
            <a:endParaRPr lang="en-US" sz="900" dirty="0"/>
          </a:p>
        </p:txBody>
      </p:sp>
      <p:sp>
        <p:nvSpPr>
          <p:cNvPr id="24" name="Shape 22"/>
          <p:cNvSpPr/>
          <p:nvPr/>
        </p:nvSpPr>
        <p:spPr>
          <a:xfrm>
            <a:off x="274320" y="2514600"/>
            <a:ext cx="8595360" cy="429768"/>
          </a:xfrm>
          <a:prstGeom prst="rect">
            <a:avLst/>
          </a:prstGeom>
          <a:solidFill>
            <a:srgbClr val="FFFFFF"/>
          </a:solidFill>
          <a:ln w="6350">
            <a:solidFill>
              <a:srgbClr val="CCCCCC"/>
            </a:solidFill>
            <a:prstDash val="solid"/>
          </a:ln>
        </p:spPr>
        <p:txBody>
          <a:bodyPr/>
          <a:lstStyle/>
          <a:p>
            <a:endParaRPr lang="en-PK"/>
          </a:p>
        </p:txBody>
      </p:sp>
      <p:sp>
        <p:nvSpPr>
          <p:cNvPr id="25" name="Shape 23"/>
          <p:cNvSpPr/>
          <p:nvPr/>
        </p:nvSpPr>
        <p:spPr>
          <a:xfrm>
            <a:off x="274320" y="2514600"/>
            <a:ext cx="54864" cy="429768"/>
          </a:xfrm>
          <a:prstGeom prst="rect">
            <a:avLst/>
          </a:prstGeom>
          <a:solidFill>
            <a:srgbClr val="010F2F"/>
          </a:solidFill>
          <a:ln w="12700">
            <a:solidFill>
              <a:srgbClr val="444441"/>
            </a:solidFill>
            <a:prstDash val="solid"/>
          </a:ln>
        </p:spPr>
        <p:txBody>
          <a:bodyPr/>
          <a:lstStyle/>
          <a:p>
            <a:endParaRPr lang="en-PK"/>
          </a:p>
        </p:txBody>
      </p:sp>
      <p:sp>
        <p:nvSpPr>
          <p:cNvPr id="26" name="Shape 24"/>
          <p:cNvSpPr/>
          <p:nvPr/>
        </p:nvSpPr>
        <p:spPr>
          <a:xfrm>
            <a:off x="402336" y="2606040"/>
            <a:ext cx="658368" cy="237744"/>
          </a:xfrm>
          <a:prstGeom prst="rect">
            <a:avLst/>
          </a:prstGeom>
          <a:solidFill>
            <a:srgbClr val="010F2F"/>
          </a:solidFill>
          <a:ln w="12700">
            <a:solidFill>
              <a:srgbClr val="444441"/>
            </a:solidFill>
            <a:prstDash val="solid"/>
          </a:ln>
        </p:spPr>
        <p:txBody>
          <a:bodyPr/>
          <a:lstStyle/>
          <a:p>
            <a:endParaRPr lang="en-PK"/>
          </a:p>
        </p:txBody>
      </p:sp>
      <p:sp>
        <p:nvSpPr>
          <p:cNvPr id="27" name="Text 25"/>
          <p:cNvSpPr/>
          <p:nvPr/>
        </p:nvSpPr>
        <p:spPr>
          <a:xfrm>
            <a:off x="402336" y="2606040"/>
            <a:ext cx="6583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Feature</a:t>
            </a:r>
            <a:endParaRPr lang="en-US" sz="800" dirty="0"/>
          </a:p>
        </p:txBody>
      </p:sp>
      <p:sp>
        <p:nvSpPr>
          <p:cNvPr id="28" name="Text 26"/>
          <p:cNvSpPr/>
          <p:nvPr/>
        </p:nvSpPr>
        <p:spPr>
          <a:xfrm>
            <a:off x="1152144" y="2514600"/>
            <a:ext cx="5029200" cy="429768"/>
          </a:xfrm>
          <a:prstGeom prst="rect">
            <a:avLst/>
          </a:prstGeom>
          <a:noFill/>
          <a:ln/>
        </p:spPr>
        <p:txBody>
          <a:bodyPr wrap="square" rtlCol="0" anchor="ctr"/>
          <a:lstStyle/>
          <a:p>
            <a:pPr marL="0" indent="0">
              <a:buNone/>
            </a:pPr>
            <a:r>
              <a:rPr lang="en-US" sz="1100" b="1" dirty="0">
                <a:solidFill>
                  <a:srgbClr val="000000"/>
                </a:solidFill>
                <a:latin typeface="Calibri" pitchFamily="34" charset="0"/>
                <a:ea typeface="Calibri" pitchFamily="34" charset="-122"/>
                <a:cs typeface="Calibri" pitchFamily="34" charset="-120"/>
              </a:rPr>
              <a:t>Population growth (annual %)</a:t>
            </a:r>
            <a:endParaRPr lang="en-US" sz="1100" dirty="0"/>
          </a:p>
        </p:txBody>
      </p:sp>
      <p:sp>
        <p:nvSpPr>
          <p:cNvPr id="29" name="Text 27"/>
          <p:cNvSpPr/>
          <p:nvPr/>
        </p:nvSpPr>
        <p:spPr>
          <a:xfrm>
            <a:off x="6309360" y="2514600"/>
            <a:ext cx="2468880" cy="429768"/>
          </a:xfrm>
          <a:prstGeom prst="rect">
            <a:avLst/>
          </a:prstGeom>
          <a:noFill/>
          <a:ln/>
        </p:spPr>
        <p:txBody>
          <a:bodyPr wrap="square" rtlCol="0" anchor="ctr"/>
          <a:lstStyle/>
          <a:p>
            <a:pPr marL="0" indent="0">
              <a:buNone/>
            </a:pPr>
            <a:r>
              <a:rPr lang="en-US" sz="900" i="1" dirty="0">
                <a:solidFill>
                  <a:srgbClr val="185FA5"/>
                </a:solidFill>
                <a:latin typeface="Calibri" pitchFamily="34" charset="0"/>
                <a:ea typeface="Calibri" pitchFamily="34" charset="-122"/>
                <a:cs typeface="Calibri" pitchFamily="34" charset="-120"/>
              </a:rPr>
              <a:t>data.worldbank.org/indicator/SP.POP.GROW</a:t>
            </a:r>
            <a:endParaRPr lang="en-US" sz="900" dirty="0"/>
          </a:p>
        </p:txBody>
      </p:sp>
      <p:sp>
        <p:nvSpPr>
          <p:cNvPr id="30" name="Shape 28"/>
          <p:cNvSpPr/>
          <p:nvPr/>
        </p:nvSpPr>
        <p:spPr>
          <a:xfrm>
            <a:off x="274320" y="3017520"/>
            <a:ext cx="8595360" cy="429768"/>
          </a:xfrm>
          <a:prstGeom prst="rect">
            <a:avLst/>
          </a:prstGeom>
          <a:solidFill>
            <a:srgbClr val="F8F8F8"/>
          </a:solidFill>
          <a:ln w="6350">
            <a:solidFill>
              <a:srgbClr val="CCCCCC"/>
            </a:solidFill>
            <a:prstDash val="solid"/>
          </a:ln>
        </p:spPr>
        <p:txBody>
          <a:bodyPr/>
          <a:lstStyle/>
          <a:p>
            <a:endParaRPr lang="en-PK"/>
          </a:p>
        </p:txBody>
      </p:sp>
      <p:sp>
        <p:nvSpPr>
          <p:cNvPr id="31" name="Shape 29"/>
          <p:cNvSpPr/>
          <p:nvPr/>
        </p:nvSpPr>
        <p:spPr>
          <a:xfrm>
            <a:off x="274320" y="3017520"/>
            <a:ext cx="54864" cy="429768"/>
          </a:xfrm>
          <a:prstGeom prst="rect">
            <a:avLst/>
          </a:prstGeom>
          <a:solidFill>
            <a:srgbClr val="AAAAAA"/>
          </a:solidFill>
          <a:ln w="12700">
            <a:solidFill>
              <a:srgbClr val="AAAAAA"/>
            </a:solidFill>
            <a:prstDash val="solid"/>
          </a:ln>
        </p:spPr>
        <p:txBody>
          <a:bodyPr/>
          <a:lstStyle/>
          <a:p>
            <a:endParaRPr lang="en-PK"/>
          </a:p>
        </p:txBody>
      </p:sp>
      <p:sp>
        <p:nvSpPr>
          <p:cNvPr id="32" name="Shape 30"/>
          <p:cNvSpPr/>
          <p:nvPr/>
        </p:nvSpPr>
        <p:spPr>
          <a:xfrm>
            <a:off x="402336" y="3108960"/>
            <a:ext cx="658368" cy="237744"/>
          </a:xfrm>
          <a:prstGeom prst="rect">
            <a:avLst/>
          </a:prstGeom>
          <a:solidFill>
            <a:srgbClr val="999999"/>
          </a:solidFill>
          <a:ln w="12700">
            <a:solidFill>
              <a:srgbClr val="999999"/>
            </a:solidFill>
            <a:prstDash val="solid"/>
          </a:ln>
        </p:spPr>
        <p:txBody>
          <a:bodyPr/>
          <a:lstStyle/>
          <a:p>
            <a:endParaRPr lang="en-PK"/>
          </a:p>
        </p:txBody>
      </p:sp>
      <p:sp>
        <p:nvSpPr>
          <p:cNvPr id="33" name="Text 31"/>
          <p:cNvSpPr/>
          <p:nvPr/>
        </p:nvSpPr>
        <p:spPr>
          <a:xfrm>
            <a:off x="402336" y="3108960"/>
            <a:ext cx="6583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Dropped</a:t>
            </a:r>
            <a:endParaRPr lang="en-US" sz="800" dirty="0"/>
          </a:p>
        </p:txBody>
      </p:sp>
      <p:sp>
        <p:nvSpPr>
          <p:cNvPr id="34" name="Text 32"/>
          <p:cNvSpPr/>
          <p:nvPr/>
        </p:nvSpPr>
        <p:spPr>
          <a:xfrm>
            <a:off x="1152144" y="3017520"/>
            <a:ext cx="5029200" cy="429768"/>
          </a:xfrm>
          <a:prstGeom prst="rect">
            <a:avLst/>
          </a:prstGeom>
          <a:noFill/>
          <a:ln/>
        </p:spPr>
        <p:txBody>
          <a:bodyPr wrap="square" rtlCol="0" anchor="ctr"/>
          <a:lstStyle/>
          <a:p>
            <a:pPr marL="0" indent="0">
              <a:buNone/>
            </a:pPr>
            <a:r>
              <a:rPr lang="en-US" sz="1100" dirty="0">
                <a:solidFill>
                  <a:srgbClr val="AAAAAA"/>
                </a:solidFill>
                <a:latin typeface="Calibri" pitchFamily="34" charset="0"/>
                <a:ea typeface="Calibri" pitchFamily="34" charset="-122"/>
                <a:cs typeface="Calibri" pitchFamily="34" charset="-120"/>
              </a:rPr>
              <a:t>Individuals using the Internet (% of population)</a:t>
            </a:r>
            <a:endParaRPr lang="en-US" sz="1100" dirty="0"/>
          </a:p>
        </p:txBody>
      </p:sp>
      <p:sp>
        <p:nvSpPr>
          <p:cNvPr id="35" name="Text 33"/>
          <p:cNvSpPr/>
          <p:nvPr/>
        </p:nvSpPr>
        <p:spPr>
          <a:xfrm>
            <a:off x="6309360" y="3017520"/>
            <a:ext cx="2468880" cy="429768"/>
          </a:xfrm>
          <a:prstGeom prst="rect">
            <a:avLst/>
          </a:prstGeom>
          <a:noFill/>
          <a:ln/>
        </p:spPr>
        <p:txBody>
          <a:bodyPr wrap="square" rtlCol="0" anchor="ctr"/>
          <a:lstStyle/>
          <a:p>
            <a:pPr marL="0" indent="0">
              <a:buNone/>
            </a:pPr>
            <a:r>
              <a:rPr lang="en-US" sz="900" i="1" dirty="0">
                <a:solidFill>
                  <a:srgbClr val="AAAAAA"/>
                </a:solidFill>
                <a:latin typeface="Calibri" pitchFamily="34" charset="0"/>
                <a:ea typeface="Calibri" pitchFamily="34" charset="-122"/>
                <a:cs typeface="Calibri" pitchFamily="34" charset="-120"/>
              </a:rPr>
              <a:t>data.worldbank.org/indicator/IT.NET.USER.ZS</a:t>
            </a:r>
            <a:endParaRPr lang="en-US" sz="900" dirty="0"/>
          </a:p>
        </p:txBody>
      </p:sp>
      <p:sp>
        <p:nvSpPr>
          <p:cNvPr id="36" name="Shape 34"/>
          <p:cNvSpPr/>
          <p:nvPr/>
        </p:nvSpPr>
        <p:spPr>
          <a:xfrm>
            <a:off x="1152144" y="3232404"/>
            <a:ext cx="4937760" cy="0"/>
          </a:xfrm>
          <a:prstGeom prst="line">
            <a:avLst/>
          </a:prstGeom>
          <a:noFill/>
          <a:ln w="6350">
            <a:solidFill>
              <a:srgbClr val="AAAAAA"/>
            </a:solidFill>
            <a:prstDash val="solid"/>
          </a:ln>
        </p:spPr>
        <p:txBody>
          <a:bodyPr/>
          <a:lstStyle/>
          <a:p>
            <a:endParaRPr lang="en-PK"/>
          </a:p>
        </p:txBody>
      </p:sp>
      <p:sp>
        <p:nvSpPr>
          <p:cNvPr id="37" name="Shape 35"/>
          <p:cNvSpPr/>
          <p:nvPr/>
        </p:nvSpPr>
        <p:spPr>
          <a:xfrm>
            <a:off x="274320" y="3520440"/>
            <a:ext cx="8595360" cy="429768"/>
          </a:xfrm>
          <a:prstGeom prst="rect">
            <a:avLst/>
          </a:prstGeom>
          <a:solidFill>
            <a:srgbClr val="F8F8F8"/>
          </a:solidFill>
          <a:ln w="6350">
            <a:solidFill>
              <a:srgbClr val="CCCCCC"/>
            </a:solidFill>
            <a:prstDash val="solid"/>
          </a:ln>
        </p:spPr>
        <p:txBody>
          <a:bodyPr/>
          <a:lstStyle/>
          <a:p>
            <a:endParaRPr lang="en-PK"/>
          </a:p>
        </p:txBody>
      </p:sp>
      <p:sp>
        <p:nvSpPr>
          <p:cNvPr id="38" name="Shape 36"/>
          <p:cNvSpPr/>
          <p:nvPr/>
        </p:nvSpPr>
        <p:spPr>
          <a:xfrm>
            <a:off x="274320" y="3520440"/>
            <a:ext cx="54864" cy="429768"/>
          </a:xfrm>
          <a:prstGeom prst="rect">
            <a:avLst/>
          </a:prstGeom>
          <a:solidFill>
            <a:srgbClr val="AAAAAA"/>
          </a:solidFill>
          <a:ln w="12700">
            <a:solidFill>
              <a:srgbClr val="AAAAAA"/>
            </a:solidFill>
            <a:prstDash val="solid"/>
          </a:ln>
        </p:spPr>
        <p:txBody>
          <a:bodyPr/>
          <a:lstStyle/>
          <a:p>
            <a:endParaRPr lang="en-PK"/>
          </a:p>
        </p:txBody>
      </p:sp>
      <p:sp>
        <p:nvSpPr>
          <p:cNvPr id="39" name="Shape 37"/>
          <p:cNvSpPr/>
          <p:nvPr/>
        </p:nvSpPr>
        <p:spPr>
          <a:xfrm>
            <a:off x="402336" y="3611880"/>
            <a:ext cx="658368" cy="237744"/>
          </a:xfrm>
          <a:prstGeom prst="rect">
            <a:avLst/>
          </a:prstGeom>
          <a:solidFill>
            <a:srgbClr val="999999"/>
          </a:solidFill>
          <a:ln w="12700">
            <a:solidFill>
              <a:srgbClr val="999999"/>
            </a:solidFill>
            <a:prstDash val="solid"/>
          </a:ln>
        </p:spPr>
        <p:txBody>
          <a:bodyPr/>
          <a:lstStyle/>
          <a:p>
            <a:endParaRPr lang="en-PK"/>
          </a:p>
        </p:txBody>
      </p:sp>
      <p:sp>
        <p:nvSpPr>
          <p:cNvPr id="40" name="Text 38"/>
          <p:cNvSpPr/>
          <p:nvPr/>
        </p:nvSpPr>
        <p:spPr>
          <a:xfrm>
            <a:off x="402336" y="3611880"/>
            <a:ext cx="6583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Dropped</a:t>
            </a:r>
            <a:endParaRPr lang="en-US" sz="800" dirty="0"/>
          </a:p>
        </p:txBody>
      </p:sp>
      <p:sp>
        <p:nvSpPr>
          <p:cNvPr id="41" name="Text 39"/>
          <p:cNvSpPr/>
          <p:nvPr/>
        </p:nvSpPr>
        <p:spPr>
          <a:xfrm>
            <a:off x="1152144" y="3520440"/>
            <a:ext cx="5029200" cy="429768"/>
          </a:xfrm>
          <a:prstGeom prst="rect">
            <a:avLst/>
          </a:prstGeom>
          <a:noFill/>
          <a:ln/>
        </p:spPr>
        <p:txBody>
          <a:bodyPr wrap="square" rtlCol="0" anchor="ctr"/>
          <a:lstStyle/>
          <a:p>
            <a:pPr marL="0" indent="0">
              <a:buNone/>
            </a:pPr>
            <a:r>
              <a:rPr lang="en-US" sz="1100" dirty="0">
                <a:solidFill>
                  <a:srgbClr val="AAAAAA"/>
                </a:solidFill>
                <a:latin typeface="Calibri" pitchFamily="34" charset="0"/>
                <a:ea typeface="Calibri" pitchFamily="34" charset="-122"/>
                <a:cs typeface="Calibri" pitchFamily="34" charset="-120"/>
              </a:rPr>
              <a:t>Government expenditure on education (% of GDP)</a:t>
            </a:r>
            <a:endParaRPr lang="en-US" sz="1100" dirty="0"/>
          </a:p>
        </p:txBody>
      </p:sp>
      <p:sp>
        <p:nvSpPr>
          <p:cNvPr id="42" name="Text 40"/>
          <p:cNvSpPr/>
          <p:nvPr/>
        </p:nvSpPr>
        <p:spPr>
          <a:xfrm>
            <a:off x="6309360" y="3520440"/>
            <a:ext cx="2468880" cy="429768"/>
          </a:xfrm>
          <a:prstGeom prst="rect">
            <a:avLst/>
          </a:prstGeom>
          <a:noFill/>
          <a:ln/>
        </p:spPr>
        <p:txBody>
          <a:bodyPr wrap="square" rtlCol="0" anchor="ctr"/>
          <a:lstStyle/>
          <a:p>
            <a:pPr marL="0" indent="0">
              <a:buNone/>
            </a:pPr>
            <a:r>
              <a:rPr lang="en-US" sz="900" i="1" dirty="0">
                <a:solidFill>
                  <a:srgbClr val="AAAAAA"/>
                </a:solidFill>
                <a:latin typeface="Calibri" pitchFamily="34" charset="0"/>
                <a:ea typeface="Calibri" pitchFamily="34" charset="-122"/>
                <a:cs typeface="Calibri" pitchFamily="34" charset="-120"/>
              </a:rPr>
              <a:t>data.worldbank.org/indicator/SE.XPD.TOTL.GD.ZS</a:t>
            </a:r>
            <a:endParaRPr lang="en-US" sz="900" dirty="0"/>
          </a:p>
        </p:txBody>
      </p:sp>
      <p:sp>
        <p:nvSpPr>
          <p:cNvPr id="43" name="Shape 41"/>
          <p:cNvSpPr/>
          <p:nvPr/>
        </p:nvSpPr>
        <p:spPr>
          <a:xfrm>
            <a:off x="1152144" y="3735324"/>
            <a:ext cx="4937760" cy="0"/>
          </a:xfrm>
          <a:prstGeom prst="line">
            <a:avLst/>
          </a:prstGeom>
          <a:noFill/>
          <a:ln w="6350">
            <a:solidFill>
              <a:srgbClr val="AAAAAA"/>
            </a:solidFill>
            <a:prstDash val="solid"/>
          </a:ln>
        </p:spPr>
        <p:txBody>
          <a:bodyPr/>
          <a:lstStyle/>
          <a:p>
            <a:endParaRPr lang="en-PK"/>
          </a:p>
        </p:txBody>
      </p:sp>
      <p:sp>
        <p:nvSpPr>
          <p:cNvPr id="44" name="Shape 42"/>
          <p:cNvSpPr/>
          <p:nvPr/>
        </p:nvSpPr>
        <p:spPr>
          <a:xfrm>
            <a:off x="274320" y="4023360"/>
            <a:ext cx="8595360" cy="429768"/>
          </a:xfrm>
          <a:prstGeom prst="rect">
            <a:avLst/>
          </a:prstGeom>
          <a:solidFill>
            <a:srgbClr val="F8F8F8"/>
          </a:solidFill>
          <a:ln w="6350">
            <a:solidFill>
              <a:srgbClr val="CCCCCC"/>
            </a:solidFill>
            <a:prstDash val="solid"/>
          </a:ln>
        </p:spPr>
        <p:txBody>
          <a:bodyPr/>
          <a:lstStyle/>
          <a:p>
            <a:endParaRPr lang="en-PK"/>
          </a:p>
        </p:txBody>
      </p:sp>
      <p:sp>
        <p:nvSpPr>
          <p:cNvPr id="45" name="Shape 43"/>
          <p:cNvSpPr/>
          <p:nvPr/>
        </p:nvSpPr>
        <p:spPr>
          <a:xfrm>
            <a:off x="274320" y="4023360"/>
            <a:ext cx="54864" cy="429768"/>
          </a:xfrm>
          <a:prstGeom prst="rect">
            <a:avLst/>
          </a:prstGeom>
          <a:solidFill>
            <a:srgbClr val="AAAAAA"/>
          </a:solidFill>
          <a:ln w="12700">
            <a:solidFill>
              <a:srgbClr val="AAAAAA"/>
            </a:solidFill>
            <a:prstDash val="solid"/>
          </a:ln>
        </p:spPr>
        <p:txBody>
          <a:bodyPr/>
          <a:lstStyle/>
          <a:p>
            <a:endParaRPr lang="en-PK"/>
          </a:p>
        </p:txBody>
      </p:sp>
      <p:sp>
        <p:nvSpPr>
          <p:cNvPr id="46" name="Shape 44"/>
          <p:cNvSpPr/>
          <p:nvPr/>
        </p:nvSpPr>
        <p:spPr>
          <a:xfrm>
            <a:off x="402336" y="4114800"/>
            <a:ext cx="658368" cy="237744"/>
          </a:xfrm>
          <a:prstGeom prst="rect">
            <a:avLst/>
          </a:prstGeom>
          <a:solidFill>
            <a:srgbClr val="999999"/>
          </a:solidFill>
          <a:ln w="12700">
            <a:solidFill>
              <a:srgbClr val="999999"/>
            </a:solidFill>
            <a:prstDash val="solid"/>
          </a:ln>
        </p:spPr>
        <p:txBody>
          <a:bodyPr/>
          <a:lstStyle/>
          <a:p>
            <a:endParaRPr lang="en-PK"/>
          </a:p>
        </p:txBody>
      </p:sp>
      <p:sp>
        <p:nvSpPr>
          <p:cNvPr id="47" name="Text 45"/>
          <p:cNvSpPr/>
          <p:nvPr/>
        </p:nvSpPr>
        <p:spPr>
          <a:xfrm>
            <a:off x="402336" y="4114800"/>
            <a:ext cx="658368" cy="237744"/>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Dropped</a:t>
            </a:r>
            <a:endParaRPr lang="en-US" sz="800" dirty="0"/>
          </a:p>
        </p:txBody>
      </p:sp>
      <p:sp>
        <p:nvSpPr>
          <p:cNvPr id="48" name="Text 46"/>
          <p:cNvSpPr/>
          <p:nvPr/>
        </p:nvSpPr>
        <p:spPr>
          <a:xfrm>
            <a:off x="1152144" y="4023360"/>
            <a:ext cx="5029200" cy="429768"/>
          </a:xfrm>
          <a:prstGeom prst="rect">
            <a:avLst/>
          </a:prstGeom>
          <a:noFill/>
          <a:ln/>
        </p:spPr>
        <p:txBody>
          <a:bodyPr wrap="square" rtlCol="0" anchor="ctr"/>
          <a:lstStyle/>
          <a:p>
            <a:pPr marL="0" indent="0">
              <a:buNone/>
            </a:pPr>
            <a:r>
              <a:rPr lang="en-US" sz="1100" dirty="0">
                <a:solidFill>
                  <a:srgbClr val="AAAAAA"/>
                </a:solidFill>
                <a:latin typeface="Calibri" pitchFamily="34" charset="0"/>
                <a:ea typeface="Calibri" pitchFamily="34" charset="-122"/>
                <a:cs typeface="Calibri" pitchFamily="34" charset="-120"/>
              </a:rPr>
              <a:t>Energy use (kg of oil equivalent per capita)</a:t>
            </a:r>
            <a:endParaRPr lang="en-US" sz="1100" dirty="0"/>
          </a:p>
        </p:txBody>
      </p:sp>
      <p:sp>
        <p:nvSpPr>
          <p:cNvPr id="49" name="Text 47"/>
          <p:cNvSpPr/>
          <p:nvPr/>
        </p:nvSpPr>
        <p:spPr>
          <a:xfrm>
            <a:off x="6309360" y="4023360"/>
            <a:ext cx="2468880" cy="429768"/>
          </a:xfrm>
          <a:prstGeom prst="rect">
            <a:avLst/>
          </a:prstGeom>
          <a:noFill/>
          <a:ln/>
        </p:spPr>
        <p:txBody>
          <a:bodyPr wrap="square" rtlCol="0" anchor="ctr"/>
          <a:lstStyle/>
          <a:p>
            <a:pPr marL="0" indent="0">
              <a:buNone/>
            </a:pPr>
            <a:r>
              <a:rPr lang="en-US" sz="900" i="1" dirty="0">
                <a:solidFill>
                  <a:srgbClr val="AAAAAA"/>
                </a:solidFill>
                <a:latin typeface="Calibri" pitchFamily="34" charset="0"/>
                <a:ea typeface="Calibri" pitchFamily="34" charset="-122"/>
                <a:cs typeface="Calibri" pitchFamily="34" charset="-120"/>
              </a:rPr>
              <a:t>data.worldbank.org/indicator/EG.USE.PCAP.KG.OE</a:t>
            </a:r>
            <a:endParaRPr lang="en-US" sz="900" dirty="0"/>
          </a:p>
        </p:txBody>
      </p:sp>
      <p:sp>
        <p:nvSpPr>
          <p:cNvPr id="50" name="Shape 48"/>
          <p:cNvSpPr/>
          <p:nvPr/>
        </p:nvSpPr>
        <p:spPr>
          <a:xfrm>
            <a:off x="1152144" y="4238244"/>
            <a:ext cx="4937760" cy="0"/>
          </a:xfrm>
          <a:prstGeom prst="line">
            <a:avLst/>
          </a:prstGeom>
          <a:noFill/>
          <a:ln w="6350">
            <a:solidFill>
              <a:srgbClr val="AAAAAA"/>
            </a:solidFill>
            <a:prstDash val="solid"/>
          </a:ln>
        </p:spPr>
        <p:txBody>
          <a:bodyPr/>
          <a:lstStyle/>
          <a:p>
            <a:endParaRPr lang="en-PK"/>
          </a:p>
        </p:txBody>
      </p:sp>
      <p:sp>
        <p:nvSpPr>
          <p:cNvPr id="51" name="Shape 49"/>
          <p:cNvSpPr/>
          <p:nvPr/>
        </p:nvSpPr>
        <p:spPr>
          <a:xfrm>
            <a:off x="0" y="4800600"/>
            <a:ext cx="9144000" cy="342900"/>
          </a:xfrm>
          <a:prstGeom prst="rect">
            <a:avLst/>
          </a:prstGeom>
          <a:solidFill>
            <a:srgbClr val="F5F5F5"/>
          </a:solidFill>
          <a:ln w="12700">
            <a:solidFill>
              <a:srgbClr val="CCCCCC"/>
            </a:solidFill>
            <a:prstDash val="solid"/>
          </a:ln>
        </p:spPr>
        <p:txBody>
          <a:bodyPr/>
          <a:lstStyle/>
          <a:p>
            <a:endParaRPr lang="en-PK"/>
          </a:p>
        </p:txBody>
      </p:sp>
      <p:sp>
        <p:nvSpPr>
          <p:cNvPr id="52" name="Text 50"/>
          <p:cNvSpPr/>
          <p:nvPr/>
        </p:nvSpPr>
        <p:spPr>
          <a:xfrm>
            <a:off x="320040" y="4800600"/>
            <a:ext cx="8503920" cy="342900"/>
          </a:xfrm>
          <a:prstGeom prst="rect">
            <a:avLst/>
          </a:prstGeom>
          <a:noFill/>
          <a:ln/>
        </p:spPr>
        <p:txBody>
          <a:bodyPr wrap="square" rtlCol="0" anchor="ctr"/>
          <a:lstStyle/>
          <a:p>
            <a:pPr marL="0" indent="0">
              <a:buNone/>
            </a:pPr>
            <a:r>
              <a:rPr lang="en-US" sz="1000" i="1" dirty="0">
                <a:solidFill>
                  <a:srgbClr val="555555"/>
                </a:solidFill>
                <a:latin typeface="Calibri" pitchFamily="34" charset="0"/>
                <a:ea typeface="Calibri" pitchFamily="34" charset="-122"/>
                <a:cs typeface="Calibri" pitchFamily="34" charset="-120"/>
              </a:rPr>
              <a:t>Struck-through indicators dropped from final model due to &gt;60% missing values — Education Exp, Energy Use, Internet Users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TotalTime>
  <Words>3545</Words>
  <Application>Microsoft Macintosh PowerPoint</Application>
  <PresentationFormat>On-screen Show (16:9)</PresentationFormat>
  <Paragraphs>366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GDP Growth Prediction - Muhammad Wasal Imtiaz</dc:title>
  <dc:subject>PptxGenJS Presentation</dc:subject>
  <dc:creator>PptxGenJS</dc:creator>
  <cp:lastModifiedBy>PowerHouse Developer</cp:lastModifiedBy>
  <cp:revision>6</cp:revision>
  <dcterms:created xsi:type="dcterms:W3CDTF">2026-03-25T08:00:54Z</dcterms:created>
  <dcterms:modified xsi:type="dcterms:W3CDTF">2026-03-25T10:50:26Z</dcterms:modified>
</cp:coreProperties>
</file>